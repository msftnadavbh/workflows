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'A great prompt can start the work. It cannot, by itself, define the process, the handoffs, or the release gate.' Pause. 'Today, this room will choose what breaks. We will let evidence choose who joins.' This talk assumes 25 minutes including an approximately eight-minute live segment. Dynamic workflows are public preview.,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'Imagine the ticket launch for a room this size. The same attendee retries. Then room inventory changes. Which bug should we trigger first?' This is invented conference data, not a real event system. The 2,500 value is the fixture size, not a throughput benchmark. Do not reveal the late 200-seat surprise yet.,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1:30–2:20. Explain agentic work as goal-directed tool use with feedback. This figure is our engineering pattern, not a promise that every agent checks itself correctly. 'The loop can be agentic without being unattended. An autonomous loop can still be wrong.' A test failure is useful evidence, not embarrassment.,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S6: Running tasks in parallel with /fleet
https://docs.github.com/en/copilot/concepts/agents/copilot-cli/fleet
S7: Allowing Copilot CLI to work autonomously
https://docs.github.com/en/copilot/concepts/agents/copilot-cli/autopilot
S18: VS Code agents overview
https://code.visualstudio.com/docs/copilot/agents/overview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2:20–3:30. Ask: 'Which word answers who decides the process?' Autopilot is autonomy. Fleet encourages model-chosen decomposition and parallel subagents. A dynamic workflow is author-defined code with conditions and handoffs. They can be combined; they are not synonyms. Fleet adds overhead and is useful only when work is separable.,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S6: Running tasks in parallel with /fleet
https://docs.github.com/en/copilot/concepts/agents/copilot-cli/fleet
S7: Allowing Copilot CLI to work autonomously
https://docs.github.com/en/copilot/concepts/agents/copilot-cli/autopilot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Prevent the naming trap. Copilot dynamic workflows are extension programs in CLI/app/SDK, with a preview API. GitHub Agentic Workflows (gh-aw) is a separate open-source tool that compiles Markdown plus YAML frontmatter into GitHub Actions .lock.yml workflows. This package demonstrates the former; it does not deploy the latter.,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S13: GitHub Agentic Workflows: About
https://github.github.com/gh-aw/about/
S14: How GitHub Agentic Workflows work
https://github.github.com/gh-aw/introduction/how-they-work/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4:30–5:30. Point at the two names used throughout the live demo. Dynamic Workflow means code-controlled orchestration: routes, parallel work, journals, and checkpoints. Agentic Workflow means model reasoning inside that process: a cited repair explanation and independent challenge. The model does not invent the workflow program. GitHub Agentic Workflows on Actions is a separate engine and is not run here.,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5:30–6:20. A profile controls tools and specialist behavior. The workflow call sets model, effort, and output shape explicitly. The actual profiles use tools: []. The SDK checks only a subset of JSON Schema; semantic validation still belongs in code. An ordinary agent failure returns null. Hold the candidate rather than manufacturing a successful empty answer.,
PRESENTER BOUNDARIES: All launch data is synthetic. Rehearsal uses JavaScript workers, not LLM agents. Native live mode requires eligible Copilot authentication, experimental features, and model availability. No deployment or remote writes.,
SOURCES (checked 2026-10-10):
S3: Official SDK: Dynamic Workflows
https://github.com/github/copilot-sdk/blob/v1.0.19/nodejs/docs/workflows.md
S9: Creating and using custom agents for CLI
https://docs.github.com/en/copilot/how-tos/copilot-cli/customize-copilot/create-custom-agents-for-cli
S10: Custom agents configuration
https://docs.github.com/en/copilot/reference/custom-agents-configuration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6:20–7:00. 'We are not saving an answer. We are saving a process.' Inputs and evidence choose the path; model answers can still vary. Version durable step keys and keep producers idempotent. Sharing the extension shares its definition, not someone else's run history.,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7:00–7:40. Switch to the feature walkthrough, not an uninterrupted ticket-allocation animation. At every stop identify the feature name, why it helps, the relevant API, the input, and the output. Native agentic proofs show an exact prompt and actual model response. Offline proofs say JavaScript substitute and label the prompt as a preview not sent to a model.,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7:40–8:20. Poll by show of hands, not by a nonexistent online voting backend. Choose Retry storm for the simplest path, Both at once for true parallel specialist calls, or Surprise me for the late new-evidence branch. Explain that scenario choice changes real computations. Start a new run before changing scenarios.,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8:20–9:20. Launch the version-matched SDK with --walkthrough. It pauses at feature boundaries using the actual Copilot runtime. Type NEXT at those teaching stops; NEXT is not draft approval. Type APPROVE only at the separate final human checkpoint. The browser shows exact handoffs and never resumes native work. Agent models and effort remain explicit.,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S4: Official SDK: Copilot CLI Extensions
https://github.com/github/copilot-sdk/blob/v1.0.19/nodejs/docs/extensions.md
S5: CLI programmatic reference
https://docs.github.com/en/copilot/reference/copilot-cli-reference/cli-programmatic-reference
S19: Official SDK: custom agents and sub-agent orchestration
https://github.com/github/copilot-sdk/blob/v1.0.19/docs/features/custom-agents.md
S20: Official SDK: workflow end-to-end tests
https://github.com/github/copilot-sdk/blob/v1.0.19/nodejs/test/e2e/workflow.e2e.test.ts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reveal around 10:30. Select Surprise me. The first candidate correctly handles the retry storm. After planning, the synthetic main hall inventory changes from 1,800 to 1,600. The first candidate then fails the capacity contract by 200 seats. We do not ask the main agent a new question: the existing workflow's condition handles the new evidence.,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explanation around 11:00. Point to the new capacity specialist and second verification. The code chooses the conditional branch. Models interpret and explain evidence inside the branch. It is not a claim that the model invented the orchestration program. Preserve the working dedupe policy; adapt only the missing work.,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checkpoint around 12:30–13:30. Point to all three checks, then deliberately do not click approve for a beat. Explain that ctx.pause is a durable checkpoint. Native resume restarts the body and reuses saved JSON steps. Unsaved work may re-run. The checkpoint is not a security sandbox and passing tests does not authorize deployment. Approve only a synthetic local draft.,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13:30–14:20. Finish the mixed scenario. These are exact measured synthetic fixture counts, not model-generated numbers and not a production benchmark. Confirmed plus waitlisted equals 2,500. The workflow ignores 500 retries, creates no duplicate outcomes, and respects the current inventory. Download the JSON evidence, then return to slides.,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14:20–15:10. State the difference plainly. Offline rehearsal is a self-contained file with real workers and checks, zero LLM calls. Native rehearsal is the actual Copilot workflow runtime with zero LLM calls. Native live calls actual workflow-owned agents and consumes credits. Actual native model runs were verified with requested/resolved GPT-6.1 Sol and Sonnet 5.5; evidence is packaged. Never present offline workers or completed native results as a currently running model performance.,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15:10–16:15. Explain the trust boundary discovered in the docs. tools: [] constrains the model, not the extension's own JavaScript. Review extension code before trusting it. Session grants propagate to workflow agents. Direct workflow CLI runs do not show permission prompts. The app's config scripts may receive credentials: do not log their environment. This demo has no production systems or remote writes.,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S4: Official SDK: Copilot CLI Extensions
https://github.com/github/copilot-sdk/blob/v1.0.19/nodejs/docs/extensions.md
S5: CLI programmatic reference
https://docs.github.com/en/copilot/reference/copilot-cli-reference/cli-programmatic-reference
S12: Repository configuration for the Copilot app
https://docs.github.com/en/copilot/reference/github-copilot-app-reference/repository-configuration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16:15–17:10. Show the actual supplied paths. The extension is the reusable process. Agent profiles provide constraints. App configuration provides a manual run script and server detection. None of these is an implicit schedule or deployment. Changes to repository app config need review. Sharing the extension does not copy run history.,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S4: Official SDK: Copilot CLI Extensions
https://github.com/github/copilot-sdk/blob/v1.0.19/nodejs/docs/extensions.md
S9: Creating and using custom agents for CLI
https://docs.github.com/en/copilot/how-tos/copilot-cli/customize-copilot/create-custom-agents-for-cli
S12: Repository configuration for the Copilot app
https://docs.github.com/en/copilot/reference/github-copilot-app-reference/repository-configuration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17:10–18:00. Optional follow-on if the audience works on repository automation. gh-aw combines Markdown instructions and YAML frontmatter and compiles to Actions. Deterministic CI remains deterministic. Agent jobs are read-only and sandboxed by default; configured safe outputs are validated in scoped jobs. These are configurable defenses, not proof that outputs are correct. No Actions workflow is installed or run by this demo.,
PRESENTER BOUNDARIES: All launch data is synthetic. Rehearsal uses JavaScript workers, not LLM agents. Native live mode requires eligible Copilot authentication, experimental features, and model availability. No deployment or remote writes.,
SOURCES (checked 2026-10-10):
S13: GitHub Agentic Workflows: About
https://github.github.com/gh-aw/about/
S14: How GitHub Agentic Workflows work
https://github.github.com/gh-aw/introduction/how-they-work/
S15: GitHub Agentic Workflows security architecture
https://github.github.com/gh-aw/introduction/architecture/
S16: GitHub Agentic Workflows safe outputs
https://github.github.com/gh-aw/reference/safe-outputs/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18:00–19:00. Adoption advice: pick a bounded repeating task; make inputs and success criteria explicit; make failures visible; add one agent where judgment adds value; only parallelize truly independent work. Measure actual usage before choosing credit limits. Don't start by building a fleet for everything.,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
S6: Running tasks in parallel with /fleet
https://docs.github.com/en/copilot/concepts/agents/copilot-cli/fleet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19:00–20:00. Closing statement, then leave approximately five minutes for questions. 'The next level is not a longer prompt. It is a process that can explain its evidence, survive a failed check, and stop at the right boundary.' Return to the working graph if asked. The resources and fallback are bundled with the presentation.,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Exact semantics matter more than the shape of a diagram. ctx.parallel is a barrier; ctx.pipeline can advance items without a stage-wide barrier. Agent ordinary failures return null; hard runtime failures reject. Journal keys alone identify saved steps. Producers are best-effort at-least-once, not exactly-once. A paused run is resumable; nested workflows are unsupported.,
PRESENTER BOUNDARIES: All launch data is synthetic. Rehearsal uses JavaScript workers, not LLM agents. Native live mode requires eligible Copilot authentication, experimental features, and model availability. No deployment or remote writes.,
SOURCES (checked 2026-10-10):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Run the launcher before the venue session. Our active CLI was 1.0.94-3; --no-auto-update unexpectedly selected bundled 1.0.80 and broke workflow arguments, so the launcher omits that flag. Preview availability and model catalogs change. Certain legacy annual Pro/Pro+ billing plans are excluded. App run monitoring is local-session only. Credits are an approximate post-paid ceiling.,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presenter rescue card. The fallback is deliberate and honestly labeled. If a model is unavailable, no Auto substitution is performed. An unknown workflow usually means extension discovery or trust; unknown --args with the bundled old runtime was a real compatibility finding. The preferred SDK runner keeps its owning terminal alive at the checkpoint. Type APPROVE there; browser approval does not resume native work. If you choose HOLD, that SDK host exits and you should start a new run.,
PRESENTER BOUNDARIES: All launch data is synthetic. Rehearsal uses JavaScript workers, not LLM agents. Native live mode requires eligible Copilot authentication, experimental features, and model availability. No deployment or remote writes.,
SOURCES (checked 2026-10-10):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Full source inventory is in sources/research.json and Feature-Research.md. Every source footer links to a primary source; speaker notes list the exact URLs supporting that slide. Twenty primary sources and actual runtime evidence are packaged. Documentation was checked 10 October 2026. Public-preview APIs and availability are subject to change.,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
S5: CLI programmatic reference
https://docs.github.com/en/copilot/reference/copilot-cli-reference/cli-programmatic-reference
S14: How GitHub Agentic Workflows work
https://github.github.com/gh-aw/introduction/how-they-work/
S15: GitHub Agentic Workflows security architecture
https://github.github.com/gh-aw/introduction/architecture/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this prompt in a local Copilot app/CLI session after loading the reviewed extension. A prompt-created run belongs to that session and is visible in its Workflows panel. When running from the external launcher, use its printed owning session ID to resume instead. This prompt does not authorize deployment or remote writes. Agent model/effort is explicit in the workflow calls.,
PRESENTER BOUNDARIES: All launch data is synthetic. Rehearsal uses JavaScript workers, not LLM agents. Native live mode requires eligible Copilot authentication, experimental features, and model availability. No deployment or remote writes.,
SOURCES (checked 2026-10-10):
S1: Dynamic workflows
https://docs.github.com/en/copilot/concepts/agents/dynamic-workflows
S2: Using dynamic workflows
https://docs.github.com/en/copilot/how-tos/use-copilot-agents/use-dynamic-workflows
S3: Official SDK: Dynamic Workflows
https://github.com/github/copilot-sdk/blob/v1.0.19/nodejs/docs/workflows.md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github/copilot-sdk/blob/v1.0.19/nodejs/docs/workflows.m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github.com/gh-aw/about/"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github.com/github/copilot-sdk/blob/v1.0.19/nodejs/docs/workflows.md"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ocs.github.com/en/copilot/how-tos/use-copilot-agents/use-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hyperlink" Target="https://docs.github.com/en/copilot/concepts/agents/dynamic-workflows" TargetMode="External"/><Relationship Id="rId3" Type="http://schemas.openxmlformats.org/officeDocument/2006/relationships/hyperlink" Target="https://docs.github.com/en/copilot/how-tos/use-copilot-agents/use-dynamic-workflows" TargetMode="External"/><Relationship Id="rId4" Type="http://schemas.openxmlformats.org/officeDocument/2006/relationships/hyperlink" Target="https://github.com/github/copilot-sdk/blob/v1.0.19/nodejs/docs/workflows.md" TargetMode="External"/><Relationship Id="rId5" Type="http://schemas.openxmlformats.org/officeDocument/2006/relationships/hyperlink" Target="https://docs.github.com/en/copilot/reference/copilot-cli-reference/cli-programmatic-reference" TargetMode="External"/><Relationship Id="rId6" Type="http://schemas.openxmlformats.org/officeDocument/2006/relationships/hyperlink" Target="https://github.github.com/gh-aw/introduction/how-they-work/" TargetMode="External"/><Relationship Id="rId7" Type="http://schemas.openxmlformats.org/officeDocument/2006/relationships/hyperlink" Target="https://github.github.com/gh-aw/introduction/architecture/" TargetMode="External"/><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ocs.github.com/en/copilot/concepts/agents/dynamic-workflows"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847088"/>
          </a:xfrm>
          <a:prstGeom prst="rect">
            <a:avLst/>
          </a:prstGeom>
          <a:noFill/>
          <a:ln/>
        </p:spPr>
        <p:txBody>
          <a:bodyPr wrap="square" lIns="0" tIns="0" rIns="0" bIns="0" rtlCol="0" anchor="t"/>
          <a:lstStyle/>
          <a:p>
            <a:pPr indent="0" marL="0">
              <a:buNone/>
            </a:pPr>
            <a:r>
              <a:rPr lang="en-US" sz="6000" b="1" dirty="0">
                <a:solidFill>
                  <a:srgbClr val="DEDEDE"/>
                </a:solidFill>
                <a:latin typeface="Aptos Display" pitchFamily="34" charset="0"/>
                <a:ea typeface="Aptos Display" pitchFamily="34" charset="-122"/>
                <a:cs typeface="Aptos Display" pitchFamily="34" charset="-120"/>
              </a:rPr>
              <a:t>Don't just prompt.</a:t>
            </a:r>
            <a:endParaRPr lang="en-US" sz="6000" dirty="0"/>
          </a:p>
          <a:p>
            <a:pPr indent="0" marL="0">
              <a:buNone/>
            </a:pPr>
            <a:r>
              <a:rPr lang="en-US" sz="6000" b="1" dirty="0">
                <a:solidFill>
                  <a:srgbClr val="DEDEDE"/>
                </a:solidFill>
                <a:latin typeface="Aptos Display" pitchFamily="34" charset="0"/>
                <a:ea typeface="Aptos Display" pitchFamily="34" charset="-122"/>
                <a:cs typeface="Aptos Display" pitchFamily="34" charset="-120"/>
              </a:rPr>
              <a:t>Orchestrate.</a:t>
            </a:r>
            <a:endParaRPr lang="en-US" sz="60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01</a:t>
            </a:r>
            <a:endParaRPr lang="en-US" sz="1300" dirty="0"/>
          </a:p>
        </p:txBody>
      </p:sp>
      <p:sp>
        <p:nvSpPr>
          <p:cNvPr id="7" name="Text 4"/>
          <p:cNvSpPr/>
          <p:nvPr/>
        </p:nvSpPr>
        <p:spPr>
          <a:xfrm>
            <a:off x="612648" y="2532888"/>
            <a:ext cx="7223760" cy="932688"/>
          </a:xfrm>
          <a:prstGeom prst="rect">
            <a:avLst/>
          </a:prstGeom>
          <a:noFill/>
          <a:ln/>
        </p:spPr>
        <p:txBody>
          <a:bodyPr wrap="square" lIns="0" tIns="0" rIns="0" bIns="0" rtlCol="0" anchor="ctr"/>
          <a:lstStyle/>
          <a:p>
            <a:pPr indent="0" marL="0">
              <a:buNone/>
            </a:pPr>
            <a:r>
              <a:rPr lang="en-US" sz="2900" dirty="0">
                <a:solidFill>
                  <a:srgbClr val="B0B0B0"/>
                </a:solidFill>
                <a:latin typeface="Aptos" pitchFamily="34" charset="0"/>
                <a:ea typeface="Aptos" pitchFamily="34" charset="-122"/>
                <a:cs typeface="Aptos" pitchFamily="34" charset="-120"/>
              </a:rPr>
              <a:t>Agentic work + dynamic workflows</a:t>
            </a:r>
            <a:endParaRPr lang="en-US" sz="2900" dirty="0"/>
          </a:p>
          <a:p>
            <a:pPr indent="0" marL="0">
              <a:buNone/>
            </a:pPr>
            <a:r>
              <a:rPr lang="en-US" sz="2900" dirty="0">
                <a:solidFill>
                  <a:srgbClr val="B0B0B0"/>
                </a:solidFill>
                <a:latin typeface="Aptos" pitchFamily="34" charset="0"/>
                <a:ea typeface="Aptos" pitchFamily="34" charset="-122"/>
                <a:cs typeface="Aptos" pitchFamily="34" charset="-120"/>
              </a:rPr>
              <a:t>with GitHub Copilot</a:t>
            </a:r>
            <a:endParaRPr lang="en-US" sz="2900" dirty="0"/>
          </a:p>
        </p:txBody>
      </p:sp>
      <p:sp>
        <p:nvSpPr>
          <p:cNvPr id="8" name="Shape 5"/>
          <p:cNvSpPr/>
          <p:nvPr/>
        </p:nvSpPr>
        <p:spPr>
          <a:xfrm>
            <a:off x="612648" y="3666744"/>
            <a:ext cx="2057400" cy="384048"/>
          </a:xfrm>
          <a:prstGeom prst="roundRect">
            <a:avLst/>
          </a:prstGeom>
          <a:solidFill>
            <a:srgbClr val="FD8EA1"/>
          </a:solidFill>
          <a:ln w="12700">
            <a:solidFill>
              <a:srgbClr val="FD8EA1">
                <a:alpha val="0"/>
              </a:srgbClr>
            </a:solidFill>
            <a:prstDash val="solid"/>
          </a:ln>
        </p:spPr>
      </p:sp>
      <p:sp>
        <p:nvSpPr>
          <p:cNvPr id="9" name="Text 6"/>
          <p:cNvSpPr/>
          <p:nvPr/>
        </p:nvSpPr>
        <p:spPr>
          <a:xfrm>
            <a:off x="731520" y="3712464"/>
            <a:ext cx="1819656" cy="274320"/>
          </a:xfrm>
          <a:prstGeom prst="rect">
            <a:avLst/>
          </a:prstGeom>
          <a:noFill/>
          <a:ln/>
        </p:spPr>
        <p:txBody>
          <a:bodyPr wrap="square" lIns="0" tIns="0" rIns="0" bIns="0" rtlCol="0" anchor="ctr"/>
          <a:lstStyle/>
          <a:p>
            <a:pPr algn="ctr" indent="0" marL="0">
              <a:buNone/>
            </a:pPr>
            <a:r>
              <a:rPr lang="en-US" sz="1600" b="1" dirty="0">
                <a:solidFill>
                  <a:srgbClr val="3D3B3A"/>
                </a:solidFill>
                <a:latin typeface="Aptos" pitchFamily="34" charset="0"/>
                <a:ea typeface="Aptos" pitchFamily="34" charset="-122"/>
                <a:cs typeface="Aptos" pitchFamily="34" charset="-120"/>
              </a:rPr>
              <a:t>PUBLIC PREVIEW</a:t>
            </a:r>
            <a:endParaRPr lang="en-US" sz="1600" dirty="0"/>
          </a:p>
        </p:txBody>
      </p:sp>
      <p:sp>
        <p:nvSpPr>
          <p:cNvPr id="10" name="Shape 7"/>
          <p:cNvSpPr/>
          <p:nvPr/>
        </p:nvSpPr>
        <p:spPr>
          <a:xfrm>
            <a:off x="685800" y="4572000"/>
            <a:ext cx="1417320" cy="777240"/>
          </a:xfrm>
          <a:prstGeom prst="roundRect">
            <a:avLst>
              <a:gd name="adj" fmla="val 11765"/>
            </a:avLst>
          </a:prstGeom>
          <a:solidFill>
            <a:srgbClr val="292929"/>
          </a:solidFill>
          <a:ln w="16510">
            <a:solidFill>
              <a:srgbClr val="5F5F5F"/>
            </a:solidFill>
            <a:prstDash val="solid"/>
          </a:ln>
        </p:spPr>
      </p:sp>
      <p:sp>
        <p:nvSpPr>
          <p:cNvPr id="11" name="Text 8"/>
          <p:cNvSpPr/>
          <p:nvPr/>
        </p:nvSpPr>
        <p:spPr>
          <a:xfrm>
            <a:off x="804672" y="4663440"/>
            <a:ext cx="117957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Goal</a:t>
            </a:r>
            <a:endParaRPr lang="en-US" sz="2100" dirty="0"/>
          </a:p>
        </p:txBody>
      </p:sp>
      <p:sp>
        <p:nvSpPr>
          <p:cNvPr id="12" name="Shape 9"/>
          <p:cNvSpPr/>
          <p:nvPr/>
        </p:nvSpPr>
        <p:spPr>
          <a:xfrm>
            <a:off x="2670048" y="4572000"/>
            <a:ext cx="1828800" cy="777240"/>
          </a:xfrm>
          <a:prstGeom prst="roundRect">
            <a:avLst>
              <a:gd name="adj" fmla="val 11765"/>
            </a:avLst>
          </a:prstGeom>
          <a:solidFill>
            <a:srgbClr val="292929"/>
          </a:solidFill>
          <a:ln w="16510">
            <a:solidFill>
              <a:srgbClr val="5F5F5F"/>
            </a:solidFill>
            <a:prstDash val="solid"/>
          </a:ln>
        </p:spPr>
      </p:sp>
      <p:sp>
        <p:nvSpPr>
          <p:cNvPr id="13" name="Text 10"/>
          <p:cNvSpPr/>
          <p:nvPr/>
        </p:nvSpPr>
        <p:spPr>
          <a:xfrm>
            <a:off x="2788920" y="4663440"/>
            <a:ext cx="159105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4" name="Shape 11"/>
          <p:cNvSpPr/>
          <p:nvPr/>
        </p:nvSpPr>
        <p:spPr>
          <a:xfrm>
            <a:off x="5093208" y="3931920"/>
            <a:ext cx="1828800" cy="777240"/>
          </a:xfrm>
          <a:prstGeom prst="roundRect">
            <a:avLst>
              <a:gd name="adj" fmla="val 11765"/>
            </a:avLst>
          </a:prstGeom>
          <a:solidFill>
            <a:srgbClr val="FD8EA1"/>
          </a:solidFill>
          <a:ln w="16510">
            <a:solidFill>
              <a:srgbClr val="FD8EA1"/>
            </a:solidFill>
            <a:prstDash val="solid"/>
          </a:ln>
        </p:spPr>
      </p:sp>
      <p:sp>
        <p:nvSpPr>
          <p:cNvPr id="15" name="Text 12"/>
          <p:cNvSpPr/>
          <p:nvPr/>
        </p:nvSpPr>
        <p:spPr>
          <a:xfrm>
            <a:off x="5212080" y="4023360"/>
            <a:ext cx="1591056" cy="594360"/>
          </a:xfrm>
          <a:prstGeom prst="rect">
            <a:avLst/>
          </a:prstGeom>
          <a:noFill/>
          <a:ln/>
        </p:spPr>
        <p:txBody>
          <a:bodyPr wrap="square" lIns="0" tIns="0" rIns="0" bIns="0" rtlCol="0" anchor="ctr"/>
          <a:lstStyle/>
          <a:p>
            <a:pPr algn="ctr" indent="0" marL="0">
              <a:buNone/>
            </a:pPr>
            <a:r>
              <a:rPr lang="en-US" sz="2100" b="1" dirty="0">
                <a:solidFill>
                  <a:srgbClr val="3D3B3A"/>
                </a:solidFill>
                <a:latin typeface="Aptos" pitchFamily="34" charset="0"/>
                <a:ea typeface="Aptos" pitchFamily="34" charset="-122"/>
                <a:cs typeface="Aptos" pitchFamily="34" charset="-120"/>
              </a:rPr>
              <a:t>Specialist</a:t>
            </a:r>
            <a:endParaRPr lang="en-US" sz="2100" dirty="0"/>
          </a:p>
        </p:txBody>
      </p:sp>
      <p:sp>
        <p:nvSpPr>
          <p:cNvPr id="16" name="Shape 13"/>
          <p:cNvSpPr/>
          <p:nvPr/>
        </p:nvSpPr>
        <p:spPr>
          <a:xfrm>
            <a:off x="5093208" y="5212080"/>
            <a:ext cx="1828800" cy="777240"/>
          </a:xfrm>
          <a:prstGeom prst="roundRect">
            <a:avLst>
              <a:gd name="adj" fmla="val 11765"/>
            </a:avLst>
          </a:prstGeom>
          <a:solidFill>
            <a:srgbClr val="292929"/>
          </a:solidFill>
          <a:ln w="16510">
            <a:solidFill>
              <a:srgbClr val="5F5F5F"/>
            </a:solidFill>
            <a:prstDash val="solid"/>
          </a:ln>
        </p:spPr>
      </p:sp>
      <p:sp>
        <p:nvSpPr>
          <p:cNvPr id="17" name="Text 14"/>
          <p:cNvSpPr/>
          <p:nvPr/>
        </p:nvSpPr>
        <p:spPr>
          <a:xfrm>
            <a:off x="5212080" y="5303520"/>
            <a:ext cx="1591056"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Specialist</a:t>
            </a:r>
            <a:endParaRPr lang="en-US" sz="2100" dirty="0"/>
          </a:p>
        </p:txBody>
      </p:sp>
      <p:sp>
        <p:nvSpPr>
          <p:cNvPr id="18" name="Shape 15"/>
          <p:cNvSpPr/>
          <p:nvPr/>
        </p:nvSpPr>
        <p:spPr>
          <a:xfrm>
            <a:off x="7525512" y="4572000"/>
            <a:ext cx="1673352" cy="777240"/>
          </a:xfrm>
          <a:prstGeom prst="roundRect">
            <a:avLst>
              <a:gd name="adj" fmla="val 11765"/>
            </a:avLst>
          </a:prstGeom>
          <a:solidFill>
            <a:srgbClr val="292929"/>
          </a:solidFill>
          <a:ln w="16510">
            <a:solidFill>
              <a:srgbClr val="5F5F5F"/>
            </a:solidFill>
            <a:prstDash val="solid"/>
          </a:ln>
        </p:spPr>
      </p:sp>
      <p:sp>
        <p:nvSpPr>
          <p:cNvPr id="19" name="Text 16"/>
          <p:cNvSpPr/>
          <p:nvPr/>
        </p:nvSpPr>
        <p:spPr>
          <a:xfrm>
            <a:off x="7644384" y="4663440"/>
            <a:ext cx="1435608"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20" name="Shape 17"/>
          <p:cNvSpPr/>
          <p:nvPr/>
        </p:nvSpPr>
        <p:spPr>
          <a:xfrm>
            <a:off x="9802368" y="4572000"/>
            <a:ext cx="1673352" cy="777240"/>
          </a:xfrm>
          <a:prstGeom prst="roundRect">
            <a:avLst>
              <a:gd name="adj" fmla="val 11765"/>
            </a:avLst>
          </a:prstGeom>
          <a:solidFill>
            <a:srgbClr val="292929"/>
          </a:solidFill>
          <a:ln w="16510">
            <a:solidFill>
              <a:srgbClr val="5F5F5F"/>
            </a:solidFill>
            <a:prstDash val="solid"/>
          </a:ln>
        </p:spPr>
      </p:sp>
      <p:sp>
        <p:nvSpPr>
          <p:cNvPr id="21" name="Text 18"/>
          <p:cNvSpPr/>
          <p:nvPr/>
        </p:nvSpPr>
        <p:spPr>
          <a:xfrm>
            <a:off x="9921240" y="4663440"/>
            <a:ext cx="1435608" cy="594360"/>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Human</a:t>
            </a:r>
            <a:endParaRPr lang="en-US" sz="2100" dirty="0"/>
          </a:p>
        </p:txBody>
      </p:sp>
      <p:sp>
        <p:nvSpPr>
          <p:cNvPr id="22" name="Shape 19"/>
          <p:cNvSpPr/>
          <p:nvPr/>
        </p:nvSpPr>
        <p:spPr>
          <a:xfrm>
            <a:off x="2103120" y="4956048"/>
            <a:ext cx="566928" cy="0"/>
          </a:xfrm>
          <a:prstGeom prst="line">
            <a:avLst/>
          </a:prstGeom>
          <a:noFill/>
          <a:ln w="25400">
            <a:solidFill>
              <a:srgbClr val="FD8EA1"/>
            </a:solidFill>
            <a:prstDash val="solid"/>
            <a:tailEnd type="triangle"/>
          </a:ln>
        </p:spPr>
      </p:sp>
      <p:sp>
        <p:nvSpPr>
          <p:cNvPr id="23" name="Shape 20"/>
          <p:cNvSpPr/>
          <p:nvPr/>
        </p:nvSpPr>
        <p:spPr>
          <a:xfrm flipV="1">
            <a:off x="4498848" y="4315968"/>
            <a:ext cx="594360" cy="640080"/>
          </a:xfrm>
          <a:prstGeom prst="line">
            <a:avLst/>
          </a:prstGeom>
          <a:noFill/>
          <a:ln w="25400">
            <a:solidFill>
              <a:srgbClr val="FD8EA1"/>
            </a:solidFill>
            <a:prstDash val="solid"/>
            <a:tailEnd type="triangle"/>
          </a:ln>
        </p:spPr>
      </p:sp>
      <p:sp>
        <p:nvSpPr>
          <p:cNvPr id="24" name="Shape 21"/>
          <p:cNvSpPr/>
          <p:nvPr/>
        </p:nvSpPr>
        <p:spPr>
          <a:xfrm>
            <a:off x="4498848" y="4956048"/>
            <a:ext cx="594360" cy="640080"/>
          </a:xfrm>
          <a:prstGeom prst="line">
            <a:avLst/>
          </a:prstGeom>
          <a:noFill/>
          <a:ln w="22860">
            <a:solidFill>
              <a:srgbClr val="B0B0B0"/>
            </a:solidFill>
            <a:prstDash val="dash"/>
            <a:tailEnd type="triangle"/>
          </a:ln>
        </p:spPr>
      </p:sp>
      <p:sp>
        <p:nvSpPr>
          <p:cNvPr id="25" name="Shape 22"/>
          <p:cNvSpPr/>
          <p:nvPr/>
        </p:nvSpPr>
        <p:spPr>
          <a:xfrm>
            <a:off x="6922008" y="4315968"/>
            <a:ext cx="603504" cy="640080"/>
          </a:xfrm>
          <a:prstGeom prst="line">
            <a:avLst/>
          </a:prstGeom>
          <a:noFill/>
          <a:ln w="25400">
            <a:solidFill>
              <a:srgbClr val="FD8EA1"/>
            </a:solidFill>
            <a:prstDash val="solid"/>
            <a:tailEnd type="triangle"/>
          </a:ln>
        </p:spPr>
      </p:sp>
      <p:sp>
        <p:nvSpPr>
          <p:cNvPr id="26" name="Shape 23"/>
          <p:cNvSpPr/>
          <p:nvPr/>
        </p:nvSpPr>
        <p:spPr>
          <a:xfrm flipV="1">
            <a:off x="6922008" y="4956048"/>
            <a:ext cx="603504" cy="640080"/>
          </a:xfrm>
          <a:prstGeom prst="line">
            <a:avLst/>
          </a:prstGeom>
          <a:noFill/>
          <a:ln w="22860">
            <a:solidFill>
              <a:srgbClr val="B0B0B0"/>
            </a:solidFill>
            <a:prstDash val="dash"/>
            <a:tailEnd type="triangle"/>
          </a:ln>
        </p:spPr>
      </p:sp>
      <p:sp>
        <p:nvSpPr>
          <p:cNvPr id="27" name="Shape 24"/>
          <p:cNvSpPr/>
          <p:nvPr/>
        </p:nvSpPr>
        <p:spPr>
          <a:xfrm>
            <a:off x="9198864" y="4956048"/>
            <a:ext cx="603504" cy="0"/>
          </a:xfrm>
          <a:prstGeom prst="line">
            <a:avLst/>
          </a:prstGeom>
          <a:noFill/>
          <a:ln w="25400">
            <a:solidFill>
              <a:srgbClr val="FD8EA1"/>
            </a:solidFill>
            <a:prstDash val="solid"/>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2,500 people.</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One broken launch.</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02</a:t>
            </a:r>
            <a:endParaRPr lang="en-US" sz="1300" dirty="0"/>
          </a:p>
        </p:txBody>
      </p:sp>
      <p:sp>
        <p:nvSpPr>
          <p:cNvPr id="7" name="Text 4"/>
          <p:cNvSpPr/>
          <p:nvPr/>
        </p:nvSpPr>
        <p:spPr>
          <a:xfrm>
            <a:off x="594360" y="1901952"/>
            <a:ext cx="6126480" cy="1737360"/>
          </a:xfrm>
          <a:prstGeom prst="rect">
            <a:avLst/>
          </a:prstGeom>
          <a:noFill/>
          <a:ln/>
        </p:spPr>
        <p:txBody>
          <a:bodyPr wrap="square" lIns="0" tIns="0" rIns="0" bIns="0" rtlCol="0" anchor="ctr"/>
          <a:lstStyle/>
          <a:p>
            <a:pPr indent="0" marL="0">
              <a:buNone/>
            </a:pPr>
            <a:r>
              <a:rPr lang="en-US" sz="11200" b="1" dirty="0">
                <a:solidFill>
                  <a:srgbClr val="B11F4B"/>
                </a:solidFill>
                <a:latin typeface="Aptos Display" pitchFamily="34" charset="0"/>
                <a:ea typeface="Aptos Display" pitchFamily="34" charset="-122"/>
                <a:cs typeface="Aptos Display" pitchFamily="34" charset="-120"/>
              </a:rPr>
              <a:t>2,500</a:t>
            </a:r>
            <a:endParaRPr lang="en-US" sz="11200" dirty="0"/>
          </a:p>
        </p:txBody>
      </p:sp>
      <p:sp>
        <p:nvSpPr>
          <p:cNvPr id="8" name="Text 5"/>
          <p:cNvSpPr/>
          <p:nvPr/>
        </p:nvSpPr>
        <p:spPr>
          <a:xfrm>
            <a:off x="685800" y="3712464"/>
            <a:ext cx="5303520" cy="457200"/>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synthetic attendees</a:t>
            </a:r>
            <a:endParaRPr lang="en-US" sz="3000" dirty="0"/>
          </a:p>
        </p:txBody>
      </p:sp>
      <p:sp>
        <p:nvSpPr>
          <p:cNvPr id="9" name="Shape 6"/>
          <p:cNvSpPr/>
          <p:nvPr/>
        </p:nvSpPr>
        <p:spPr>
          <a:xfrm>
            <a:off x="701344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10" name="Shape 7"/>
          <p:cNvSpPr/>
          <p:nvPr/>
        </p:nvSpPr>
        <p:spPr>
          <a:xfrm>
            <a:off x="716889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1" name="Shape 8"/>
          <p:cNvSpPr/>
          <p:nvPr/>
        </p:nvSpPr>
        <p:spPr>
          <a:xfrm>
            <a:off x="732434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2" name="Shape 9"/>
          <p:cNvSpPr/>
          <p:nvPr/>
        </p:nvSpPr>
        <p:spPr>
          <a:xfrm>
            <a:off x="747979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3" name="Shape 10"/>
          <p:cNvSpPr/>
          <p:nvPr/>
        </p:nvSpPr>
        <p:spPr>
          <a:xfrm>
            <a:off x="763524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4" name="Shape 11"/>
          <p:cNvSpPr/>
          <p:nvPr/>
        </p:nvSpPr>
        <p:spPr>
          <a:xfrm>
            <a:off x="779068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15" name="Shape 12"/>
          <p:cNvSpPr/>
          <p:nvPr/>
        </p:nvSpPr>
        <p:spPr>
          <a:xfrm>
            <a:off x="794613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6" name="Shape 13"/>
          <p:cNvSpPr/>
          <p:nvPr/>
        </p:nvSpPr>
        <p:spPr>
          <a:xfrm>
            <a:off x="810158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7" name="Shape 14"/>
          <p:cNvSpPr/>
          <p:nvPr/>
        </p:nvSpPr>
        <p:spPr>
          <a:xfrm>
            <a:off x="825703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8" name="Shape 15"/>
          <p:cNvSpPr/>
          <p:nvPr/>
        </p:nvSpPr>
        <p:spPr>
          <a:xfrm>
            <a:off x="841248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19" name="Shape 16"/>
          <p:cNvSpPr/>
          <p:nvPr/>
        </p:nvSpPr>
        <p:spPr>
          <a:xfrm>
            <a:off x="856792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20" name="Shape 17"/>
          <p:cNvSpPr/>
          <p:nvPr/>
        </p:nvSpPr>
        <p:spPr>
          <a:xfrm>
            <a:off x="872337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1" name="Shape 18"/>
          <p:cNvSpPr/>
          <p:nvPr/>
        </p:nvSpPr>
        <p:spPr>
          <a:xfrm>
            <a:off x="887882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2" name="Shape 19"/>
          <p:cNvSpPr/>
          <p:nvPr/>
        </p:nvSpPr>
        <p:spPr>
          <a:xfrm>
            <a:off x="903427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3" name="Shape 20"/>
          <p:cNvSpPr/>
          <p:nvPr/>
        </p:nvSpPr>
        <p:spPr>
          <a:xfrm>
            <a:off x="918972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4" name="Shape 21"/>
          <p:cNvSpPr/>
          <p:nvPr/>
        </p:nvSpPr>
        <p:spPr>
          <a:xfrm>
            <a:off x="934516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25" name="Shape 22"/>
          <p:cNvSpPr/>
          <p:nvPr/>
        </p:nvSpPr>
        <p:spPr>
          <a:xfrm>
            <a:off x="950061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6" name="Shape 23"/>
          <p:cNvSpPr/>
          <p:nvPr/>
        </p:nvSpPr>
        <p:spPr>
          <a:xfrm>
            <a:off x="965606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7" name="Shape 24"/>
          <p:cNvSpPr/>
          <p:nvPr/>
        </p:nvSpPr>
        <p:spPr>
          <a:xfrm>
            <a:off x="981151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8" name="Shape 25"/>
          <p:cNvSpPr/>
          <p:nvPr/>
        </p:nvSpPr>
        <p:spPr>
          <a:xfrm>
            <a:off x="996696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29" name="Shape 26"/>
          <p:cNvSpPr/>
          <p:nvPr/>
        </p:nvSpPr>
        <p:spPr>
          <a:xfrm>
            <a:off x="10122408" y="1920240"/>
            <a:ext cx="100584" cy="118872"/>
          </a:xfrm>
          <a:prstGeom prst="roundRect">
            <a:avLst>
              <a:gd name="adj" fmla="val 22727"/>
            </a:avLst>
          </a:prstGeom>
          <a:solidFill>
            <a:srgbClr val="B11F4B"/>
          </a:solidFill>
          <a:ln w="12700">
            <a:solidFill>
              <a:srgbClr val="B11F4B">
                <a:alpha val="0"/>
              </a:srgbClr>
            </a:solidFill>
            <a:prstDash val="solid"/>
          </a:ln>
        </p:spPr>
      </p:sp>
      <p:sp>
        <p:nvSpPr>
          <p:cNvPr id="30" name="Shape 27"/>
          <p:cNvSpPr/>
          <p:nvPr/>
        </p:nvSpPr>
        <p:spPr>
          <a:xfrm>
            <a:off x="10277856"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1" name="Shape 28"/>
          <p:cNvSpPr/>
          <p:nvPr/>
        </p:nvSpPr>
        <p:spPr>
          <a:xfrm>
            <a:off x="10433304"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2" name="Shape 29"/>
          <p:cNvSpPr/>
          <p:nvPr/>
        </p:nvSpPr>
        <p:spPr>
          <a:xfrm>
            <a:off x="10588752"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3" name="Shape 30"/>
          <p:cNvSpPr/>
          <p:nvPr/>
        </p:nvSpPr>
        <p:spPr>
          <a:xfrm>
            <a:off x="10744200" y="1920240"/>
            <a:ext cx="100584" cy="118872"/>
          </a:xfrm>
          <a:prstGeom prst="roundRect">
            <a:avLst>
              <a:gd name="adj" fmla="val 22727"/>
            </a:avLst>
          </a:prstGeom>
          <a:solidFill>
            <a:srgbClr val="DEDEDE"/>
          </a:solidFill>
          <a:ln w="12700">
            <a:solidFill>
              <a:srgbClr val="DEDEDE">
                <a:alpha val="0"/>
              </a:srgbClr>
            </a:solidFill>
            <a:prstDash val="solid"/>
          </a:ln>
        </p:spPr>
      </p:sp>
      <p:sp>
        <p:nvSpPr>
          <p:cNvPr id="34" name="Shape 31"/>
          <p:cNvSpPr/>
          <p:nvPr/>
        </p:nvSpPr>
        <p:spPr>
          <a:xfrm>
            <a:off x="701344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35" name="Shape 32"/>
          <p:cNvSpPr/>
          <p:nvPr/>
        </p:nvSpPr>
        <p:spPr>
          <a:xfrm>
            <a:off x="716889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6" name="Shape 33"/>
          <p:cNvSpPr/>
          <p:nvPr/>
        </p:nvSpPr>
        <p:spPr>
          <a:xfrm>
            <a:off x="732434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7" name="Shape 34"/>
          <p:cNvSpPr/>
          <p:nvPr/>
        </p:nvSpPr>
        <p:spPr>
          <a:xfrm>
            <a:off x="747979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8" name="Shape 35"/>
          <p:cNvSpPr/>
          <p:nvPr/>
        </p:nvSpPr>
        <p:spPr>
          <a:xfrm>
            <a:off x="763524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39" name="Shape 36"/>
          <p:cNvSpPr/>
          <p:nvPr/>
        </p:nvSpPr>
        <p:spPr>
          <a:xfrm>
            <a:off x="779068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40" name="Shape 37"/>
          <p:cNvSpPr/>
          <p:nvPr/>
        </p:nvSpPr>
        <p:spPr>
          <a:xfrm>
            <a:off x="794613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1" name="Shape 38"/>
          <p:cNvSpPr/>
          <p:nvPr/>
        </p:nvSpPr>
        <p:spPr>
          <a:xfrm>
            <a:off x="810158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2" name="Shape 39"/>
          <p:cNvSpPr/>
          <p:nvPr/>
        </p:nvSpPr>
        <p:spPr>
          <a:xfrm>
            <a:off x="825703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3" name="Shape 40"/>
          <p:cNvSpPr/>
          <p:nvPr/>
        </p:nvSpPr>
        <p:spPr>
          <a:xfrm>
            <a:off x="841248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4" name="Shape 41"/>
          <p:cNvSpPr/>
          <p:nvPr/>
        </p:nvSpPr>
        <p:spPr>
          <a:xfrm>
            <a:off x="856792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45" name="Shape 42"/>
          <p:cNvSpPr/>
          <p:nvPr/>
        </p:nvSpPr>
        <p:spPr>
          <a:xfrm>
            <a:off x="872337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6" name="Shape 43"/>
          <p:cNvSpPr/>
          <p:nvPr/>
        </p:nvSpPr>
        <p:spPr>
          <a:xfrm>
            <a:off x="887882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7" name="Shape 44"/>
          <p:cNvSpPr/>
          <p:nvPr/>
        </p:nvSpPr>
        <p:spPr>
          <a:xfrm>
            <a:off x="903427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8" name="Shape 45"/>
          <p:cNvSpPr/>
          <p:nvPr/>
        </p:nvSpPr>
        <p:spPr>
          <a:xfrm>
            <a:off x="918972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49" name="Shape 46"/>
          <p:cNvSpPr/>
          <p:nvPr/>
        </p:nvSpPr>
        <p:spPr>
          <a:xfrm>
            <a:off x="934516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50" name="Shape 47"/>
          <p:cNvSpPr/>
          <p:nvPr/>
        </p:nvSpPr>
        <p:spPr>
          <a:xfrm>
            <a:off x="950061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1" name="Shape 48"/>
          <p:cNvSpPr/>
          <p:nvPr/>
        </p:nvSpPr>
        <p:spPr>
          <a:xfrm>
            <a:off x="965606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2" name="Shape 49"/>
          <p:cNvSpPr/>
          <p:nvPr/>
        </p:nvSpPr>
        <p:spPr>
          <a:xfrm>
            <a:off x="981151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3" name="Shape 50"/>
          <p:cNvSpPr/>
          <p:nvPr/>
        </p:nvSpPr>
        <p:spPr>
          <a:xfrm>
            <a:off x="996696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4" name="Shape 51"/>
          <p:cNvSpPr/>
          <p:nvPr/>
        </p:nvSpPr>
        <p:spPr>
          <a:xfrm>
            <a:off x="10122408" y="2107692"/>
            <a:ext cx="100584" cy="118872"/>
          </a:xfrm>
          <a:prstGeom prst="roundRect">
            <a:avLst>
              <a:gd name="adj" fmla="val 22727"/>
            </a:avLst>
          </a:prstGeom>
          <a:solidFill>
            <a:srgbClr val="B11F4B"/>
          </a:solidFill>
          <a:ln w="12700">
            <a:solidFill>
              <a:srgbClr val="B11F4B">
                <a:alpha val="0"/>
              </a:srgbClr>
            </a:solidFill>
            <a:prstDash val="solid"/>
          </a:ln>
        </p:spPr>
      </p:sp>
      <p:sp>
        <p:nvSpPr>
          <p:cNvPr id="55" name="Shape 52"/>
          <p:cNvSpPr/>
          <p:nvPr/>
        </p:nvSpPr>
        <p:spPr>
          <a:xfrm>
            <a:off x="10277856"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6" name="Shape 53"/>
          <p:cNvSpPr/>
          <p:nvPr/>
        </p:nvSpPr>
        <p:spPr>
          <a:xfrm>
            <a:off x="10433304"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7" name="Shape 54"/>
          <p:cNvSpPr/>
          <p:nvPr/>
        </p:nvSpPr>
        <p:spPr>
          <a:xfrm>
            <a:off x="10588752"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8" name="Shape 55"/>
          <p:cNvSpPr/>
          <p:nvPr/>
        </p:nvSpPr>
        <p:spPr>
          <a:xfrm>
            <a:off x="10744200" y="2107692"/>
            <a:ext cx="100584" cy="118872"/>
          </a:xfrm>
          <a:prstGeom prst="roundRect">
            <a:avLst>
              <a:gd name="adj" fmla="val 22727"/>
            </a:avLst>
          </a:prstGeom>
          <a:solidFill>
            <a:srgbClr val="DEDEDE"/>
          </a:solidFill>
          <a:ln w="12700">
            <a:solidFill>
              <a:srgbClr val="DEDEDE">
                <a:alpha val="0"/>
              </a:srgbClr>
            </a:solidFill>
            <a:prstDash val="solid"/>
          </a:ln>
        </p:spPr>
      </p:sp>
      <p:sp>
        <p:nvSpPr>
          <p:cNvPr id="59" name="Shape 56"/>
          <p:cNvSpPr/>
          <p:nvPr/>
        </p:nvSpPr>
        <p:spPr>
          <a:xfrm>
            <a:off x="701344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60" name="Shape 57"/>
          <p:cNvSpPr/>
          <p:nvPr/>
        </p:nvSpPr>
        <p:spPr>
          <a:xfrm>
            <a:off x="716889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1" name="Shape 58"/>
          <p:cNvSpPr/>
          <p:nvPr/>
        </p:nvSpPr>
        <p:spPr>
          <a:xfrm>
            <a:off x="732434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2" name="Shape 59"/>
          <p:cNvSpPr/>
          <p:nvPr/>
        </p:nvSpPr>
        <p:spPr>
          <a:xfrm>
            <a:off x="747979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3" name="Shape 60"/>
          <p:cNvSpPr/>
          <p:nvPr/>
        </p:nvSpPr>
        <p:spPr>
          <a:xfrm>
            <a:off x="763524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4" name="Shape 61"/>
          <p:cNvSpPr/>
          <p:nvPr/>
        </p:nvSpPr>
        <p:spPr>
          <a:xfrm>
            <a:off x="779068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65" name="Shape 62"/>
          <p:cNvSpPr/>
          <p:nvPr/>
        </p:nvSpPr>
        <p:spPr>
          <a:xfrm>
            <a:off x="794613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6" name="Shape 63"/>
          <p:cNvSpPr/>
          <p:nvPr/>
        </p:nvSpPr>
        <p:spPr>
          <a:xfrm>
            <a:off x="810158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7" name="Shape 64"/>
          <p:cNvSpPr/>
          <p:nvPr/>
        </p:nvSpPr>
        <p:spPr>
          <a:xfrm>
            <a:off x="825703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8" name="Shape 65"/>
          <p:cNvSpPr/>
          <p:nvPr/>
        </p:nvSpPr>
        <p:spPr>
          <a:xfrm>
            <a:off x="841248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69" name="Shape 66"/>
          <p:cNvSpPr/>
          <p:nvPr/>
        </p:nvSpPr>
        <p:spPr>
          <a:xfrm>
            <a:off x="856792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70" name="Shape 67"/>
          <p:cNvSpPr/>
          <p:nvPr/>
        </p:nvSpPr>
        <p:spPr>
          <a:xfrm>
            <a:off x="872337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1" name="Shape 68"/>
          <p:cNvSpPr/>
          <p:nvPr/>
        </p:nvSpPr>
        <p:spPr>
          <a:xfrm>
            <a:off x="887882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2" name="Shape 69"/>
          <p:cNvSpPr/>
          <p:nvPr/>
        </p:nvSpPr>
        <p:spPr>
          <a:xfrm>
            <a:off x="903427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3" name="Shape 70"/>
          <p:cNvSpPr/>
          <p:nvPr/>
        </p:nvSpPr>
        <p:spPr>
          <a:xfrm>
            <a:off x="918972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4" name="Shape 71"/>
          <p:cNvSpPr/>
          <p:nvPr/>
        </p:nvSpPr>
        <p:spPr>
          <a:xfrm>
            <a:off x="934516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75" name="Shape 72"/>
          <p:cNvSpPr/>
          <p:nvPr/>
        </p:nvSpPr>
        <p:spPr>
          <a:xfrm>
            <a:off x="950061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6" name="Shape 73"/>
          <p:cNvSpPr/>
          <p:nvPr/>
        </p:nvSpPr>
        <p:spPr>
          <a:xfrm>
            <a:off x="965606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7" name="Shape 74"/>
          <p:cNvSpPr/>
          <p:nvPr/>
        </p:nvSpPr>
        <p:spPr>
          <a:xfrm>
            <a:off x="981151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8" name="Shape 75"/>
          <p:cNvSpPr/>
          <p:nvPr/>
        </p:nvSpPr>
        <p:spPr>
          <a:xfrm>
            <a:off x="996696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79" name="Shape 76"/>
          <p:cNvSpPr/>
          <p:nvPr/>
        </p:nvSpPr>
        <p:spPr>
          <a:xfrm>
            <a:off x="10122408" y="2295144"/>
            <a:ext cx="100584" cy="118872"/>
          </a:xfrm>
          <a:prstGeom prst="roundRect">
            <a:avLst>
              <a:gd name="adj" fmla="val 22727"/>
            </a:avLst>
          </a:prstGeom>
          <a:solidFill>
            <a:srgbClr val="B11F4B"/>
          </a:solidFill>
          <a:ln w="12700">
            <a:solidFill>
              <a:srgbClr val="B11F4B">
                <a:alpha val="0"/>
              </a:srgbClr>
            </a:solidFill>
            <a:prstDash val="solid"/>
          </a:ln>
        </p:spPr>
      </p:sp>
      <p:sp>
        <p:nvSpPr>
          <p:cNvPr id="80" name="Shape 77"/>
          <p:cNvSpPr/>
          <p:nvPr/>
        </p:nvSpPr>
        <p:spPr>
          <a:xfrm>
            <a:off x="10277856"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1" name="Shape 78"/>
          <p:cNvSpPr/>
          <p:nvPr/>
        </p:nvSpPr>
        <p:spPr>
          <a:xfrm>
            <a:off x="10433304"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2" name="Shape 79"/>
          <p:cNvSpPr/>
          <p:nvPr/>
        </p:nvSpPr>
        <p:spPr>
          <a:xfrm>
            <a:off x="10588752"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3" name="Shape 80"/>
          <p:cNvSpPr/>
          <p:nvPr/>
        </p:nvSpPr>
        <p:spPr>
          <a:xfrm>
            <a:off x="10744200" y="2295144"/>
            <a:ext cx="100584" cy="118872"/>
          </a:xfrm>
          <a:prstGeom prst="roundRect">
            <a:avLst>
              <a:gd name="adj" fmla="val 22727"/>
            </a:avLst>
          </a:prstGeom>
          <a:solidFill>
            <a:srgbClr val="DEDEDE"/>
          </a:solidFill>
          <a:ln w="12700">
            <a:solidFill>
              <a:srgbClr val="DEDEDE">
                <a:alpha val="0"/>
              </a:srgbClr>
            </a:solidFill>
            <a:prstDash val="solid"/>
          </a:ln>
        </p:spPr>
      </p:sp>
      <p:sp>
        <p:nvSpPr>
          <p:cNvPr id="84" name="Shape 81"/>
          <p:cNvSpPr/>
          <p:nvPr/>
        </p:nvSpPr>
        <p:spPr>
          <a:xfrm>
            <a:off x="701344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85" name="Shape 82"/>
          <p:cNvSpPr/>
          <p:nvPr/>
        </p:nvSpPr>
        <p:spPr>
          <a:xfrm>
            <a:off x="716889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6" name="Shape 83"/>
          <p:cNvSpPr/>
          <p:nvPr/>
        </p:nvSpPr>
        <p:spPr>
          <a:xfrm>
            <a:off x="732434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7" name="Shape 84"/>
          <p:cNvSpPr/>
          <p:nvPr/>
        </p:nvSpPr>
        <p:spPr>
          <a:xfrm>
            <a:off x="747979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8" name="Shape 85"/>
          <p:cNvSpPr/>
          <p:nvPr/>
        </p:nvSpPr>
        <p:spPr>
          <a:xfrm>
            <a:off x="763524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89" name="Shape 86"/>
          <p:cNvSpPr/>
          <p:nvPr/>
        </p:nvSpPr>
        <p:spPr>
          <a:xfrm>
            <a:off x="779068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90" name="Shape 87"/>
          <p:cNvSpPr/>
          <p:nvPr/>
        </p:nvSpPr>
        <p:spPr>
          <a:xfrm>
            <a:off x="794613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1" name="Shape 88"/>
          <p:cNvSpPr/>
          <p:nvPr/>
        </p:nvSpPr>
        <p:spPr>
          <a:xfrm>
            <a:off x="810158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2" name="Shape 89"/>
          <p:cNvSpPr/>
          <p:nvPr/>
        </p:nvSpPr>
        <p:spPr>
          <a:xfrm>
            <a:off x="825703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3" name="Shape 90"/>
          <p:cNvSpPr/>
          <p:nvPr/>
        </p:nvSpPr>
        <p:spPr>
          <a:xfrm>
            <a:off x="841248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4" name="Shape 91"/>
          <p:cNvSpPr/>
          <p:nvPr/>
        </p:nvSpPr>
        <p:spPr>
          <a:xfrm>
            <a:off x="856792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95" name="Shape 92"/>
          <p:cNvSpPr/>
          <p:nvPr/>
        </p:nvSpPr>
        <p:spPr>
          <a:xfrm>
            <a:off x="872337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6" name="Shape 93"/>
          <p:cNvSpPr/>
          <p:nvPr/>
        </p:nvSpPr>
        <p:spPr>
          <a:xfrm>
            <a:off x="887882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7" name="Shape 94"/>
          <p:cNvSpPr/>
          <p:nvPr/>
        </p:nvSpPr>
        <p:spPr>
          <a:xfrm>
            <a:off x="903427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8" name="Shape 95"/>
          <p:cNvSpPr/>
          <p:nvPr/>
        </p:nvSpPr>
        <p:spPr>
          <a:xfrm>
            <a:off x="918972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99" name="Shape 96"/>
          <p:cNvSpPr/>
          <p:nvPr/>
        </p:nvSpPr>
        <p:spPr>
          <a:xfrm>
            <a:off x="934516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100" name="Shape 97"/>
          <p:cNvSpPr/>
          <p:nvPr/>
        </p:nvSpPr>
        <p:spPr>
          <a:xfrm>
            <a:off x="950061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1" name="Shape 98"/>
          <p:cNvSpPr/>
          <p:nvPr/>
        </p:nvSpPr>
        <p:spPr>
          <a:xfrm>
            <a:off x="965606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2" name="Shape 99"/>
          <p:cNvSpPr/>
          <p:nvPr/>
        </p:nvSpPr>
        <p:spPr>
          <a:xfrm>
            <a:off x="981151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3" name="Shape 100"/>
          <p:cNvSpPr/>
          <p:nvPr/>
        </p:nvSpPr>
        <p:spPr>
          <a:xfrm>
            <a:off x="996696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4" name="Shape 101"/>
          <p:cNvSpPr/>
          <p:nvPr/>
        </p:nvSpPr>
        <p:spPr>
          <a:xfrm>
            <a:off x="10122408" y="2482596"/>
            <a:ext cx="100584" cy="118872"/>
          </a:xfrm>
          <a:prstGeom prst="roundRect">
            <a:avLst>
              <a:gd name="adj" fmla="val 22727"/>
            </a:avLst>
          </a:prstGeom>
          <a:solidFill>
            <a:srgbClr val="B11F4B"/>
          </a:solidFill>
          <a:ln w="12700">
            <a:solidFill>
              <a:srgbClr val="B11F4B">
                <a:alpha val="0"/>
              </a:srgbClr>
            </a:solidFill>
            <a:prstDash val="solid"/>
          </a:ln>
        </p:spPr>
      </p:sp>
      <p:sp>
        <p:nvSpPr>
          <p:cNvPr id="105" name="Shape 102"/>
          <p:cNvSpPr/>
          <p:nvPr/>
        </p:nvSpPr>
        <p:spPr>
          <a:xfrm>
            <a:off x="10277856"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6" name="Shape 103"/>
          <p:cNvSpPr/>
          <p:nvPr/>
        </p:nvSpPr>
        <p:spPr>
          <a:xfrm>
            <a:off x="10433304"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7" name="Shape 104"/>
          <p:cNvSpPr/>
          <p:nvPr/>
        </p:nvSpPr>
        <p:spPr>
          <a:xfrm>
            <a:off x="10588752"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8" name="Shape 105"/>
          <p:cNvSpPr/>
          <p:nvPr/>
        </p:nvSpPr>
        <p:spPr>
          <a:xfrm>
            <a:off x="10744200" y="2482596"/>
            <a:ext cx="100584" cy="118872"/>
          </a:xfrm>
          <a:prstGeom prst="roundRect">
            <a:avLst>
              <a:gd name="adj" fmla="val 22727"/>
            </a:avLst>
          </a:prstGeom>
          <a:solidFill>
            <a:srgbClr val="DEDEDE"/>
          </a:solidFill>
          <a:ln w="12700">
            <a:solidFill>
              <a:srgbClr val="DEDEDE">
                <a:alpha val="0"/>
              </a:srgbClr>
            </a:solidFill>
            <a:prstDash val="solid"/>
          </a:ln>
        </p:spPr>
      </p:sp>
      <p:sp>
        <p:nvSpPr>
          <p:cNvPr id="109" name="Shape 106"/>
          <p:cNvSpPr/>
          <p:nvPr/>
        </p:nvSpPr>
        <p:spPr>
          <a:xfrm>
            <a:off x="701344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10" name="Shape 107"/>
          <p:cNvSpPr/>
          <p:nvPr/>
        </p:nvSpPr>
        <p:spPr>
          <a:xfrm>
            <a:off x="716889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1" name="Shape 108"/>
          <p:cNvSpPr/>
          <p:nvPr/>
        </p:nvSpPr>
        <p:spPr>
          <a:xfrm>
            <a:off x="732434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2" name="Shape 109"/>
          <p:cNvSpPr/>
          <p:nvPr/>
        </p:nvSpPr>
        <p:spPr>
          <a:xfrm>
            <a:off x="747979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3" name="Shape 110"/>
          <p:cNvSpPr/>
          <p:nvPr/>
        </p:nvSpPr>
        <p:spPr>
          <a:xfrm>
            <a:off x="763524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4" name="Shape 111"/>
          <p:cNvSpPr/>
          <p:nvPr/>
        </p:nvSpPr>
        <p:spPr>
          <a:xfrm>
            <a:off x="779068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15" name="Shape 112"/>
          <p:cNvSpPr/>
          <p:nvPr/>
        </p:nvSpPr>
        <p:spPr>
          <a:xfrm>
            <a:off x="794613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6" name="Shape 113"/>
          <p:cNvSpPr/>
          <p:nvPr/>
        </p:nvSpPr>
        <p:spPr>
          <a:xfrm>
            <a:off x="810158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7" name="Shape 114"/>
          <p:cNvSpPr/>
          <p:nvPr/>
        </p:nvSpPr>
        <p:spPr>
          <a:xfrm>
            <a:off x="825703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8" name="Shape 115"/>
          <p:cNvSpPr/>
          <p:nvPr/>
        </p:nvSpPr>
        <p:spPr>
          <a:xfrm>
            <a:off x="841248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19" name="Shape 116"/>
          <p:cNvSpPr/>
          <p:nvPr/>
        </p:nvSpPr>
        <p:spPr>
          <a:xfrm>
            <a:off x="856792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20" name="Shape 117"/>
          <p:cNvSpPr/>
          <p:nvPr/>
        </p:nvSpPr>
        <p:spPr>
          <a:xfrm>
            <a:off x="872337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1" name="Shape 118"/>
          <p:cNvSpPr/>
          <p:nvPr/>
        </p:nvSpPr>
        <p:spPr>
          <a:xfrm>
            <a:off x="887882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2" name="Shape 119"/>
          <p:cNvSpPr/>
          <p:nvPr/>
        </p:nvSpPr>
        <p:spPr>
          <a:xfrm>
            <a:off x="903427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3" name="Shape 120"/>
          <p:cNvSpPr/>
          <p:nvPr/>
        </p:nvSpPr>
        <p:spPr>
          <a:xfrm>
            <a:off x="918972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4" name="Shape 121"/>
          <p:cNvSpPr/>
          <p:nvPr/>
        </p:nvSpPr>
        <p:spPr>
          <a:xfrm>
            <a:off x="934516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25" name="Shape 122"/>
          <p:cNvSpPr/>
          <p:nvPr/>
        </p:nvSpPr>
        <p:spPr>
          <a:xfrm>
            <a:off x="950061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6" name="Shape 123"/>
          <p:cNvSpPr/>
          <p:nvPr/>
        </p:nvSpPr>
        <p:spPr>
          <a:xfrm>
            <a:off x="965606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7" name="Shape 124"/>
          <p:cNvSpPr/>
          <p:nvPr/>
        </p:nvSpPr>
        <p:spPr>
          <a:xfrm>
            <a:off x="981151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8" name="Shape 125"/>
          <p:cNvSpPr/>
          <p:nvPr/>
        </p:nvSpPr>
        <p:spPr>
          <a:xfrm>
            <a:off x="996696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29" name="Shape 126"/>
          <p:cNvSpPr/>
          <p:nvPr/>
        </p:nvSpPr>
        <p:spPr>
          <a:xfrm>
            <a:off x="10122408" y="2670048"/>
            <a:ext cx="100584" cy="118872"/>
          </a:xfrm>
          <a:prstGeom prst="roundRect">
            <a:avLst>
              <a:gd name="adj" fmla="val 22727"/>
            </a:avLst>
          </a:prstGeom>
          <a:solidFill>
            <a:srgbClr val="B11F4B"/>
          </a:solidFill>
          <a:ln w="12700">
            <a:solidFill>
              <a:srgbClr val="B11F4B">
                <a:alpha val="0"/>
              </a:srgbClr>
            </a:solidFill>
            <a:prstDash val="solid"/>
          </a:ln>
        </p:spPr>
      </p:sp>
      <p:sp>
        <p:nvSpPr>
          <p:cNvPr id="130" name="Shape 127"/>
          <p:cNvSpPr/>
          <p:nvPr/>
        </p:nvSpPr>
        <p:spPr>
          <a:xfrm>
            <a:off x="10277856"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1" name="Shape 128"/>
          <p:cNvSpPr/>
          <p:nvPr/>
        </p:nvSpPr>
        <p:spPr>
          <a:xfrm>
            <a:off x="10433304"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2" name="Shape 129"/>
          <p:cNvSpPr/>
          <p:nvPr/>
        </p:nvSpPr>
        <p:spPr>
          <a:xfrm>
            <a:off x="10588752"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3" name="Shape 130"/>
          <p:cNvSpPr/>
          <p:nvPr/>
        </p:nvSpPr>
        <p:spPr>
          <a:xfrm>
            <a:off x="10744200" y="2670048"/>
            <a:ext cx="100584" cy="118872"/>
          </a:xfrm>
          <a:prstGeom prst="roundRect">
            <a:avLst>
              <a:gd name="adj" fmla="val 22727"/>
            </a:avLst>
          </a:prstGeom>
          <a:solidFill>
            <a:srgbClr val="DEDEDE"/>
          </a:solidFill>
          <a:ln w="12700">
            <a:solidFill>
              <a:srgbClr val="DEDEDE">
                <a:alpha val="0"/>
              </a:srgbClr>
            </a:solidFill>
            <a:prstDash val="solid"/>
          </a:ln>
        </p:spPr>
      </p:sp>
      <p:sp>
        <p:nvSpPr>
          <p:cNvPr id="134" name="Shape 131"/>
          <p:cNvSpPr/>
          <p:nvPr/>
        </p:nvSpPr>
        <p:spPr>
          <a:xfrm>
            <a:off x="701344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35" name="Shape 132"/>
          <p:cNvSpPr/>
          <p:nvPr/>
        </p:nvSpPr>
        <p:spPr>
          <a:xfrm>
            <a:off x="716889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6" name="Shape 133"/>
          <p:cNvSpPr/>
          <p:nvPr/>
        </p:nvSpPr>
        <p:spPr>
          <a:xfrm>
            <a:off x="732434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7" name="Shape 134"/>
          <p:cNvSpPr/>
          <p:nvPr/>
        </p:nvSpPr>
        <p:spPr>
          <a:xfrm>
            <a:off x="747979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8" name="Shape 135"/>
          <p:cNvSpPr/>
          <p:nvPr/>
        </p:nvSpPr>
        <p:spPr>
          <a:xfrm>
            <a:off x="763524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39" name="Shape 136"/>
          <p:cNvSpPr/>
          <p:nvPr/>
        </p:nvSpPr>
        <p:spPr>
          <a:xfrm>
            <a:off x="779068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40" name="Shape 137"/>
          <p:cNvSpPr/>
          <p:nvPr/>
        </p:nvSpPr>
        <p:spPr>
          <a:xfrm>
            <a:off x="794613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1" name="Shape 138"/>
          <p:cNvSpPr/>
          <p:nvPr/>
        </p:nvSpPr>
        <p:spPr>
          <a:xfrm>
            <a:off x="810158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2" name="Shape 139"/>
          <p:cNvSpPr/>
          <p:nvPr/>
        </p:nvSpPr>
        <p:spPr>
          <a:xfrm>
            <a:off x="825703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3" name="Shape 140"/>
          <p:cNvSpPr/>
          <p:nvPr/>
        </p:nvSpPr>
        <p:spPr>
          <a:xfrm>
            <a:off x="841248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4" name="Shape 141"/>
          <p:cNvSpPr/>
          <p:nvPr/>
        </p:nvSpPr>
        <p:spPr>
          <a:xfrm>
            <a:off x="856792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45" name="Shape 142"/>
          <p:cNvSpPr/>
          <p:nvPr/>
        </p:nvSpPr>
        <p:spPr>
          <a:xfrm>
            <a:off x="872337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6" name="Shape 143"/>
          <p:cNvSpPr/>
          <p:nvPr/>
        </p:nvSpPr>
        <p:spPr>
          <a:xfrm>
            <a:off x="887882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7" name="Shape 144"/>
          <p:cNvSpPr/>
          <p:nvPr/>
        </p:nvSpPr>
        <p:spPr>
          <a:xfrm>
            <a:off x="903427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8" name="Shape 145"/>
          <p:cNvSpPr/>
          <p:nvPr/>
        </p:nvSpPr>
        <p:spPr>
          <a:xfrm>
            <a:off x="918972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49" name="Shape 146"/>
          <p:cNvSpPr/>
          <p:nvPr/>
        </p:nvSpPr>
        <p:spPr>
          <a:xfrm>
            <a:off x="934516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50" name="Shape 147"/>
          <p:cNvSpPr/>
          <p:nvPr/>
        </p:nvSpPr>
        <p:spPr>
          <a:xfrm>
            <a:off x="950061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1" name="Shape 148"/>
          <p:cNvSpPr/>
          <p:nvPr/>
        </p:nvSpPr>
        <p:spPr>
          <a:xfrm>
            <a:off x="965606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2" name="Shape 149"/>
          <p:cNvSpPr/>
          <p:nvPr/>
        </p:nvSpPr>
        <p:spPr>
          <a:xfrm>
            <a:off x="981151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3" name="Shape 150"/>
          <p:cNvSpPr/>
          <p:nvPr/>
        </p:nvSpPr>
        <p:spPr>
          <a:xfrm>
            <a:off x="996696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4" name="Shape 151"/>
          <p:cNvSpPr/>
          <p:nvPr/>
        </p:nvSpPr>
        <p:spPr>
          <a:xfrm>
            <a:off x="10122408" y="2857500"/>
            <a:ext cx="100584" cy="118872"/>
          </a:xfrm>
          <a:prstGeom prst="roundRect">
            <a:avLst>
              <a:gd name="adj" fmla="val 22727"/>
            </a:avLst>
          </a:prstGeom>
          <a:solidFill>
            <a:srgbClr val="B11F4B"/>
          </a:solidFill>
          <a:ln w="12700">
            <a:solidFill>
              <a:srgbClr val="B11F4B">
                <a:alpha val="0"/>
              </a:srgbClr>
            </a:solidFill>
            <a:prstDash val="solid"/>
          </a:ln>
        </p:spPr>
      </p:sp>
      <p:sp>
        <p:nvSpPr>
          <p:cNvPr id="155" name="Shape 152"/>
          <p:cNvSpPr/>
          <p:nvPr/>
        </p:nvSpPr>
        <p:spPr>
          <a:xfrm>
            <a:off x="10277856"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6" name="Shape 153"/>
          <p:cNvSpPr/>
          <p:nvPr/>
        </p:nvSpPr>
        <p:spPr>
          <a:xfrm>
            <a:off x="10433304"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7" name="Shape 154"/>
          <p:cNvSpPr/>
          <p:nvPr/>
        </p:nvSpPr>
        <p:spPr>
          <a:xfrm>
            <a:off x="10588752"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8" name="Shape 155"/>
          <p:cNvSpPr/>
          <p:nvPr/>
        </p:nvSpPr>
        <p:spPr>
          <a:xfrm>
            <a:off x="10744200" y="2857500"/>
            <a:ext cx="100584" cy="118872"/>
          </a:xfrm>
          <a:prstGeom prst="roundRect">
            <a:avLst>
              <a:gd name="adj" fmla="val 22727"/>
            </a:avLst>
          </a:prstGeom>
          <a:solidFill>
            <a:srgbClr val="DEDEDE"/>
          </a:solidFill>
          <a:ln w="12700">
            <a:solidFill>
              <a:srgbClr val="DEDEDE">
                <a:alpha val="0"/>
              </a:srgbClr>
            </a:solidFill>
            <a:prstDash val="solid"/>
          </a:ln>
        </p:spPr>
      </p:sp>
      <p:sp>
        <p:nvSpPr>
          <p:cNvPr id="159" name="Shape 156"/>
          <p:cNvSpPr/>
          <p:nvPr/>
        </p:nvSpPr>
        <p:spPr>
          <a:xfrm>
            <a:off x="701344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60" name="Shape 157"/>
          <p:cNvSpPr/>
          <p:nvPr/>
        </p:nvSpPr>
        <p:spPr>
          <a:xfrm>
            <a:off x="716889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1" name="Shape 158"/>
          <p:cNvSpPr/>
          <p:nvPr/>
        </p:nvSpPr>
        <p:spPr>
          <a:xfrm>
            <a:off x="732434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2" name="Shape 159"/>
          <p:cNvSpPr/>
          <p:nvPr/>
        </p:nvSpPr>
        <p:spPr>
          <a:xfrm>
            <a:off x="747979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3" name="Shape 160"/>
          <p:cNvSpPr/>
          <p:nvPr/>
        </p:nvSpPr>
        <p:spPr>
          <a:xfrm>
            <a:off x="763524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4" name="Shape 161"/>
          <p:cNvSpPr/>
          <p:nvPr/>
        </p:nvSpPr>
        <p:spPr>
          <a:xfrm>
            <a:off x="779068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65" name="Shape 162"/>
          <p:cNvSpPr/>
          <p:nvPr/>
        </p:nvSpPr>
        <p:spPr>
          <a:xfrm>
            <a:off x="794613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6" name="Shape 163"/>
          <p:cNvSpPr/>
          <p:nvPr/>
        </p:nvSpPr>
        <p:spPr>
          <a:xfrm>
            <a:off x="810158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7" name="Shape 164"/>
          <p:cNvSpPr/>
          <p:nvPr/>
        </p:nvSpPr>
        <p:spPr>
          <a:xfrm>
            <a:off x="825703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8" name="Shape 165"/>
          <p:cNvSpPr/>
          <p:nvPr/>
        </p:nvSpPr>
        <p:spPr>
          <a:xfrm>
            <a:off x="841248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69" name="Shape 166"/>
          <p:cNvSpPr/>
          <p:nvPr/>
        </p:nvSpPr>
        <p:spPr>
          <a:xfrm>
            <a:off x="856792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70" name="Shape 167"/>
          <p:cNvSpPr/>
          <p:nvPr/>
        </p:nvSpPr>
        <p:spPr>
          <a:xfrm>
            <a:off x="872337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1" name="Shape 168"/>
          <p:cNvSpPr/>
          <p:nvPr/>
        </p:nvSpPr>
        <p:spPr>
          <a:xfrm>
            <a:off x="887882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2" name="Shape 169"/>
          <p:cNvSpPr/>
          <p:nvPr/>
        </p:nvSpPr>
        <p:spPr>
          <a:xfrm>
            <a:off x="903427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3" name="Shape 170"/>
          <p:cNvSpPr/>
          <p:nvPr/>
        </p:nvSpPr>
        <p:spPr>
          <a:xfrm>
            <a:off x="918972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4" name="Shape 171"/>
          <p:cNvSpPr/>
          <p:nvPr/>
        </p:nvSpPr>
        <p:spPr>
          <a:xfrm>
            <a:off x="934516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75" name="Shape 172"/>
          <p:cNvSpPr/>
          <p:nvPr/>
        </p:nvSpPr>
        <p:spPr>
          <a:xfrm>
            <a:off x="950061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6" name="Shape 173"/>
          <p:cNvSpPr/>
          <p:nvPr/>
        </p:nvSpPr>
        <p:spPr>
          <a:xfrm>
            <a:off x="965606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7" name="Shape 174"/>
          <p:cNvSpPr/>
          <p:nvPr/>
        </p:nvSpPr>
        <p:spPr>
          <a:xfrm>
            <a:off x="981151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8" name="Shape 175"/>
          <p:cNvSpPr/>
          <p:nvPr/>
        </p:nvSpPr>
        <p:spPr>
          <a:xfrm>
            <a:off x="996696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79" name="Shape 176"/>
          <p:cNvSpPr/>
          <p:nvPr/>
        </p:nvSpPr>
        <p:spPr>
          <a:xfrm>
            <a:off x="10122408" y="3044952"/>
            <a:ext cx="100584" cy="118872"/>
          </a:xfrm>
          <a:prstGeom prst="roundRect">
            <a:avLst>
              <a:gd name="adj" fmla="val 22727"/>
            </a:avLst>
          </a:prstGeom>
          <a:solidFill>
            <a:srgbClr val="B11F4B"/>
          </a:solidFill>
          <a:ln w="12700">
            <a:solidFill>
              <a:srgbClr val="B11F4B">
                <a:alpha val="0"/>
              </a:srgbClr>
            </a:solidFill>
            <a:prstDash val="solid"/>
          </a:ln>
        </p:spPr>
      </p:sp>
      <p:sp>
        <p:nvSpPr>
          <p:cNvPr id="180" name="Shape 177"/>
          <p:cNvSpPr/>
          <p:nvPr/>
        </p:nvSpPr>
        <p:spPr>
          <a:xfrm>
            <a:off x="10277856"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1" name="Shape 178"/>
          <p:cNvSpPr/>
          <p:nvPr/>
        </p:nvSpPr>
        <p:spPr>
          <a:xfrm>
            <a:off x="10433304"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2" name="Shape 179"/>
          <p:cNvSpPr/>
          <p:nvPr/>
        </p:nvSpPr>
        <p:spPr>
          <a:xfrm>
            <a:off x="10588752"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3" name="Shape 180"/>
          <p:cNvSpPr/>
          <p:nvPr/>
        </p:nvSpPr>
        <p:spPr>
          <a:xfrm>
            <a:off x="10744200" y="3044952"/>
            <a:ext cx="100584" cy="118872"/>
          </a:xfrm>
          <a:prstGeom prst="roundRect">
            <a:avLst>
              <a:gd name="adj" fmla="val 22727"/>
            </a:avLst>
          </a:prstGeom>
          <a:solidFill>
            <a:srgbClr val="DEDEDE"/>
          </a:solidFill>
          <a:ln w="12700">
            <a:solidFill>
              <a:srgbClr val="DEDEDE">
                <a:alpha val="0"/>
              </a:srgbClr>
            </a:solidFill>
            <a:prstDash val="solid"/>
          </a:ln>
        </p:spPr>
      </p:sp>
      <p:sp>
        <p:nvSpPr>
          <p:cNvPr id="184" name="Shape 181"/>
          <p:cNvSpPr/>
          <p:nvPr/>
        </p:nvSpPr>
        <p:spPr>
          <a:xfrm>
            <a:off x="701344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85" name="Shape 182"/>
          <p:cNvSpPr/>
          <p:nvPr/>
        </p:nvSpPr>
        <p:spPr>
          <a:xfrm>
            <a:off x="716889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6" name="Shape 183"/>
          <p:cNvSpPr/>
          <p:nvPr/>
        </p:nvSpPr>
        <p:spPr>
          <a:xfrm>
            <a:off x="732434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7" name="Shape 184"/>
          <p:cNvSpPr/>
          <p:nvPr/>
        </p:nvSpPr>
        <p:spPr>
          <a:xfrm>
            <a:off x="747979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8" name="Shape 185"/>
          <p:cNvSpPr/>
          <p:nvPr/>
        </p:nvSpPr>
        <p:spPr>
          <a:xfrm>
            <a:off x="763524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89" name="Shape 186"/>
          <p:cNvSpPr/>
          <p:nvPr/>
        </p:nvSpPr>
        <p:spPr>
          <a:xfrm>
            <a:off x="779068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90" name="Shape 187"/>
          <p:cNvSpPr/>
          <p:nvPr/>
        </p:nvSpPr>
        <p:spPr>
          <a:xfrm>
            <a:off x="794613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1" name="Shape 188"/>
          <p:cNvSpPr/>
          <p:nvPr/>
        </p:nvSpPr>
        <p:spPr>
          <a:xfrm>
            <a:off x="810158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2" name="Shape 189"/>
          <p:cNvSpPr/>
          <p:nvPr/>
        </p:nvSpPr>
        <p:spPr>
          <a:xfrm>
            <a:off x="825703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3" name="Shape 190"/>
          <p:cNvSpPr/>
          <p:nvPr/>
        </p:nvSpPr>
        <p:spPr>
          <a:xfrm>
            <a:off x="841248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4" name="Shape 191"/>
          <p:cNvSpPr/>
          <p:nvPr/>
        </p:nvSpPr>
        <p:spPr>
          <a:xfrm>
            <a:off x="856792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195" name="Shape 192"/>
          <p:cNvSpPr/>
          <p:nvPr/>
        </p:nvSpPr>
        <p:spPr>
          <a:xfrm>
            <a:off x="872337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6" name="Shape 193"/>
          <p:cNvSpPr/>
          <p:nvPr/>
        </p:nvSpPr>
        <p:spPr>
          <a:xfrm>
            <a:off x="887882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7" name="Shape 194"/>
          <p:cNvSpPr/>
          <p:nvPr/>
        </p:nvSpPr>
        <p:spPr>
          <a:xfrm>
            <a:off x="903427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8" name="Shape 195"/>
          <p:cNvSpPr/>
          <p:nvPr/>
        </p:nvSpPr>
        <p:spPr>
          <a:xfrm>
            <a:off x="918972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199" name="Shape 196"/>
          <p:cNvSpPr/>
          <p:nvPr/>
        </p:nvSpPr>
        <p:spPr>
          <a:xfrm>
            <a:off x="934516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200" name="Shape 197"/>
          <p:cNvSpPr/>
          <p:nvPr/>
        </p:nvSpPr>
        <p:spPr>
          <a:xfrm>
            <a:off x="950061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1" name="Shape 198"/>
          <p:cNvSpPr/>
          <p:nvPr/>
        </p:nvSpPr>
        <p:spPr>
          <a:xfrm>
            <a:off x="965606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2" name="Shape 199"/>
          <p:cNvSpPr/>
          <p:nvPr/>
        </p:nvSpPr>
        <p:spPr>
          <a:xfrm>
            <a:off x="981151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3" name="Shape 200"/>
          <p:cNvSpPr/>
          <p:nvPr/>
        </p:nvSpPr>
        <p:spPr>
          <a:xfrm>
            <a:off x="996696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4" name="Shape 201"/>
          <p:cNvSpPr/>
          <p:nvPr/>
        </p:nvSpPr>
        <p:spPr>
          <a:xfrm>
            <a:off x="10122408" y="3232404"/>
            <a:ext cx="100584" cy="118872"/>
          </a:xfrm>
          <a:prstGeom prst="roundRect">
            <a:avLst>
              <a:gd name="adj" fmla="val 22727"/>
            </a:avLst>
          </a:prstGeom>
          <a:solidFill>
            <a:srgbClr val="B11F4B"/>
          </a:solidFill>
          <a:ln w="12700">
            <a:solidFill>
              <a:srgbClr val="B11F4B">
                <a:alpha val="0"/>
              </a:srgbClr>
            </a:solidFill>
            <a:prstDash val="solid"/>
          </a:ln>
        </p:spPr>
      </p:sp>
      <p:sp>
        <p:nvSpPr>
          <p:cNvPr id="205" name="Shape 202"/>
          <p:cNvSpPr/>
          <p:nvPr/>
        </p:nvSpPr>
        <p:spPr>
          <a:xfrm>
            <a:off x="10277856"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6" name="Shape 203"/>
          <p:cNvSpPr/>
          <p:nvPr/>
        </p:nvSpPr>
        <p:spPr>
          <a:xfrm>
            <a:off x="10433304"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7" name="Shape 204"/>
          <p:cNvSpPr/>
          <p:nvPr/>
        </p:nvSpPr>
        <p:spPr>
          <a:xfrm>
            <a:off x="10588752"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8" name="Shape 205"/>
          <p:cNvSpPr/>
          <p:nvPr/>
        </p:nvSpPr>
        <p:spPr>
          <a:xfrm>
            <a:off x="10744200" y="3232404"/>
            <a:ext cx="100584" cy="118872"/>
          </a:xfrm>
          <a:prstGeom prst="roundRect">
            <a:avLst>
              <a:gd name="adj" fmla="val 22727"/>
            </a:avLst>
          </a:prstGeom>
          <a:solidFill>
            <a:srgbClr val="DEDEDE"/>
          </a:solidFill>
          <a:ln w="12700">
            <a:solidFill>
              <a:srgbClr val="DEDEDE">
                <a:alpha val="0"/>
              </a:srgbClr>
            </a:solidFill>
            <a:prstDash val="solid"/>
          </a:ln>
        </p:spPr>
      </p:sp>
      <p:sp>
        <p:nvSpPr>
          <p:cNvPr id="209" name="Shape 206"/>
          <p:cNvSpPr/>
          <p:nvPr/>
        </p:nvSpPr>
        <p:spPr>
          <a:xfrm>
            <a:off x="701344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10" name="Shape 207"/>
          <p:cNvSpPr/>
          <p:nvPr/>
        </p:nvSpPr>
        <p:spPr>
          <a:xfrm>
            <a:off x="716889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1" name="Shape 208"/>
          <p:cNvSpPr/>
          <p:nvPr/>
        </p:nvSpPr>
        <p:spPr>
          <a:xfrm>
            <a:off x="732434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2" name="Shape 209"/>
          <p:cNvSpPr/>
          <p:nvPr/>
        </p:nvSpPr>
        <p:spPr>
          <a:xfrm>
            <a:off x="747979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3" name="Shape 210"/>
          <p:cNvSpPr/>
          <p:nvPr/>
        </p:nvSpPr>
        <p:spPr>
          <a:xfrm>
            <a:off x="763524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4" name="Shape 211"/>
          <p:cNvSpPr/>
          <p:nvPr/>
        </p:nvSpPr>
        <p:spPr>
          <a:xfrm>
            <a:off x="779068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15" name="Shape 212"/>
          <p:cNvSpPr/>
          <p:nvPr/>
        </p:nvSpPr>
        <p:spPr>
          <a:xfrm>
            <a:off x="794613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6" name="Shape 213"/>
          <p:cNvSpPr/>
          <p:nvPr/>
        </p:nvSpPr>
        <p:spPr>
          <a:xfrm>
            <a:off x="810158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7" name="Shape 214"/>
          <p:cNvSpPr/>
          <p:nvPr/>
        </p:nvSpPr>
        <p:spPr>
          <a:xfrm>
            <a:off x="825703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8" name="Shape 215"/>
          <p:cNvSpPr/>
          <p:nvPr/>
        </p:nvSpPr>
        <p:spPr>
          <a:xfrm>
            <a:off x="841248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19" name="Shape 216"/>
          <p:cNvSpPr/>
          <p:nvPr/>
        </p:nvSpPr>
        <p:spPr>
          <a:xfrm>
            <a:off x="856792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20" name="Shape 217"/>
          <p:cNvSpPr/>
          <p:nvPr/>
        </p:nvSpPr>
        <p:spPr>
          <a:xfrm>
            <a:off x="872337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1" name="Shape 218"/>
          <p:cNvSpPr/>
          <p:nvPr/>
        </p:nvSpPr>
        <p:spPr>
          <a:xfrm>
            <a:off x="887882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2" name="Shape 219"/>
          <p:cNvSpPr/>
          <p:nvPr/>
        </p:nvSpPr>
        <p:spPr>
          <a:xfrm>
            <a:off x="903427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3" name="Shape 220"/>
          <p:cNvSpPr/>
          <p:nvPr/>
        </p:nvSpPr>
        <p:spPr>
          <a:xfrm>
            <a:off x="918972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4" name="Shape 221"/>
          <p:cNvSpPr/>
          <p:nvPr/>
        </p:nvSpPr>
        <p:spPr>
          <a:xfrm>
            <a:off x="934516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25" name="Shape 222"/>
          <p:cNvSpPr/>
          <p:nvPr/>
        </p:nvSpPr>
        <p:spPr>
          <a:xfrm>
            <a:off x="950061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6" name="Shape 223"/>
          <p:cNvSpPr/>
          <p:nvPr/>
        </p:nvSpPr>
        <p:spPr>
          <a:xfrm>
            <a:off x="965606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7" name="Shape 224"/>
          <p:cNvSpPr/>
          <p:nvPr/>
        </p:nvSpPr>
        <p:spPr>
          <a:xfrm>
            <a:off x="981151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8" name="Shape 225"/>
          <p:cNvSpPr/>
          <p:nvPr/>
        </p:nvSpPr>
        <p:spPr>
          <a:xfrm>
            <a:off x="996696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29" name="Shape 226"/>
          <p:cNvSpPr/>
          <p:nvPr/>
        </p:nvSpPr>
        <p:spPr>
          <a:xfrm>
            <a:off x="10122408" y="3419856"/>
            <a:ext cx="100584" cy="118872"/>
          </a:xfrm>
          <a:prstGeom prst="roundRect">
            <a:avLst>
              <a:gd name="adj" fmla="val 22727"/>
            </a:avLst>
          </a:prstGeom>
          <a:solidFill>
            <a:srgbClr val="B11F4B"/>
          </a:solidFill>
          <a:ln w="12700">
            <a:solidFill>
              <a:srgbClr val="B11F4B">
                <a:alpha val="0"/>
              </a:srgbClr>
            </a:solidFill>
            <a:prstDash val="solid"/>
          </a:ln>
        </p:spPr>
      </p:sp>
      <p:sp>
        <p:nvSpPr>
          <p:cNvPr id="230" name="Shape 227"/>
          <p:cNvSpPr/>
          <p:nvPr/>
        </p:nvSpPr>
        <p:spPr>
          <a:xfrm>
            <a:off x="10277856"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1" name="Shape 228"/>
          <p:cNvSpPr/>
          <p:nvPr/>
        </p:nvSpPr>
        <p:spPr>
          <a:xfrm>
            <a:off x="10433304"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2" name="Shape 229"/>
          <p:cNvSpPr/>
          <p:nvPr/>
        </p:nvSpPr>
        <p:spPr>
          <a:xfrm>
            <a:off x="10588752"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3" name="Shape 230"/>
          <p:cNvSpPr/>
          <p:nvPr/>
        </p:nvSpPr>
        <p:spPr>
          <a:xfrm>
            <a:off x="10744200" y="3419856"/>
            <a:ext cx="100584" cy="118872"/>
          </a:xfrm>
          <a:prstGeom prst="roundRect">
            <a:avLst>
              <a:gd name="adj" fmla="val 22727"/>
            </a:avLst>
          </a:prstGeom>
          <a:solidFill>
            <a:srgbClr val="DEDEDE"/>
          </a:solidFill>
          <a:ln w="12700">
            <a:solidFill>
              <a:srgbClr val="DEDEDE">
                <a:alpha val="0"/>
              </a:srgbClr>
            </a:solidFill>
            <a:prstDash val="solid"/>
          </a:ln>
        </p:spPr>
      </p:sp>
      <p:sp>
        <p:nvSpPr>
          <p:cNvPr id="234" name="Shape 231"/>
          <p:cNvSpPr/>
          <p:nvPr/>
        </p:nvSpPr>
        <p:spPr>
          <a:xfrm>
            <a:off x="701344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35" name="Shape 232"/>
          <p:cNvSpPr/>
          <p:nvPr/>
        </p:nvSpPr>
        <p:spPr>
          <a:xfrm>
            <a:off x="716889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6" name="Shape 233"/>
          <p:cNvSpPr/>
          <p:nvPr/>
        </p:nvSpPr>
        <p:spPr>
          <a:xfrm>
            <a:off x="732434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7" name="Shape 234"/>
          <p:cNvSpPr/>
          <p:nvPr/>
        </p:nvSpPr>
        <p:spPr>
          <a:xfrm>
            <a:off x="747979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8" name="Shape 235"/>
          <p:cNvSpPr/>
          <p:nvPr/>
        </p:nvSpPr>
        <p:spPr>
          <a:xfrm>
            <a:off x="763524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39" name="Shape 236"/>
          <p:cNvSpPr/>
          <p:nvPr/>
        </p:nvSpPr>
        <p:spPr>
          <a:xfrm>
            <a:off x="779068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40" name="Shape 237"/>
          <p:cNvSpPr/>
          <p:nvPr/>
        </p:nvSpPr>
        <p:spPr>
          <a:xfrm>
            <a:off x="794613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1" name="Shape 238"/>
          <p:cNvSpPr/>
          <p:nvPr/>
        </p:nvSpPr>
        <p:spPr>
          <a:xfrm>
            <a:off x="810158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2" name="Shape 239"/>
          <p:cNvSpPr/>
          <p:nvPr/>
        </p:nvSpPr>
        <p:spPr>
          <a:xfrm>
            <a:off x="825703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3" name="Shape 240"/>
          <p:cNvSpPr/>
          <p:nvPr/>
        </p:nvSpPr>
        <p:spPr>
          <a:xfrm>
            <a:off x="841248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4" name="Shape 241"/>
          <p:cNvSpPr/>
          <p:nvPr/>
        </p:nvSpPr>
        <p:spPr>
          <a:xfrm>
            <a:off x="856792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45" name="Shape 242"/>
          <p:cNvSpPr/>
          <p:nvPr/>
        </p:nvSpPr>
        <p:spPr>
          <a:xfrm>
            <a:off x="872337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6" name="Shape 243"/>
          <p:cNvSpPr/>
          <p:nvPr/>
        </p:nvSpPr>
        <p:spPr>
          <a:xfrm>
            <a:off x="887882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7" name="Shape 244"/>
          <p:cNvSpPr/>
          <p:nvPr/>
        </p:nvSpPr>
        <p:spPr>
          <a:xfrm>
            <a:off x="903427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8" name="Shape 245"/>
          <p:cNvSpPr/>
          <p:nvPr/>
        </p:nvSpPr>
        <p:spPr>
          <a:xfrm>
            <a:off x="918972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49" name="Shape 246"/>
          <p:cNvSpPr/>
          <p:nvPr/>
        </p:nvSpPr>
        <p:spPr>
          <a:xfrm>
            <a:off x="934516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50" name="Shape 247"/>
          <p:cNvSpPr/>
          <p:nvPr/>
        </p:nvSpPr>
        <p:spPr>
          <a:xfrm>
            <a:off x="950061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1" name="Shape 248"/>
          <p:cNvSpPr/>
          <p:nvPr/>
        </p:nvSpPr>
        <p:spPr>
          <a:xfrm>
            <a:off x="965606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2" name="Shape 249"/>
          <p:cNvSpPr/>
          <p:nvPr/>
        </p:nvSpPr>
        <p:spPr>
          <a:xfrm>
            <a:off x="981151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3" name="Shape 250"/>
          <p:cNvSpPr/>
          <p:nvPr/>
        </p:nvSpPr>
        <p:spPr>
          <a:xfrm>
            <a:off x="996696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4" name="Shape 251"/>
          <p:cNvSpPr/>
          <p:nvPr/>
        </p:nvSpPr>
        <p:spPr>
          <a:xfrm>
            <a:off x="10122408" y="3607308"/>
            <a:ext cx="100584" cy="118872"/>
          </a:xfrm>
          <a:prstGeom prst="roundRect">
            <a:avLst>
              <a:gd name="adj" fmla="val 22727"/>
            </a:avLst>
          </a:prstGeom>
          <a:solidFill>
            <a:srgbClr val="B11F4B"/>
          </a:solidFill>
          <a:ln w="12700">
            <a:solidFill>
              <a:srgbClr val="B11F4B">
                <a:alpha val="0"/>
              </a:srgbClr>
            </a:solidFill>
            <a:prstDash val="solid"/>
          </a:ln>
        </p:spPr>
      </p:sp>
      <p:sp>
        <p:nvSpPr>
          <p:cNvPr id="255" name="Shape 252"/>
          <p:cNvSpPr/>
          <p:nvPr/>
        </p:nvSpPr>
        <p:spPr>
          <a:xfrm>
            <a:off x="10277856"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6" name="Shape 253"/>
          <p:cNvSpPr/>
          <p:nvPr/>
        </p:nvSpPr>
        <p:spPr>
          <a:xfrm>
            <a:off x="10433304"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7" name="Shape 254"/>
          <p:cNvSpPr/>
          <p:nvPr/>
        </p:nvSpPr>
        <p:spPr>
          <a:xfrm>
            <a:off x="10588752"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8" name="Shape 255"/>
          <p:cNvSpPr/>
          <p:nvPr/>
        </p:nvSpPr>
        <p:spPr>
          <a:xfrm>
            <a:off x="10744200" y="3607308"/>
            <a:ext cx="100584" cy="118872"/>
          </a:xfrm>
          <a:prstGeom prst="roundRect">
            <a:avLst>
              <a:gd name="adj" fmla="val 22727"/>
            </a:avLst>
          </a:prstGeom>
          <a:solidFill>
            <a:srgbClr val="DEDEDE"/>
          </a:solidFill>
          <a:ln w="12700">
            <a:solidFill>
              <a:srgbClr val="DEDEDE">
                <a:alpha val="0"/>
              </a:srgbClr>
            </a:solidFill>
            <a:prstDash val="solid"/>
          </a:ln>
        </p:spPr>
      </p:sp>
      <p:sp>
        <p:nvSpPr>
          <p:cNvPr id="259" name="Text 256"/>
          <p:cNvSpPr/>
          <p:nvPr/>
        </p:nvSpPr>
        <p:spPr>
          <a:xfrm>
            <a:off x="6903720" y="4069080"/>
            <a:ext cx="4443984" cy="1033272"/>
          </a:xfrm>
          <a:prstGeom prst="rect">
            <a:avLst/>
          </a:prstGeom>
          <a:noFill/>
          <a:ln/>
        </p:spPr>
        <p:txBody>
          <a:bodyPr wrap="square" lIns="0" tIns="0" rIns="0" bIns="0" rtlCol="0" anchor="ctr"/>
          <a:lstStyle/>
          <a:p>
            <a:pPr indent="0" marL="0">
              <a:buNone/>
            </a:pPr>
            <a:r>
              <a:rPr lang="en-US" sz="2200" dirty="0">
                <a:solidFill>
                  <a:srgbClr val="5C5C5C"/>
                </a:solidFill>
                <a:latin typeface="Aptos" pitchFamily="34" charset="0"/>
                <a:ea typeface="Aptos" pitchFamily="34" charset="-122"/>
                <a:cs typeface="Aptos" pitchFamily="34" charset="-120"/>
              </a:rPr>
              <a:t>Each dot = 10 attendees.</a:t>
            </a:r>
            <a:endParaRPr lang="en-US" sz="2200" dirty="0"/>
          </a:p>
          <a:p>
            <a:pPr indent="0" marL="0">
              <a:buNone/>
            </a:pPr>
            <a:r>
              <a:rPr lang="en-US" sz="2200" dirty="0">
                <a:solidFill>
                  <a:srgbClr val="5C5C5C"/>
                </a:solidFill>
                <a:latin typeface="Aptos" pitchFamily="34" charset="0"/>
                <a:ea typeface="Aptos" pitchFamily="34" charset="-122"/>
                <a:cs typeface="Aptos" pitchFamily="34" charset="-120"/>
              </a:rPr>
              <a:t>Every fifth attendee retries.</a:t>
            </a:r>
            <a:endParaRPr lang="en-US" sz="2200" dirty="0"/>
          </a:p>
        </p:txBody>
      </p:sp>
      <p:sp>
        <p:nvSpPr>
          <p:cNvPr id="260" name="Text 257"/>
          <p:cNvSpPr/>
          <p:nvPr/>
        </p:nvSpPr>
        <p:spPr>
          <a:xfrm>
            <a:off x="667512" y="5330952"/>
            <a:ext cx="10789920" cy="731520"/>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What happens when the first plan becomes wrong?</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An agent needs a feedback loop.</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S6 · S7 · S18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03</a:t>
            </a:r>
            <a:endParaRPr lang="en-US" sz="1300" dirty="0"/>
          </a:p>
        </p:txBody>
      </p:sp>
      <p:sp>
        <p:nvSpPr>
          <p:cNvPr id="7" name="Shape 4"/>
          <p:cNvSpPr/>
          <p:nvPr/>
        </p:nvSpPr>
        <p:spPr>
          <a:xfrm>
            <a:off x="749808" y="2240280"/>
            <a:ext cx="2103120" cy="987552"/>
          </a:xfrm>
          <a:prstGeom prst="roundRect">
            <a:avLst>
              <a:gd name="adj" fmla="val 9259"/>
            </a:avLst>
          </a:prstGeom>
          <a:solidFill>
            <a:srgbClr val="292929"/>
          </a:solidFill>
          <a:ln w="16510">
            <a:solidFill>
              <a:srgbClr val="5F5F5F"/>
            </a:solidFill>
            <a:prstDash val="solid"/>
          </a:ln>
        </p:spPr>
      </p:sp>
      <p:sp>
        <p:nvSpPr>
          <p:cNvPr id="8" name="Text 5"/>
          <p:cNvSpPr/>
          <p:nvPr/>
        </p:nvSpPr>
        <p:spPr>
          <a:xfrm>
            <a:off x="868680"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Observe</a:t>
            </a:r>
            <a:endParaRPr lang="en-US" sz="2800" dirty="0"/>
          </a:p>
        </p:txBody>
      </p:sp>
      <p:sp>
        <p:nvSpPr>
          <p:cNvPr id="9" name="Shape 6"/>
          <p:cNvSpPr/>
          <p:nvPr/>
        </p:nvSpPr>
        <p:spPr>
          <a:xfrm>
            <a:off x="3602736" y="2240280"/>
            <a:ext cx="2103120" cy="987552"/>
          </a:xfrm>
          <a:prstGeom prst="roundRect">
            <a:avLst>
              <a:gd name="adj" fmla="val 9259"/>
            </a:avLst>
          </a:prstGeom>
          <a:solidFill>
            <a:srgbClr val="292929"/>
          </a:solidFill>
          <a:ln w="16510">
            <a:solidFill>
              <a:srgbClr val="5F5F5F"/>
            </a:solidFill>
            <a:prstDash val="solid"/>
          </a:ln>
        </p:spPr>
      </p:sp>
      <p:sp>
        <p:nvSpPr>
          <p:cNvPr id="10" name="Text 7"/>
          <p:cNvSpPr/>
          <p:nvPr/>
        </p:nvSpPr>
        <p:spPr>
          <a:xfrm>
            <a:off x="3721608"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Reason</a:t>
            </a:r>
            <a:endParaRPr lang="en-US" sz="2800" dirty="0"/>
          </a:p>
        </p:txBody>
      </p:sp>
      <p:sp>
        <p:nvSpPr>
          <p:cNvPr id="11" name="Shape 8"/>
          <p:cNvSpPr/>
          <p:nvPr/>
        </p:nvSpPr>
        <p:spPr>
          <a:xfrm>
            <a:off x="6455664" y="2240280"/>
            <a:ext cx="2103120" cy="987552"/>
          </a:xfrm>
          <a:prstGeom prst="roundRect">
            <a:avLst>
              <a:gd name="adj" fmla="val 9259"/>
            </a:avLst>
          </a:prstGeom>
          <a:solidFill>
            <a:srgbClr val="292929"/>
          </a:solidFill>
          <a:ln w="16510">
            <a:solidFill>
              <a:srgbClr val="5F5F5F"/>
            </a:solidFill>
            <a:prstDash val="solid"/>
          </a:ln>
        </p:spPr>
      </p:sp>
      <p:sp>
        <p:nvSpPr>
          <p:cNvPr id="12" name="Text 9"/>
          <p:cNvSpPr/>
          <p:nvPr/>
        </p:nvSpPr>
        <p:spPr>
          <a:xfrm>
            <a:off x="6574536" y="2331720"/>
            <a:ext cx="1865376" cy="804672"/>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Act</a:t>
            </a:r>
            <a:endParaRPr lang="en-US" sz="2800" dirty="0"/>
          </a:p>
        </p:txBody>
      </p:sp>
      <p:sp>
        <p:nvSpPr>
          <p:cNvPr id="13" name="Shape 10"/>
          <p:cNvSpPr/>
          <p:nvPr/>
        </p:nvSpPr>
        <p:spPr>
          <a:xfrm>
            <a:off x="9308592" y="2240280"/>
            <a:ext cx="2103120" cy="987552"/>
          </a:xfrm>
          <a:prstGeom prst="roundRect">
            <a:avLst>
              <a:gd name="adj" fmla="val 9259"/>
            </a:avLst>
          </a:prstGeom>
          <a:solidFill>
            <a:srgbClr val="FD8EA1"/>
          </a:solidFill>
          <a:ln w="16510">
            <a:solidFill>
              <a:srgbClr val="FD8EA1"/>
            </a:solidFill>
            <a:prstDash val="solid"/>
          </a:ln>
        </p:spPr>
      </p:sp>
      <p:sp>
        <p:nvSpPr>
          <p:cNvPr id="14" name="Text 11"/>
          <p:cNvSpPr/>
          <p:nvPr/>
        </p:nvSpPr>
        <p:spPr>
          <a:xfrm>
            <a:off x="9427464" y="2331720"/>
            <a:ext cx="1865376" cy="804672"/>
          </a:xfrm>
          <a:prstGeom prst="rect">
            <a:avLst/>
          </a:prstGeom>
          <a:noFill/>
          <a:ln/>
        </p:spPr>
        <p:txBody>
          <a:bodyPr wrap="square" lIns="0" tIns="0" rIns="0" bIns="0" rtlCol="0" anchor="ctr"/>
          <a:lstStyle/>
          <a:p>
            <a:pPr algn="ctr" indent="0" marL="0">
              <a:buNone/>
            </a:pPr>
            <a:r>
              <a:rPr lang="en-US" sz="2800" b="1" dirty="0">
                <a:solidFill>
                  <a:srgbClr val="3D3B3A"/>
                </a:solidFill>
                <a:latin typeface="Aptos" pitchFamily="34" charset="0"/>
                <a:ea typeface="Aptos" pitchFamily="34" charset="-122"/>
                <a:cs typeface="Aptos" pitchFamily="34" charset="-120"/>
              </a:rPr>
              <a:t>Verify</a:t>
            </a:r>
            <a:endParaRPr lang="en-US" sz="2800" dirty="0"/>
          </a:p>
        </p:txBody>
      </p:sp>
      <p:sp>
        <p:nvSpPr>
          <p:cNvPr id="15" name="Shape 12"/>
          <p:cNvSpPr/>
          <p:nvPr/>
        </p:nvSpPr>
        <p:spPr>
          <a:xfrm>
            <a:off x="2852928" y="2734056"/>
            <a:ext cx="749808" cy="0"/>
          </a:xfrm>
          <a:prstGeom prst="line">
            <a:avLst/>
          </a:prstGeom>
          <a:noFill/>
          <a:ln w="25400">
            <a:solidFill>
              <a:srgbClr val="FD8EA1"/>
            </a:solidFill>
            <a:prstDash val="solid"/>
            <a:tailEnd type="triangle"/>
          </a:ln>
        </p:spPr>
      </p:sp>
      <p:sp>
        <p:nvSpPr>
          <p:cNvPr id="16" name="Shape 13"/>
          <p:cNvSpPr/>
          <p:nvPr/>
        </p:nvSpPr>
        <p:spPr>
          <a:xfrm>
            <a:off x="5705856" y="2734056"/>
            <a:ext cx="749808" cy="0"/>
          </a:xfrm>
          <a:prstGeom prst="line">
            <a:avLst/>
          </a:prstGeom>
          <a:noFill/>
          <a:ln w="25400">
            <a:solidFill>
              <a:srgbClr val="FD8EA1"/>
            </a:solidFill>
            <a:prstDash val="solid"/>
            <a:tailEnd type="triangle"/>
          </a:ln>
        </p:spPr>
      </p:sp>
      <p:sp>
        <p:nvSpPr>
          <p:cNvPr id="17" name="Shape 14"/>
          <p:cNvSpPr/>
          <p:nvPr/>
        </p:nvSpPr>
        <p:spPr>
          <a:xfrm>
            <a:off x="8558784" y="2734056"/>
            <a:ext cx="749808" cy="0"/>
          </a:xfrm>
          <a:prstGeom prst="line">
            <a:avLst/>
          </a:prstGeom>
          <a:noFill/>
          <a:ln w="25400">
            <a:solidFill>
              <a:srgbClr val="FD8EA1"/>
            </a:solidFill>
            <a:prstDash val="solid"/>
            <a:tailEnd type="triangle"/>
          </a:ln>
        </p:spPr>
      </p:sp>
      <p:sp>
        <p:nvSpPr>
          <p:cNvPr id="18" name="Shape 15"/>
          <p:cNvSpPr/>
          <p:nvPr/>
        </p:nvSpPr>
        <p:spPr>
          <a:xfrm>
            <a:off x="10369296" y="3227832"/>
            <a:ext cx="0" cy="905256"/>
          </a:xfrm>
          <a:prstGeom prst="line">
            <a:avLst/>
          </a:prstGeom>
          <a:noFill/>
          <a:ln w="25400">
            <a:solidFill>
              <a:srgbClr val="FD8EA1"/>
            </a:solidFill>
            <a:prstDash val="solid"/>
            <a:tailEnd type="none"/>
          </a:ln>
        </p:spPr>
      </p:sp>
      <p:sp>
        <p:nvSpPr>
          <p:cNvPr id="19" name="Shape 16"/>
          <p:cNvSpPr/>
          <p:nvPr/>
        </p:nvSpPr>
        <p:spPr>
          <a:xfrm flipH="1">
            <a:off x="1801368" y="4133088"/>
            <a:ext cx="8567928" cy="0"/>
          </a:xfrm>
          <a:prstGeom prst="line">
            <a:avLst/>
          </a:prstGeom>
          <a:noFill/>
          <a:ln w="25400">
            <a:solidFill>
              <a:srgbClr val="FD8EA1"/>
            </a:solidFill>
            <a:prstDash val="solid"/>
            <a:tailEnd type="none"/>
          </a:ln>
        </p:spPr>
      </p:sp>
      <p:sp>
        <p:nvSpPr>
          <p:cNvPr id="20" name="Shape 17"/>
          <p:cNvSpPr/>
          <p:nvPr/>
        </p:nvSpPr>
        <p:spPr>
          <a:xfrm flipV="1">
            <a:off x="1801368" y="3227832"/>
            <a:ext cx="0" cy="905256"/>
          </a:xfrm>
          <a:prstGeom prst="line">
            <a:avLst/>
          </a:prstGeom>
          <a:noFill/>
          <a:ln w="25400">
            <a:solidFill>
              <a:srgbClr val="FD8EA1"/>
            </a:solidFill>
            <a:prstDash val="solid"/>
            <a:tailEnd type="triangle"/>
          </a:ln>
        </p:spPr>
      </p:sp>
      <p:sp>
        <p:nvSpPr>
          <p:cNvPr id="21" name="Text 18"/>
          <p:cNvSpPr/>
          <p:nvPr/>
        </p:nvSpPr>
        <p:spPr>
          <a:xfrm>
            <a:off x="795528" y="4800600"/>
            <a:ext cx="10607040" cy="996696"/>
          </a:xfrm>
          <a:prstGeom prst="rect">
            <a:avLst/>
          </a:prstGeom>
          <a:noFill/>
          <a:ln/>
        </p:spPr>
        <p:txBody>
          <a:bodyPr wrap="square" lIns="0" tIns="0" rIns="0" bIns="0" rtlCol="0" anchor="ctr"/>
          <a:lstStyle/>
          <a:p>
            <a:pPr indent="0" marL="0">
              <a:buNone/>
            </a:pPr>
            <a:r>
              <a:rPr lang="en-US" sz="3100" b="1" dirty="0">
                <a:solidFill>
                  <a:srgbClr val="DEDEDE"/>
                </a:solidFill>
                <a:latin typeface="Aptos" pitchFamily="34" charset="0"/>
                <a:ea typeface="Aptos" pitchFamily="34" charset="-122"/>
                <a:cs typeface="Aptos" pitchFamily="34" charset="-120"/>
              </a:rPr>
              <a:t>Autonomy controls when it stops.</a:t>
            </a:r>
            <a:endParaRPr lang="en-US" sz="3100" dirty="0"/>
          </a:p>
          <a:p>
            <a:pPr indent="0" marL="0">
              <a:buNone/>
            </a:pPr>
            <a:r>
              <a:rPr lang="en-US" sz="3100" b="1" dirty="0">
                <a:solidFill>
                  <a:srgbClr val="DEDEDE"/>
                </a:solidFill>
                <a:latin typeface="Aptos" pitchFamily="34" charset="0"/>
                <a:ea typeface="Aptos" pitchFamily="34" charset="-122"/>
                <a:cs typeface="Aptos" pitchFamily="34" charset="-120"/>
              </a:rPr>
              <a:t>Verification determines whether it worked.</a:t>
            </a:r>
            <a:endParaRPr lang="en-US" sz="3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Three controls.</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Three different jobs.</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S6 · S7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04</a:t>
            </a:r>
            <a:endParaRPr lang="en-US" sz="1300" dirty="0"/>
          </a:p>
        </p:txBody>
      </p:sp>
      <p:sp>
        <p:nvSpPr>
          <p:cNvPr id="7" name="Shape 4"/>
          <p:cNvSpPr/>
          <p:nvPr/>
        </p:nvSpPr>
        <p:spPr>
          <a:xfrm>
            <a:off x="621792" y="2048256"/>
            <a:ext cx="3493008" cy="2926080"/>
          </a:xfrm>
          <a:prstGeom prst="roundRect">
            <a:avLst>
              <a:gd name="adj" fmla="val 3750"/>
            </a:avLst>
          </a:prstGeom>
          <a:solidFill>
            <a:srgbClr val="FFFFFF"/>
          </a:solidFill>
          <a:ln w="12700">
            <a:solidFill>
              <a:srgbClr val="DEDEDE"/>
            </a:solidFill>
            <a:prstDash val="solid"/>
          </a:ln>
        </p:spPr>
      </p:sp>
      <p:sp>
        <p:nvSpPr>
          <p:cNvPr id="8" name="Text 5"/>
          <p:cNvSpPr/>
          <p:nvPr/>
        </p:nvSpPr>
        <p:spPr>
          <a:xfrm>
            <a:off x="822960" y="2249424"/>
            <a:ext cx="3090672" cy="603504"/>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Autopilot</a:t>
            </a:r>
            <a:endParaRPr lang="en-US" sz="3100" dirty="0"/>
          </a:p>
        </p:txBody>
      </p:sp>
      <p:sp>
        <p:nvSpPr>
          <p:cNvPr id="9" name="Text 6"/>
          <p:cNvSpPr/>
          <p:nvPr/>
        </p:nvSpPr>
        <p:spPr>
          <a:xfrm>
            <a:off x="822960"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Keep working.</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The agent continues toward the goal.</a:t>
            </a:r>
            <a:endParaRPr lang="en-US" sz="2100" dirty="0"/>
          </a:p>
        </p:txBody>
      </p:sp>
      <p:sp>
        <p:nvSpPr>
          <p:cNvPr id="10" name="Shape 7"/>
          <p:cNvSpPr/>
          <p:nvPr/>
        </p:nvSpPr>
        <p:spPr>
          <a:xfrm>
            <a:off x="4343400" y="2048256"/>
            <a:ext cx="3493008" cy="2926080"/>
          </a:xfrm>
          <a:prstGeom prst="roundRect">
            <a:avLst>
              <a:gd name="adj" fmla="val 3750"/>
            </a:avLst>
          </a:prstGeom>
          <a:solidFill>
            <a:srgbClr val="FFFFFF"/>
          </a:solidFill>
          <a:ln w="12700">
            <a:solidFill>
              <a:srgbClr val="DEDEDE"/>
            </a:solidFill>
            <a:prstDash val="solid"/>
          </a:ln>
        </p:spPr>
      </p:sp>
      <p:sp>
        <p:nvSpPr>
          <p:cNvPr id="11" name="Text 8"/>
          <p:cNvSpPr/>
          <p:nvPr/>
        </p:nvSpPr>
        <p:spPr>
          <a:xfrm>
            <a:off x="4544568" y="2249424"/>
            <a:ext cx="3090672" cy="603504"/>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/fleet</a:t>
            </a:r>
            <a:endParaRPr lang="en-US" sz="3100" dirty="0"/>
          </a:p>
        </p:txBody>
      </p:sp>
      <p:sp>
        <p:nvSpPr>
          <p:cNvPr id="12" name="Text 9"/>
          <p:cNvSpPr/>
          <p:nvPr/>
        </p:nvSpPr>
        <p:spPr>
          <a:xfrm>
            <a:off x="4544568"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Delegate the work.</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Copilot chooses the decomposition.</a:t>
            </a:r>
            <a:endParaRPr lang="en-US" sz="2100" dirty="0"/>
          </a:p>
        </p:txBody>
      </p:sp>
      <p:sp>
        <p:nvSpPr>
          <p:cNvPr id="13" name="Shape 10"/>
          <p:cNvSpPr/>
          <p:nvPr/>
        </p:nvSpPr>
        <p:spPr>
          <a:xfrm>
            <a:off x="8065008" y="2048256"/>
            <a:ext cx="3493008" cy="2926080"/>
          </a:xfrm>
          <a:prstGeom prst="roundRect">
            <a:avLst>
              <a:gd name="adj" fmla="val 3750"/>
            </a:avLst>
          </a:prstGeom>
          <a:solidFill>
            <a:srgbClr val="FFFFFF"/>
          </a:solidFill>
          <a:ln w="25400">
            <a:solidFill>
              <a:srgbClr val="B11F4B"/>
            </a:solidFill>
            <a:prstDash val="solid"/>
          </a:ln>
        </p:spPr>
      </p:sp>
      <p:sp>
        <p:nvSpPr>
          <p:cNvPr id="14" name="Text 11"/>
          <p:cNvSpPr/>
          <p:nvPr/>
        </p:nvSpPr>
        <p:spPr>
          <a:xfrm>
            <a:off x="8266176" y="2249424"/>
            <a:ext cx="3090672" cy="603504"/>
          </a:xfrm>
          <a:prstGeom prst="rect">
            <a:avLst/>
          </a:prstGeom>
          <a:noFill/>
          <a:ln/>
        </p:spPr>
        <p:txBody>
          <a:bodyPr wrap="square" lIns="0" tIns="0" rIns="0" bIns="0" rtlCol="0" anchor="ctr"/>
          <a:lstStyle/>
          <a:p>
            <a:pPr indent="0" marL="0">
              <a:buNone/>
            </a:pPr>
            <a:r>
              <a:rPr lang="en-US" sz="2800" b="1" dirty="0">
                <a:solidFill>
                  <a:srgbClr val="242424"/>
                </a:solidFill>
                <a:latin typeface="Aptos" pitchFamily="34" charset="0"/>
                <a:ea typeface="Aptos" pitchFamily="34" charset="-122"/>
                <a:cs typeface="Aptos" pitchFamily="34" charset="-120"/>
              </a:rPr>
              <a:t>Dynamic workflow</a:t>
            </a:r>
            <a:endParaRPr lang="en-US" sz="2800" dirty="0"/>
          </a:p>
        </p:txBody>
      </p:sp>
      <p:sp>
        <p:nvSpPr>
          <p:cNvPr id="15" name="Text 12"/>
          <p:cNvSpPr/>
          <p:nvPr/>
        </p:nvSpPr>
        <p:spPr>
          <a:xfrm>
            <a:off x="8266176" y="2980944"/>
            <a:ext cx="3090672" cy="182880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Define the process.</a:t>
            </a:r>
            <a:endParaRPr lang="en-US" sz="2100" dirty="0"/>
          </a:p>
          <a:p>
            <a:pPr indent="0" marL="0">
              <a:buNone/>
            </a:pP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Code owns the stages, branches, and handoffs.</a:t>
            </a:r>
            <a:endParaRPr lang="en-US" sz="2100" dirty="0"/>
          </a:p>
        </p:txBody>
      </p:sp>
      <p:sp>
        <p:nvSpPr>
          <p:cNvPr id="16" name="Text 13"/>
          <p:cNvSpPr/>
          <p:nvPr/>
        </p:nvSpPr>
        <p:spPr>
          <a:xfrm>
            <a:off x="786384" y="5422392"/>
            <a:ext cx="10744200" cy="576072"/>
          </a:xfrm>
          <a:prstGeom prst="rect">
            <a:avLst/>
          </a:prstGeom>
          <a:noFill/>
          <a:ln/>
        </p:spPr>
        <p:txBody>
          <a:bodyPr wrap="square" lIns="0" tIns="0" rIns="0" bIns="0" rtlCol="0" anchor="ctr"/>
          <a:lstStyle/>
          <a:p>
            <a:pPr indent="0" marL="0">
              <a:buNone/>
            </a:pPr>
            <a:r>
              <a:rPr lang="en-US" sz="3000" b="1" dirty="0">
                <a:solidFill>
                  <a:srgbClr val="B11F4B"/>
                </a:solidFill>
                <a:latin typeface="Aptos" pitchFamily="34" charset="0"/>
                <a:ea typeface="Aptos" pitchFamily="34" charset="-122"/>
                <a:cs typeface="Aptos" pitchFamily="34" charset="-120"/>
              </a:rPr>
              <a:t>Autonomy  ≠  parallelism  ≠  a reusable process</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Same word. Different runtimes.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S13 · S14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05</a:t>
            </a:r>
            <a:endParaRPr lang="en-US" sz="1300" dirty="0"/>
          </a:p>
        </p:txBody>
      </p:sp>
      <p:sp>
        <p:nvSpPr>
          <p:cNvPr id="7" name="Text 4"/>
          <p:cNvSpPr/>
          <p:nvPr/>
        </p:nvSpPr>
        <p:spPr>
          <a:xfrm>
            <a:off x="685800" y="1700784"/>
            <a:ext cx="5175504" cy="658368"/>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Copilot dynamic workflows</a:t>
            </a:r>
            <a:endParaRPr lang="en-US" sz="2900" dirty="0"/>
          </a:p>
        </p:txBody>
      </p:sp>
      <p:sp>
        <p:nvSpPr>
          <p:cNvPr id="8" name="Text 5"/>
          <p:cNvSpPr/>
          <p:nvPr/>
        </p:nvSpPr>
        <p:spPr>
          <a:xfrm>
            <a:off x="6419088" y="1700784"/>
            <a:ext cx="5084064" cy="658368"/>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GitHub Agentic Workflows</a:t>
            </a:r>
            <a:endParaRPr lang="en-US" sz="2900" dirty="0"/>
          </a:p>
        </p:txBody>
      </p:sp>
      <p:sp>
        <p:nvSpPr>
          <p:cNvPr id="9" name="Shape 6"/>
          <p:cNvSpPr/>
          <p:nvPr/>
        </p:nvSpPr>
        <p:spPr>
          <a:xfrm>
            <a:off x="6007608" y="1737360"/>
            <a:ext cx="16459" cy="3977640"/>
          </a:xfrm>
          <a:prstGeom prst="rect">
            <a:avLst/>
          </a:prstGeom>
          <a:solidFill>
            <a:srgbClr val="5F5F5F"/>
          </a:solidFill>
          <a:ln w="12700">
            <a:solidFill>
              <a:srgbClr val="5F5F5F">
                <a:alpha val="0"/>
              </a:srgbClr>
            </a:solidFill>
            <a:prstDash val="solid"/>
          </a:ln>
        </p:spPr>
      </p:sp>
      <p:sp>
        <p:nvSpPr>
          <p:cNvPr id="10" name="Shape 7"/>
          <p:cNvSpPr/>
          <p:nvPr/>
        </p:nvSpPr>
        <p:spPr>
          <a:xfrm>
            <a:off x="804672" y="2715768"/>
            <a:ext cx="4709160" cy="960120"/>
          </a:xfrm>
          <a:prstGeom prst="roundRect">
            <a:avLst>
              <a:gd name="adj" fmla="val 9524"/>
            </a:avLst>
          </a:prstGeom>
          <a:solidFill>
            <a:srgbClr val="FD8EA1"/>
          </a:solidFill>
          <a:ln w="16510">
            <a:solidFill>
              <a:srgbClr val="FD8EA1"/>
            </a:solidFill>
            <a:prstDash val="solid"/>
          </a:ln>
        </p:spPr>
      </p:sp>
      <p:sp>
        <p:nvSpPr>
          <p:cNvPr id="11" name="Text 8"/>
          <p:cNvSpPr/>
          <p:nvPr/>
        </p:nvSpPr>
        <p:spPr>
          <a:xfrm>
            <a:off x="923544" y="2807208"/>
            <a:ext cx="4471416" cy="777240"/>
          </a:xfrm>
          <a:prstGeom prst="rect">
            <a:avLst/>
          </a:prstGeom>
          <a:noFill/>
          <a:ln/>
        </p:spPr>
        <p:txBody>
          <a:bodyPr wrap="square" lIns="0" tIns="0" rIns="0" bIns="0" rtlCol="0" anchor="ctr"/>
          <a:lstStyle/>
          <a:p>
            <a:pPr algn="ctr" indent="0" marL="0">
              <a:buNone/>
            </a:pPr>
            <a:r>
              <a:rPr lang="en-US" sz="2800" b="1" dirty="0">
                <a:solidFill>
                  <a:srgbClr val="3D3B3A"/>
                </a:solidFill>
                <a:latin typeface="Aptos" pitchFamily="34" charset="0"/>
                <a:ea typeface="Aptos" pitchFamily="34" charset="-122"/>
                <a:cs typeface="Aptos" pitchFamily="34" charset="-120"/>
              </a:rPr>
              <a:t>Extension program</a:t>
            </a:r>
            <a:endParaRPr lang="en-US" sz="2800" dirty="0"/>
          </a:p>
        </p:txBody>
      </p:sp>
      <p:sp>
        <p:nvSpPr>
          <p:cNvPr id="12" name="Shape 9"/>
          <p:cNvSpPr/>
          <p:nvPr/>
        </p:nvSpPr>
        <p:spPr>
          <a:xfrm>
            <a:off x="6528816" y="2715768"/>
            <a:ext cx="4709160" cy="960120"/>
          </a:xfrm>
          <a:prstGeom prst="roundRect">
            <a:avLst>
              <a:gd name="adj" fmla="val 9524"/>
            </a:avLst>
          </a:prstGeom>
          <a:solidFill>
            <a:srgbClr val="292929"/>
          </a:solidFill>
          <a:ln w="16510">
            <a:solidFill>
              <a:srgbClr val="5F5F5F"/>
            </a:solidFill>
            <a:prstDash val="solid"/>
          </a:ln>
        </p:spPr>
      </p:sp>
      <p:sp>
        <p:nvSpPr>
          <p:cNvPr id="13" name="Text 10"/>
          <p:cNvSpPr/>
          <p:nvPr/>
        </p:nvSpPr>
        <p:spPr>
          <a:xfrm>
            <a:off x="6647688" y="2807208"/>
            <a:ext cx="4471416" cy="777240"/>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Markdown + frontmatter</a:t>
            </a:r>
            <a:endParaRPr lang="en-US" sz="2700" dirty="0"/>
          </a:p>
        </p:txBody>
      </p:sp>
      <p:sp>
        <p:nvSpPr>
          <p:cNvPr id="14" name="Text 11"/>
          <p:cNvSpPr/>
          <p:nvPr/>
        </p:nvSpPr>
        <p:spPr>
          <a:xfrm>
            <a:off x="896112" y="4087368"/>
            <a:ext cx="4663440" cy="1435608"/>
          </a:xfrm>
          <a:prstGeom prst="rect">
            <a:avLst/>
          </a:prstGeom>
          <a:noFill/>
          <a:ln/>
        </p:spPr>
        <p:txBody>
          <a:bodyPr wrap="square" lIns="0" tIns="0" rIns="0" bIns="0" rtlCol="0" anchor="t"/>
          <a:lstStyle/>
          <a:p>
            <a:pPr indent="0" marL="0">
              <a:buNone/>
            </a:pPr>
            <a:r>
              <a:rPr lang="en-US" sz="2400" dirty="0">
                <a:solidFill>
                  <a:srgbClr val="DEDEDE"/>
                </a:solidFill>
                <a:latin typeface="Aptos" pitchFamily="34" charset="0"/>
                <a:ea typeface="Aptos" pitchFamily="34" charset="-122"/>
                <a:cs typeface="Aptos" pitchFamily="34" charset="-120"/>
              </a:rPr>
              <a:t>CLI · app · SDK</a:t>
            </a:r>
            <a:endParaRPr lang="en-US" sz="2400" dirty="0"/>
          </a:p>
          <a:p>
            <a:pPr indent="0" marL="0">
              <a:buNone/>
            </a:pPr>
            <a:r>
              <a:rPr lang="en-US" sz="2400" dirty="0">
                <a:solidFill>
                  <a:srgbClr val="DEDEDE"/>
                </a:solidFill>
                <a:latin typeface="Aptos" pitchFamily="34" charset="0"/>
                <a:ea typeface="Aptos" pitchFamily="34" charset="-122"/>
                <a:cs typeface="Aptos" pitchFamily="34" charset="-120"/>
              </a:rPr>
              <a:t>Steps, agents, checkpoints, resume</a:t>
            </a:r>
            <a:endParaRPr lang="en-US" sz="2400" dirty="0"/>
          </a:p>
        </p:txBody>
      </p:sp>
      <p:sp>
        <p:nvSpPr>
          <p:cNvPr id="15" name="Text 12"/>
          <p:cNvSpPr/>
          <p:nvPr/>
        </p:nvSpPr>
        <p:spPr>
          <a:xfrm>
            <a:off x="6611112" y="4087368"/>
            <a:ext cx="4663440" cy="1435608"/>
          </a:xfrm>
          <a:prstGeom prst="rect">
            <a:avLst/>
          </a:prstGeom>
          <a:noFill/>
          <a:ln/>
        </p:spPr>
        <p:txBody>
          <a:bodyPr wrap="square" lIns="0" tIns="0" rIns="0" bIns="0" rtlCol="0" anchor="t"/>
          <a:lstStyle/>
          <a:p>
            <a:pPr indent="0" marL="0">
              <a:buNone/>
            </a:pPr>
            <a:r>
              <a:rPr lang="en-US" sz="2400" dirty="0">
                <a:solidFill>
                  <a:srgbClr val="DEDEDE"/>
                </a:solidFill>
                <a:latin typeface="Aptos" pitchFamily="34" charset="0"/>
                <a:ea typeface="Aptos" pitchFamily="34" charset="-122"/>
                <a:cs typeface="Aptos" pitchFamily="34" charset="-120"/>
              </a:rPr>
              <a:t>Compile → GitHub Actions</a:t>
            </a:r>
            <a:endParaRPr lang="en-US" sz="2400" dirty="0"/>
          </a:p>
          <a:p>
            <a:pPr indent="0" marL="0">
              <a:buNone/>
            </a:pPr>
            <a:r>
              <a:rPr lang="en-US" sz="2400" dirty="0">
                <a:solidFill>
                  <a:srgbClr val="DEDEDE"/>
                </a:solidFill>
                <a:latin typeface="Aptos" pitchFamily="34" charset="0"/>
                <a:ea typeface="Aptos" pitchFamily="34" charset="-122"/>
                <a:cs typeface="Aptos" pitchFamily="34" charset="-120"/>
              </a:rPr>
              <a:t>Triggers, runner jobs, safe outputs</a:t>
            </a:r>
            <a:endParaRPr lang="en-US" sz="2400" dirty="0"/>
          </a:p>
        </p:txBody>
      </p:sp>
      <p:sp>
        <p:nvSpPr>
          <p:cNvPr id="16" name="Shape 13"/>
          <p:cNvSpPr/>
          <p:nvPr/>
        </p:nvSpPr>
        <p:spPr>
          <a:xfrm>
            <a:off x="896112" y="5760720"/>
            <a:ext cx="1600200" cy="384048"/>
          </a:xfrm>
          <a:prstGeom prst="roundRect">
            <a:avLst/>
          </a:prstGeom>
          <a:solidFill>
            <a:srgbClr val="FD8EA1"/>
          </a:solidFill>
          <a:ln w="12700">
            <a:solidFill>
              <a:srgbClr val="FD8EA1">
                <a:alpha val="0"/>
              </a:srgbClr>
            </a:solidFill>
            <a:prstDash val="solid"/>
          </a:ln>
        </p:spPr>
      </p:sp>
      <p:sp>
        <p:nvSpPr>
          <p:cNvPr id="17" name="Text 14"/>
          <p:cNvSpPr/>
          <p:nvPr/>
        </p:nvSpPr>
        <p:spPr>
          <a:xfrm>
            <a:off x="1014984" y="5806440"/>
            <a:ext cx="1362456" cy="274320"/>
          </a:xfrm>
          <a:prstGeom prst="rect">
            <a:avLst/>
          </a:prstGeom>
          <a:noFill/>
          <a:ln/>
        </p:spPr>
        <p:txBody>
          <a:bodyPr wrap="square" lIns="0" tIns="0" rIns="0" bIns="0" rtlCol="0" anchor="ctr"/>
          <a:lstStyle/>
          <a:p>
            <a:pPr algn="ctr" indent="0" marL="0">
              <a:buNone/>
            </a:pPr>
            <a:r>
              <a:rPr lang="en-US" sz="1600" b="1" dirty="0">
                <a:solidFill>
                  <a:srgbClr val="3D3B3A"/>
                </a:solidFill>
                <a:latin typeface="Aptos" pitchFamily="34" charset="0"/>
                <a:ea typeface="Aptos" pitchFamily="34" charset="-122"/>
                <a:cs typeface="Aptos" pitchFamily="34" charset="-120"/>
              </a:rPr>
              <a:t>THIS DEMO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Two features.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One controlled process.</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06</a:t>
            </a:r>
            <a:endParaRPr lang="en-US" sz="1300" dirty="0"/>
          </a:p>
        </p:txBody>
      </p:sp>
      <p:sp>
        <p:nvSpPr>
          <p:cNvPr id="7" name="Shape 4"/>
          <p:cNvSpPr/>
          <p:nvPr/>
        </p:nvSpPr>
        <p:spPr>
          <a:xfrm>
            <a:off x="694944" y="2084832"/>
            <a:ext cx="5303520" cy="2944368"/>
          </a:xfrm>
          <a:prstGeom prst="roundRect">
            <a:avLst>
              <a:gd name="adj" fmla="val 3727"/>
            </a:avLst>
          </a:prstGeom>
          <a:solidFill>
            <a:srgbClr val="292929"/>
          </a:solidFill>
          <a:ln w="12700">
            <a:solidFill>
              <a:srgbClr val="5F5F5F"/>
            </a:solidFill>
            <a:prstDash val="solid"/>
          </a:ln>
        </p:spPr>
      </p:sp>
      <p:sp>
        <p:nvSpPr>
          <p:cNvPr id="8" name="Text 5"/>
          <p:cNvSpPr/>
          <p:nvPr/>
        </p:nvSpPr>
        <p:spPr>
          <a:xfrm>
            <a:off x="896112" y="2286000"/>
            <a:ext cx="4901184" cy="603504"/>
          </a:xfrm>
          <a:prstGeom prst="rect">
            <a:avLst/>
          </a:prstGeom>
          <a:noFill/>
          <a:ln/>
        </p:spPr>
        <p:txBody>
          <a:bodyPr wrap="square" lIns="0" tIns="0" rIns="0" bIns="0" rtlCol="0" anchor="ctr"/>
          <a:lstStyle/>
          <a:p>
            <a:pPr indent="0" marL="0">
              <a:buNone/>
            </a:pPr>
            <a:r>
              <a:rPr lang="en-US" sz="3000" b="1" dirty="0">
                <a:solidFill>
                  <a:srgbClr val="DEDEDE"/>
                </a:solidFill>
                <a:latin typeface="Aptos" pitchFamily="34" charset="0"/>
                <a:ea typeface="Aptos" pitchFamily="34" charset="-122"/>
                <a:cs typeface="Aptos" pitchFamily="34" charset="-120"/>
              </a:rPr>
              <a:t>Dynamic Workflow</a:t>
            </a:r>
            <a:endParaRPr lang="en-US" sz="3000" dirty="0"/>
          </a:p>
        </p:txBody>
      </p:sp>
      <p:sp>
        <p:nvSpPr>
          <p:cNvPr id="9" name="Text 6"/>
          <p:cNvSpPr/>
          <p:nvPr/>
        </p:nvSpPr>
        <p:spPr>
          <a:xfrm>
            <a:off x="896112" y="3017520"/>
            <a:ext cx="4901184" cy="1847088"/>
          </a:xfrm>
          <a:prstGeom prst="rect">
            <a:avLst/>
          </a:prstGeom>
          <a:noFill/>
          <a:ln/>
        </p:spPr>
        <p:txBody>
          <a:bodyPr wrap="square" lIns="0" tIns="0" rIns="0" bIns="0" rtlCol="0" anchor="t"/>
          <a:lstStyle/>
          <a:p>
            <a:pPr indent="0" marL="0">
              <a:buNone/>
            </a:pPr>
            <a:r>
              <a:rPr lang="en-US" sz="2600" dirty="0">
                <a:solidFill>
                  <a:srgbClr val="B0B0B0"/>
                </a:solidFill>
                <a:latin typeface="Aptos" pitchFamily="34" charset="0"/>
                <a:ea typeface="Aptos" pitchFamily="34" charset="-122"/>
                <a:cs typeface="Aptos" pitchFamily="34" charset="-120"/>
              </a:rPr>
              <a:t>Code picks specialists.</a:t>
            </a:r>
            <a:endParaRPr lang="en-US" sz="2600" dirty="0"/>
          </a:p>
          <a:p>
            <a:pPr indent="0" marL="0">
              <a:buNone/>
            </a:pPr>
            <a:r>
              <a:rPr lang="en-US" sz="2600" dirty="0">
                <a:solidFill>
                  <a:srgbClr val="B0B0B0"/>
                </a:solidFill>
                <a:latin typeface="Aptos" pitchFamily="34" charset="0"/>
                <a:ea typeface="Aptos" pitchFamily="34" charset="-122"/>
                <a:cs typeface="Aptos" pitchFamily="34" charset="-120"/>
              </a:rPr>
              <a:t>Code branches on failed checks.</a:t>
            </a:r>
            <a:endParaRPr lang="en-US" sz="2600" dirty="0"/>
          </a:p>
          <a:p>
            <a:pPr indent="0" marL="0">
              <a:buNone/>
            </a:pPr>
            <a:r>
              <a:rPr lang="en-US" sz="2600" dirty="0">
                <a:solidFill>
                  <a:srgbClr val="B0B0B0"/>
                </a:solidFill>
                <a:latin typeface="Aptos" pitchFamily="34" charset="0"/>
                <a:ea typeface="Aptos" pitchFamily="34" charset="-122"/>
                <a:cs typeface="Aptos" pitchFamily="34" charset="-120"/>
              </a:rPr>
              <a:t>Code saves and pauses.</a:t>
            </a:r>
            <a:endParaRPr lang="en-US" sz="2600" dirty="0"/>
          </a:p>
        </p:txBody>
      </p:sp>
      <p:sp>
        <p:nvSpPr>
          <p:cNvPr id="10" name="Shape 7"/>
          <p:cNvSpPr/>
          <p:nvPr/>
        </p:nvSpPr>
        <p:spPr>
          <a:xfrm>
            <a:off x="6217920" y="2084832"/>
            <a:ext cx="5303520" cy="2944368"/>
          </a:xfrm>
          <a:prstGeom prst="roundRect">
            <a:avLst>
              <a:gd name="adj" fmla="val 3727"/>
            </a:avLst>
          </a:prstGeom>
          <a:solidFill>
            <a:srgbClr val="292929"/>
          </a:solidFill>
          <a:ln w="25400">
            <a:solidFill>
              <a:srgbClr val="FD8EA1"/>
            </a:solidFill>
            <a:prstDash val="solid"/>
          </a:ln>
        </p:spPr>
      </p:sp>
      <p:sp>
        <p:nvSpPr>
          <p:cNvPr id="11" name="Text 8"/>
          <p:cNvSpPr/>
          <p:nvPr/>
        </p:nvSpPr>
        <p:spPr>
          <a:xfrm>
            <a:off x="6419088" y="2286000"/>
            <a:ext cx="4901184" cy="603504"/>
          </a:xfrm>
          <a:prstGeom prst="rect">
            <a:avLst/>
          </a:prstGeom>
          <a:noFill/>
          <a:ln/>
        </p:spPr>
        <p:txBody>
          <a:bodyPr wrap="square" lIns="0" tIns="0" rIns="0" bIns="0" rtlCol="0" anchor="ctr"/>
          <a:lstStyle/>
          <a:p>
            <a:pPr indent="0" marL="0">
              <a:buNone/>
            </a:pPr>
            <a:r>
              <a:rPr lang="en-US" sz="3000" b="1" dirty="0">
                <a:solidFill>
                  <a:srgbClr val="DEDEDE"/>
                </a:solidFill>
                <a:latin typeface="Aptos" pitchFamily="34" charset="0"/>
                <a:ea typeface="Aptos" pitchFamily="34" charset="-122"/>
                <a:cs typeface="Aptos" pitchFamily="34" charset="-120"/>
              </a:rPr>
              <a:t>Agentic Workflow</a:t>
            </a:r>
            <a:endParaRPr lang="en-US" sz="3000" dirty="0"/>
          </a:p>
        </p:txBody>
      </p:sp>
      <p:sp>
        <p:nvSpPr>
          <p:cNvPr id="12" name="Text 9"/>
          <p:cNvSpPr/>
          <p:nvPr/>
        </p:nvSpPr>
        <p:spPr>
          <a:xfrm>
            <a:off x="6419088" y="3017520"/>
            <a:ext cx="4901184" cy="1847088"/>
          </a:xfrm>
          <a:prstGeom prst="rect">
            <a:avLst/>
          </a:prstGeom>
          <a:noFill/>
          <a:ln/>
        </p:spPr>
        <p:txBody>
          <a:bodyPr wrap="square" lIns="0" tIns="0" rIns="0" bIns="0" rtlCol="0" anchor="t"/>
          <a:lstStyle/>
          <a:p>
            <a:pPr indent="0" marL="0">
              <a:buNone/>
            </a:pPr>
            <a:r>
              <a:rPr lang="en-US" sz="2600" dirty="0">
                <a:solidFill>
                  <a:srgbClr val="B0B0B0"/>
                </a:solidFill>
                <a:latin typeface="Aptos" pitchFamily="34" charset="0"/>
                <a:ea typeface="Aptos" pitchFamily="34" charset="-122"/>
                <a:cs typeface="Aptos" pitchFamily="34" charset="-120"/>
              </a:rPr>
              <a:t>Model interprets evidence.</a:t>
            </a:r>
            <a:endParaRPr lang="en-US" sz="2600" dirty="0"/>
          </a:p>
          <a:p>
            <a:pPr indent="0" marL="0">
              <a:buNone/>
            </a:pPr>
            <a:r>
              <a:rPr lang="en-US" sz="2600" dirty="0">
                <a:solidFill>
                  <a:srgbClr val="B0B0B0"/>
                </a:solidFill>
                <a:latin typeface="Aptos" pitchFamily="34" charset="0"/>
                <a:ea typeface="Aptos" pitchFamily="34" charset="-122"/>
                <a:cs typeface="Aptos" pitchFamily="34" charset="-120"/>
              </a:rPr>
              <a:t>Model explains or rejects.</a:t>
            </a:r>
            <a:endParaRPr lang="en-US" sz="2600" dirty="0"/>
          </a:p>
          <a:p>
            <a:pPr indent="0" marL="0">
              <a:buNone/>
            </a:pPr>
            <a:r>
              <a:rPr lang="en-US" sz="2600" dirty="0">
                <a:solidFill>
                  <a:srgbClr val="B0B0B0"/>
                </a:solidFill>
                <a:latin typeface="Aptos" pitchFamily="34" charset="0"/>
                <a:ea typeface="Aptos" pitchFamily="34" charset="-122"/>
                <a:cs typeface="Aptos" pitchFamily="34" charset="-120"/>
              </a:rPr>
              <a:t>Model never rewrites code.</a:t>
            </a:r>
            <a:endParaRPr lang="en-US" sz="2600" dirty="0"/>
          </a:p>
        </p:txBody>
      </p:sp>
      <p:sp>
        <p:nvSpPr>
          <p:cNvPr id="13" name="Text 10"/>
          <p:cNvSpPr/>
          <p:nvPr/>
        </p:nvSpPr>
        <p:spPr>
          <a:xfrm>
            <a:off x="877824" y="5513832"/>
            <a:ext cx="10469880" cy="603504"/>
          </a:xfrm>
          <a:prstGeom prst="rect">
            <a:avLst/>
          </a:prstGeom>
          <a:noFill/>
          <a:ln/>
        </p:spPr>
        <p:txBody>
          <a:bodyPr wrap="square" lIns="0" tIns="0" rIns="0" bIns="0" rtlCol="0" anchor="ctr"/>
          <a:lstStyle/>
          <a:p>
            <a:pPr indent="0" marL="0">
              <a:buNone/>
            </a:pPr>
            <a:r>
              <a:rPr lang="en-US" sz="3000" b="1" dirty="0">
                <a:solidFill>
                  <a:srgbClr val="FD8EA1"/>
                </a:solidFill>
                <a:latin typeface="Aptos" pitchFamily="34" charset="0"/>
                <a:ea typeface="Aptos" pitchFamily="34" charset="-122"/>
                <a:cs typeface="Aptos" pitchFamily="34" charset="-120"/>
              </a:rPr>
              <a:t>Code owns the process. Models handle judgment.</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242424"/>
                </a:solidFill>
                <a:latin typeface="Aptos Display" pitchFamily="34" charset="0"/>
                <a:ea typeface="Aptos Display" pitchFamily="34" charset="-122"/>
                <a:cs typeface="Aptos Display" pitchFamily="34" charset="-120"/>
              </a:rPr>
              <a:t>Specialists need contracts,</a:t>
            </a:r>
            <a:endParaRPr lang="en-US" sz="4200" dirty="0"/>
          </a:p>
          <a:p>
            <a:pPr indent="0" marL="0">
              <a:buNone/>
            </a:pPr>
            <a:r>
              <a:rPr lang="en-US" sz="4200" b="1" dirty="0">
                <a:solidFill>
                  <a:srgbClr val="242424"/>
                </a:solidFill>
                <a:latin typeface="Aptos Display" pitchFamily="34" charset="0"/>
                <a:ea typeface="Aptos Display" pitchFamily="34" charset="-122"/>
                <a:cs typeface="Aptos Display" pitchFamily="34" charset="-120"/>
              </a:rPr>
              <a:t>not just job titles.</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S3 · S9 · S10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07</a:t>
            </a:r>
            <a:endParaRPr lang="en-US" sz="1300" dirty="0"/>
          </a:p>
        </p:txBody>
      </p:sp>
      <p:sp>
        <p:nvSpPr>
          <p:cNvPr id="7" name="Shape 4"/>
          <p:cNvSpPr/>
          <p:nvPr/>
        </p:nvSpPr>
        <p:spPr>
          <a:xfrm>
            <a:off x="640080" y="2048256"/>
            <a:ext cx="5321808" cy="3429000"/>
          </a:xfrm>
          <a:prstGeom prst="roundRect">
            <a:avLst>
              <a:gd name="adj" fmla="val 3200"/>
            </a:avLst>
          </a:prstGeom>
          <a:solidFill>
            <a:srgbClr val="FFFFFF"/>
          </a:solidFill>
          <a:ln w="12700">
            <a:solidFill>
              <a:srgbClr val="FFFFFF">
                <a:alpha val="0"/>
              </a:srgbClr>
            </a:solidFill>
            <a:prstDash val="solid"/>
          </a:ln>
        </p:spPr>
      </p:sp>
      <p:sp>
        <p:nvSpPr>
          <p:cNvPr id="8" name="Text 5"/>
          <p:cNvSpPr/>
          <p:nvPr/>
        </p:nvSpPr>
        <p:spPr>
          <a:xfrm>
            <a:off x="886968" y="2258568"/>
            <a:ext cx="4709160" cy="457200"/>
          </a:xfrm>
          <a:prstGeom prst="rect">
            <a:avLst/>
          </a:prstGeom>
          <a:noFill/>
          <a:ln/>
        </p:spPr>
        <p:txBody>
          <a:bodyPr wrap="square" lIns="0" tIns="0" rIns="0" bIns="0" rtlCol="0" anchor="ctr"/>
          <a:lstStyle/>
          <a:p>
            <a:pPr indent="0" marL="0">
              <a:buNone/>
            </a:pPr>
            <a:r>
              <a:rPr lang="en-US" sz="2600" b="1" dirty="0">
                <a:solidFill>
                  <a:srgbClr val="242424"/>
                </a:solidFill>
                <a:latin typeface="Aptos" pitchFamily="34" charset="0"/>
                <a:ea typeface="Aptos" pitchFamily="34" charset="-122"/>
                <a:cs typeface="Aptos" pitchFamily="34" charset="-120"/>
              </a:rPr>
              <a:t>A constrained specialist</a:t>
            </a:r>
            <a:endParaRPr lang="en-US" sz="2600" dirty="0"/>
          </a:p>
        </p:txBody>
      </p:sp>
      <p:sp>
        <p:nvSpPr>
          <p:cNvPr id="9" name="Text 6"/>
          <p:cNvSpPr/>
          <p:nvPr/>
        </p:nvSpPr>
        <p:spPr>
          <a:xfrm>
            <a:off x="896112" y="2916936"/>
            <a:ext cx="4718304" cy="2020824"/>
          </a:xfrm>
          <a:prstGeom prst="rect">
            <a:avLst/>
          </a:prstGeom>
          <a:noFill/>
          <a:ln/>
        </p:spPr>
        <p:txBody>
          <a:bodyPr wrap="square" lIns="0" tIns="0" rIns="0" bIns="0" rtlCol="0" anchor="ctr"/>
          <a:lstStyle/>
          <a:p>
            <a:pPr indent="0" marL="0">
              <a:buNone/>
            </a:pPr>
            <a:r>
              <a:rPr lang="en-US" sz="2400" dirty="0">
                <a:solidFill>
                  <a:srgbClr val="242424"/>
                </a:solidFill>
                <a:latin typeface="Consolas" pitchFamily="34" charset="0"/>
                <a:ea typeface="Consolas" pitchFamily="34" charset="-122"/>
                <a:cs typeface="Consolas" pitchFamily="34" charset="-120"/>
              </a:rPr>
              <a:t>model: gpt-6.1-sol</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tools: []</a:t>
            </a:r>
            <a:endParaRPr lang="en-US" sz="2400" dirty="0"/>
          </a:p>
          <a:p>
            <a:pPr indent="0" marL="0">
              <a:buNone/>
            </a:pP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Workflow call:</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reasoningEffort: "max"</a:t>
            </a:r>
            <a:endParaRPr lang="en-US" sz="2400" dirty="0"/>
          </a:p>
        </p:txBody>
      </p:sp>
      <p:sp>
        <p:nvSpPr>
          <p:cNvPr id="10" name="Shape 7"/>
          <p:cNvSpPr/>
          <p:nvPr/>
        </p:nvSpPr>
        <p:spPr>
          <a:xfrm>
            <a:off x="6208776" y="2048256"/>
            <a:ext cx="5321808" cy="3429000"/>
          </a:xfrm>
          <a:prstGeom prst="roundRect">
            <a:avLst>
              <a:gd name="adj" fmla="val 3200"/>
            </a:avLst>
          </a:prstGeom>
          <a:solidFill>
            <a:srgbClr val="FFFFFF"/>
          </a:solidFill>
          <a:ln w="12700">
            <a:solidFill>
              <a:srgbClr val="FFFFFF">
                <a:alpha val="0"/>
              </a:srgbClr>
            </a:solidFill>
            <a:prstDash val="solid"/>
          </a:ln>
        </p:spPr>
      </p:sp>
      <p:sp>
        <p:nvSpPr>
          <p:cNvPr id="11" name="Text 8"/>
          <p:cNvSpPr/>
          <p:nvPr/>
        </p:nvSpPr>
        <p:spPr>
          <a:xfrm>
            <a:off x="6519672" y="2249424"/>
            <a:ext cx="4709160" cy="457200"/>
          </a:xfrm>
          <a:prstGeom prst="rect">
            <a:avLst/>
          </a:prstGeom>
          <a:noFill/>
          <a:ln/>
        </p:spPr>
        <p:txBody>
          <a:bodyPr wrap="square" lIns="0" tIns="0" rIns="0" bIns="0" rtlCol="0" anchor="ctr"/>
          <a:lstStyle/>
          <a:p>
            <a:pPr indent="0" marL="0">
              <a:buNone/>
            </a:pPr>
            <a:r>
              <a:rPr lang="en-US" sz="2700" b="1" dirty="0">
                <a:solidFill>
                  <a:srgbClr val="242424"/>
                </a:solidFill>
                <a:latin typeface="Aptos" pitchFamily="34" charset="0"/>
                <a:ea typeface="Aptos" pitchFamily="34" charset="-122"/>
                <a:cs typeface="Aptos" pitchFamily="34" charset="-120"/>
              </a:rPr>
              <a:t>A bounded result</a:t>
            </a:r>
            <a:endParaRPr lang="en-US" sz="2700" dirty="0"/>
          </a:p>
        </p:txBody>
      </p:sp>
      <p:sp>
        <p:nvSpPr>
          <p:cNvPr id="12" name="Text 9"/>
          <p:cNvSpPr/>
          <p:nvPr/>
        </p:nvSpPr>
        <p:spPr>
          <a:xfrm>
            <a:off x="6519672" y="2889504"/>
            <a:ext cx="4956048" cy="1993392"/>
          </a:xfrm>
          <a:prstGeom prst="rect">
            <a:avLst/>
          </a:prstGeom>
          <a:noFill/>
          <a:ln/>
        </p:spPr>
        <p:txBody>
          <a:bodyPr wrap="square" lIns="0" tIns="0" rIns="0" bIns="0" rtlCol="0" anchor="ctr"/>
          <a:lstStyle/>
          <a:p>
            <a:pPr indent="0" marL="0">
              <a:buNone/>
            </a:pPr>
            <a:r>
              <a:rPr lang="en-US" sz="2400" dirty="0">
                <a:solidFill>
                  <a:srgbClr val="242424"/>
                </a:solidFill>
                <a:latin typeface="Consolas" pitchFamily="34" charset="0"/>
                <a:ea typeface="Consolas" pitchFamily="34" charset="-122"/>
                <a:cs typeface="Consolas" pitchFamily="34" charset="-120"/>
              </a:rPr>
              <a:t>{</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repair: "dedupe",</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rationale: "...",</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  evidenceIds: ["E-RETRY"]</a:t>
            </a:r>
            <a:endParaRPr lang="en-US" sz="2400" dirty="0"/>
          </a:p>
          <a:p>
            <a:pPr indent="0" marL="0">
              <a:buNone/>
            </a:pPr>
            <a:r>
              <a:rPr lang="en-US" sz="2400" dirty="0">
                <a:solidFill>
                  <a:srgbClr val="242424"/>
                </a:solidFill>
                <a:latin typeface="Consolas" pitchFamily="34" charset="0"/>
                <a:ea typeface="Consolas" pitchFamily="34" charset="-122"/>
                <a:cs typeface="Consolas" pitchFamily="34" charset="-120"/>
              </a:rPr>
              <a:t>}</a:t>
            </a:r>
            <a:endParaRPr lang="en-US" sz="2400" dirty="0"/>
          </a:p>
        </p:txBody>
      </p:sp>
      <p:sp>
        <p:nvSpPr>
          <p:cNvPr id="13" name="Text 10"/>
          <p:cNvSpPr/>
          <p:nvPr/>
        </p:nvSpPr>
        <p:spPr>
          <a:xfrm>
            <a:off x="896112" y="5797296"/>
            <a:ext cx="10515600" cy="502920"/>
          </a:xfrm>
          <a:prstGeom prst="rect">
            <a:avLst/>
          </a:prstGeom>
          <a:noFill/>
          <a:ln/>
        </p:spPr>
        <p:txBody>
          <a:bodyPr wrap="square" lIns="0" tIns="0" rIns="0" bIns="0" rtlCol="0" anchor="ctr"/>
          <a:lstStyle/>
          <a:p>
            <a:pPr indent="0" marL="0">
              <a:buNone/>
            </a:pPr>
            <a:r>
              <a:rPr lang="en-US" sz="2700" b="1" dirty="0">
                <a:solidFill>
                  <a:srgbClr val="B11F4B"/>
                </a:solidFill>
                <a:latin typeface="Aptos" pitchFamily="34" charset="0"/>
                <a:ea typeface="Aptos" pitchFamily="34" charset="-122"/>
                <a:cs typeface="Aptos" pitchFamily="34" charset="-120"/>
              </a:rPr>
              <a:t>Validate meaning, not just shape.</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Reuse the rules.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Let the path change.</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08</a:t>
            </a:r>
            <a:endParaRPr lang="en-US" sz="1300" dirty="0"/>
          </a:p>
        </p:txBody>
      </p:sp>
      <p:sp>
        <p:nvSpPr>
          <p:cNvPr id="7" name="Text 4"/>
          <p:cNvSpPr/>
          <p:nvPr/>
        </p:nvSpPr>
        <p:spPr>
          <a:xfrm>
            <a:off x="713232" y="2148840"/>
            <a:ext cx="5212080" cy="411480"/>
          </a:xfrm>
          <a:prstGeom prst="rect">
            <a:avLst/>
          </a:prstGeom>
          <a:noFill/>
          <a:ln/>
        </p:spPr>
        <p:txBody>
          <a:bodyPr wrap="square" lIns="0" tIns="0" rIns="0" bIns="0" rtlCol="0" anchor="ctr"/>
          <a:lstStyle/>
          <a:p>
            <a:pPr indent="0" marL="0">
              <a:buNone/>
            </a:pPr>
            <a:r>
              <a:rPr lang="en-US" sz="2300" b="1" dirty="0">
                <a:solidFill>
                  <a:srgbClr val="B0B0B0"/>
                </a:solidFill>
                <a:latin typeface="Aptos" pitchFamily="34" charset="0"/>
                <a:ea typeface="Aptos" pitchFamily="34" charset="-122"/>
                <a:cs typeface="Aptos" pitchFamily="34" charset="-120"/>
              </a:rPr>
              <a:t>RUN A / retry evidence only</a:t>
            </a:r>
            <a:endParaRPr lang="en-US" sz="2300" dirty="0"/>
          </a:p>
        </p:txBody>
      </p:sp>
      <p:sp>
        <p:nvSpPr>
          <p:cNvPr id="8" name="Shape 5"/>
          <p:cNvSpPr/>
          <p:nvPr/>
        </p:nvSpPr>
        <p:spPr>
          <a:xfrm>
            <a:off x="722376" y="2862072"/>
            <a:ext cx="2468880" cy="877824"/>
          </a:xfrm>
          <a:prstGeom prst="roundRect">
            <a:avLst>
              <a:gd name="adj" fmla="val 10417"/>
            </a:avLst>
          </a:prstGeom>
          <a:solidFill>
            <a:srgbClr val="292929"/>
          </a:solidFill>
          <a:ln w="16510">
            <a:solidFill>
              <a:srgbClr val="5F5F5F"/>
            </a:solidFill>
            <a:prstDash val="solid"/>
          </a:ln>
        </p:spPr>
      </p:sp>
      <p:sp>
        <p:nvSpPr>
          <p:cNvPr id="9" name="Text 6"/>
          <p:cNvSpPr/>
          <p:nvPr/>
        </p:nvSpPr>
        <p:spPr>
          <a:xfrm>
            <a:off x="841248" y="2953512"/>
            <a:ext cx="223113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0" name="Shape 7"/>
          <p:cNvSpPr/>
          <p:nvPr/>
        </p:nvSpPr>
        <p:spPr>
          <a:xfrm>
            <a:off x="3712464" y="2862072"/>
            <a:ext cx="3474720" cy="877824"/>
          </a:xfrm>
          <a:prstGeom prst="roundRect">
            <a:avLst>
              <a:gd name="adj" fmla="val 10417"/>
            </a:avLst>
          </a:prstGeom>
          <a:solidFill>
            <a:srgbClr val="FD8EA1"/>
          </a:solidFill>
          <a:ln w="16510">
            <a:solidFill>
              <a:srgbClr val="FD8EA1"/>
            </a:solidFill>
            <a:prstDash val="solid"/>
          </a:ln>
        </p:spPr>
      </p:sp>
      <p:sp>
        <p:nvSpPr>
          <p:cNvPr id="11" name="Text 8"/>
          <p:cNvSpPr/>
          <p:nvPr/>
        </p:nvSpPr>
        <p:spPr>
          <a:xfrm>
            <a:off x="3831336" y="2953512"/>
            <a:ext cx="3236976" cy="694944"/>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Retry specialist</a:t>
            </a:r>
            <a:endParaRPr lang="en-US" sz="2500" dirty="0"/>
          </a:p>
        </p:txBody>
      </p:sp>
      <p:sp>
        <p:nvSpPr>
          <p:cNvPr id="12" name="Shape 9"/>
          <p:cNvSpPr/>
          <p:nvPr/>
        </p:nvSpPr>
        <p:spPr>
          <a:xfrm>
            <a:off x="7900416" y="2862072"/>
            <a:ext cx="3474720" cy="877824"/>
          </a:xfrm>
          <a:prstGeom prst="roundRect">
            <a:avLst>
              <a:gd name="adj" fmla="val 10417"/>
            </a:avLst>
          </a:prstGeom>
          <a:solidFill>
            <a:srgbClr val="292929"/>
          </a:solidFill>
          <a:ln w="16510">
            <a:solidFill>
              <a:srgbClr val="5F5F5F"/>
            </a:solidFill>
            <a:prstDash val="solid"/>
          </a:ln>
        </p:spPr>
      </p:sp>
      <p:sp>
        <p:nvSpPr>
          <p:cNvPr id="13" name="Text 10"/>
          <p:cNvSpPr/>
          <p:nvPr/>
        </p:nvSpPr>
        <p:spPr>
          <a:xfrm>
            <a:off x="8019288" y="2953512"/>
            <a:ext cx="323697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14" name="Shape 11"/>
          <p:cNvSpPr/>
          <p:nvPr/>
        </p:nvSpPr>
        <p:spPr>
          <a:xfrm>
            <a:off x="3191256" y="3300984"/>
            <a:ext cx="521208" cy="0"/>
          </a:xfrm>
          <a:prstGeom prst="line">
            <a:avLst/>
          </a:prstGeom>
          <a:noFill/>
          <a:ln w="25400">
            <a:solidFill>
              <a:srgbClr val="FD8EA1"/>
            </a:solidFill>
            <a:prstDash val="solid"/>
            <a:tailEnd type="triangle"/>
          </a:ln>
        </p:spPr>
      </p:sp>
      <p:sp>
        <p:nvSpPr>
          <p:cNvPr id="15" name="Shape 12"/>
          <p:cNvSpPr/>
          <p:nvPr/>
        </p:nvSpPr>
        <p:spPr>
          <a:xfrm>
            <a:off x="7187184" y="3300984"/>
            <a:ext cx="713232" cy="0"/>
          </a:xfrm>
          <a:prstGeom prst="line">
            <a:avLst/>
          </a:prstGeom>
          <a:noFill/>
          <a:ln w="25400">
            <a:solidFill>
              <a:srgbClr val="FD8EA1"/>
            </a:solidFill>
            <a:prstDash val="solid"/>
            <a:tailEnd type="triangle"/>
          </a:ln>
        </p:spPr>
      </p:sp>
      <p:sp>
        <p:nvSpPr>
          <p:cNvPr id="16" name="Text 13"/>
          <p:cNvSpPr/>
          <p:nvPr/>
        </p:nvSpPr>
        <p:spPr>
          <a:xfrm>
            <a:off x="713232" y="4087368"/>
            <a:ext cx="8229600" cy="411480"/>
          </a:xfrm>
          <a:prstGeom prst="rect">
            <a:avLst/>
          </a:prstGeom>
          <a:noFill/>
          <a:ln/>
        </p:spPr>
        <p:txBody>
          <a:bodyPr wrap="square" lIns="0" tIns="0" rIns="0" bIns="0" rtlCol="0" anchor="ctr"/>
          <a:lstStyle/>
          <a:p>
            <a:pPr indent="0" marL="0">
              <a:buNone/>
            </a:pPr>
            <a:r>
              <a:rPr lang="en-US" sz="2300" b="1" dirty="0">
                <a:solidFill>
                  <a:srgbClr val="B0B0B0"/>
                </a:solidFill>
                <a:latin typeface="Aptos" pitchFamily="34" charset="0"/>
                <a:ea typeface="Aptos" pitchFamily="34" charset="-122"/>
                <a:cs typeface="Aptos" pitchFamily="34" charset="-120"/>
              </a:rPr>
              <a:t>RUN B / both faults known up front</a:t>
            </a:r>
            <a:endParaRPr lang="en-US" sz="2300" dirty="0"/>
          </a:p>
        </p:txBody>
      </p:sp>
      <p:sp>
        <p:nvSpPr>
          <p:cNvPr id="17" name="Shape 14"/>
          <p:cNvSpPr/>
          <p:nvPr/>
        </p:nvSpPr>
        <p:spPr>
          <a:xfrm>
            <a:off x="722376" y="4809744"/>
            <a:ext cx="2468880" cy="877824"/>
          </a:xfrm>
          <a:prstGeom prst="roundRect">
            <a:avLst>
              <a:gd name="adj" fmla="val 10417"/>
            </a:avLst>
          </a:prstGeom>
          <a:solidFill>
            <a:srgbClr val="292929"/>
          </a:solidFill>
          <a:ln w="16510">
            <a:solidFill>
              <a:srgbClr val="5F5F5F"/>
            </a:solidFill>
            <a:prstDash val="solid"/>
          </a:ln>
        </p:spPr>
      </p:sp>
      <p:sp>
        <p:nvSpPr>
          <p:cNvPr id="18" name="Text 15"/>
          <p:cNvSpPr/>
          <p:nvPr/>
        </p:nvSpPr>
        <p:spPr>
          <a:xfrm>
            <a:off x="841248" y="4901184"/>
            <a:ext cx="223113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Evidence</a:t>
            </a:r>
            <a:endParaRPr lang="en-US" sz="2100" dirty="0"/>
          </a:p>
        </p:txBody>
      </p:sp>
      <p:sp>
        <p:nvSpPr>
          <p:cNvPr id="19" name="Shape 16"/>
          <p:cNvSpPr/>
          <p:nvPr/>
        </p:nvSpPr>
        <p:spPr>
          <a:xfrm>
            <a:off x="3712464" y="4809744"/>
            <a:ext cx="3474720" cy="1051560"/>
          </a:xfrm>
          <a:prstGeom prst="roundRect">
            <a:avLst>
              <a:gd name="adj" fmla="val 8696"/>
            </a:avLst>
          </a:prstGeom>
          <a:solidFill>
            <a:srgbClr val="FD8EA1"/>
          </a:solidFill>
          <a:ln w="16510">
            <a:solidFill>
              <a:srgbClr val="FD8EA1"/>
            </a:solidFill>
            <a:prstDash val="solid"/>
          </a:ln>
        </p:spPr>
      </p:sp>
      <p:sp>
        <p:nvSpPr>
          <p:cNvPr id="20" name="Text 17"/>
          <p:cNvSpPr/>
          <p:nvPr/>
        </p:nvSpPr>
        <p:spPr>
          <a:xfrm>
            <a:off x="3831336" y="4901184"/>
            <a:ext cx="3236976" cy="868680"/>
          </a:xfrm>
          <a:prstGeom prst="rect">
            <a:avLst/>
          </a:prstGeom>
          <a:noFill/>
          <a:ln/>
        </p:spPr>
        <p:txBody>
          <a:bodyPr wrap="square" lIns="0" tIns="0" rIns="0" bIns="0" rtlCol="0" anchor="ctr"/>
          <a:lstStyle/>
          <a:p>
            <a:pPr algn="ctr" indent="0" marL="0">
              <a:buNone/>
            </a:pPr>
            <a:r>
              <a:rPr lang="en-US" sz="2300" b="1" dirty="0">
                <a:solidFill>
                  <a:srgbClr val="3D3B3A"/>
                </a:solidFill>
                <a:latin typeface="Aptos" pitchFamily="34" charset="0"/>
                <a:ea typeface="Aptos" pitchFamily="34" charset="-122"/>
                <a:cs typeface="Aptos" pitchFamily="34" charset="-120"/>
              </a:rPr>
              <a:t>Retry + capacity</a:t>
            </a:r>
            <a:endParaRPr lang="en-US" sz="2300" dirty="0"/>
          </a:p>
          <a:p>
            <a:pPr algn="ctr" indent="0" marL="0">
              <a:buNone/>
            </a:pPr>
            <a:r>
              <a:rPr lang="en-US" sz="2300" b="1" dirty="0">
                <a:solidFill>
                  <a:srgbClr val="3D3B3A"/>
                </a:solidFill>
                <a:latin typeface="Aptos" pitchFamily="34" charset="0"/>
                <a:ea typeface="Aptos" pitchFamily="34" charset="-122"/>
                <a:cs typeface="Aptos" pitchFamily="34" charset="-120"/>
              </a:rPr>
              <a:t>parallel specialists</a:t>
            </a:r>
            <a:endParaRPr lang="en-US" sz="2300" dirty="0"/>
          </a:p>
        </p:txBody>
      </p:sp>
      <p:sp>
        <p:nvSpPr>
          <p:cNvPr id="21" name="Shape 18"/>
          <p:cNvSpPr/>
          <p:nvPr/>
        </p:nvSpPr>
        <p:spPr>
          <a:xfrm>
            <a:off x="7900416" y="4809744"/>
            <a:ext cx="3474720" cy="877824"/>
          </a:xfrm>
          <a:prstGeom prst="roundRect">
            <a:avLst>
              <a:gd name="adj" fmla="val 10417"/>
            </a:avLst>
          </a:prstGeom>
          <a:solidFill>
            <a:srgbClr val="292929"/>
          </a:solidFill>
          <a:ln w="16510">
            <a:solidFill>
              <a:srgbClr val="5F5F5F"/>
            </a:solidFill>
            <a:prstDash val="solid"/>
          </a:ln>
        </p:spPr>
      </p:sp>
      <p:sp>
        <p:nvSpPr>
          <p:cNvPr id="22" name="Text 19"/>
          <p:cNvSpPr/>
          <p:nvPr/>
        </p:nvSpPr>
        <p:spPr>
          <a:xfrm>
            <a:off x="8019288" y="4901184"/>
            <a:ext cx="3236976" cy="694944"/>
          </a:xfrm>
          <a:prstGeom prst="rect">
            <a:avLst/>
          </a:prstGeom>
          <a:noFill/>
          <a:ln/>
        </p:spPr>
        <p:txBody>
          <a:bodyPr wrap="square" lIns="0" tIns="0" rIns="0" bIns="0" rtlCol="0" anchor="ctr"/>
          <a:lstStyle/>
          <a:p>
            <a:pPr algn="ctr" indent="0" marL="0">
              <a:buNone/>
            </a:pPr>
            <a:r>
              <a:rPr lang="en-US" sz="2100" b="1" dirty="0">
                <a:solidFill>
                  <a:srgbClr val="DEDEDE"/>
                </a:solidFill>
                <a:latin typeface="Aptos" pitchFamily="34" charset="0"/>
                <a:ea typeface="Aptos" pitchFamily="34" charset="-122"/>
                <a:cs typeface="Aptos" pitchFamily="34" charset="-120"/>
              </a:rPr>
              <a:t>Verify</a:t>
            </a:r>
            <a:endParaRPr lang="en-US" sz="2100" dirty="0"/>
          </a:p>
        </p:txBody>
      </p:sp>
      <p:sp>
        <p:nvSpPr>
          <p:cNvPr id="23" name="Shape 20"/>
          <p:cNvSpPr/>
          <p:nvPr/>
        </p:nvSpPr>
        <p:spPr>
          <a:xfrm>
            <a:off x="3191256" y="5248656"/>
            <a:ext cx="521208" cy="0"/>
          </a:xfrm>
          <a:prstGeom prst="line">
            <a:avLst/>
          </a:prstGeom>
          <a:noFill/>
          <a:ln w="25400">
            <a:solidFill>
              <a:srgbClr val="FD8EA1"/>
            </a:solidFill>
            <a:prstDash val="solid"/>
            <a:tailEnd type="triangle"/>
          </a:ln>
        </p:spPr>
      </p:sp>
      <p:sp>
        <p:nvSpPr>
          <p:cNvPr id="24" name="Shape 21"/>
          <p:cNvSpPr/>
          <p:nvPr/>
        </p:nvSpPr>
        <p:spPr>
          <a:xfrm>
            <a:off x="7187184" y="5248656"/>
            <a:ext cx="713232" cy="0"/>
          </a:xfrm>
          <a:prstGeom prst="line">
            <a:avLst/>
          </a:prstGeom>
          <a:noFill/>
          <a:ln w="25400">
            <a:solidFill>
              <a:srgbClr val="FD8EA1"/>
            </a:solidFill>
            <a:prstDash val="solid"/>
            <a:tailEnd type="triangle"/>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Identify the feature at every stop.</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09</a:t>
            </a:r>
            <a:endParaRPr lang="en-US" sz="1300" dirty="0"/>
          </a:p>
        </p:txBody>
      </p:sp>
      <p:sp>
        <p:nvSpPr>
          <p:cNvPr id="7" name="Shape 4"/>
          <p:cNvSpPr/>
          <p:nvPr/>
        </p:nvSpPr>
        <p:spPr>
          <a:xfrm>
            <a:off x="777240" y="1828800"/>
            <a:ext cx="5102352" cy="859536"/>
          </a:xfrm>
          <a:prstGeom prst="roundRect">
            <a:avLst>
              <a:gd name="adj" fmla="val 10638"/>
            </a:avLst>
          </a:prstGeom>
          <a:solidFill>
            <a:srgbClr val="292929"/>
          </a:solidFill>
          <a:ln w="16510">
            <a:solidFill>
              <a:srgbClr val="5F5F5F"/>
            </a:solidFill>
            <a:prstDash val="solid"/>
          </a:ln>
        </p:spPr>
      </p:sp>
      <p:sp>
        <p:nvSpPr>
          <p:cNvPr id="8" name="Text 5"/>
          <p:cNvSpPr/>
          <p:nvPr/>
        </p:nvSpPr>
        <p:spPr>
          <a:xfrm>
            <a:off x="896112" y="1920240"/>
            <a:ext cx="4864608" cy="676656"/>
          </a:xfrm>
          <a:prstGeom prst="rect">
            <a:avLst/>
          </a:prstGeom>
          <a:noFill/>
          <a:ln/>
        </p:spPr>
        <p:txBody>
          <a:bodyPr wrap="square" lIns="0" tIns="0" rIns="0" bIns="0" rtlCol="0" anchor="ctr"/>
          <a:lstStyle/>
          <a:p>
            <a:pPr algn="ctr" indent="0" marL="0">
              <a:buNone/>
            </a:pPr>
            <a:r>
              <a:rPr lang="en-US" sz="2900" b="1" dirty="0">
                <a:solidFill>
                  <a:srgbClr val="DEDEDE"/>
                </a:solidFill>
                <a:latin typeface="Aptos" pitchFamily="34" charset="0"/>
                <a:ea typeface="Aptos" pitchFamily="34" charset="-122"/>
                <a:cs typeface="Aptos" pitchFamily="34" charset="-120"/>
              </a:rPr>
              <a:t>Dynamic Workflow</a:t>
            </a:r>
            <a:endParaRPr lang="en-US" sz="2900" dirty="0"/>
          </a:p>
        </p:txBody>
      </p:sp>
      <p:sp>
        <p:nvSpPr>
          <p:cNvPr id="9" name="Text 6"/>
          <p:cNvSpPr/>
          <p:nvPr/>
        </p:nvSpPr>
        <p:spPr>
          <a:xfrm>
            <a:off x="923544" y="2907792"/>
            <a:ext cx="4864608" cy="1170432"/>
          </a:xfrm>
          <a:prstGeom prst="rect">
            <a:avLst/>
          </a:prstGeom>
          <a:noFill/>
          <a:ln/>
        </p:spPr>
        <p:txBody>
          <a:bodyPr wrap="square" lIns="0" tIns="0" rIns="0" bIns="0" rtlCol="0" anchor="ctr"/>
          <a:lstStyle/>
          <a:p>
            <a:pPr indent="0" marL="0">
              <a:buNone/>
            </a:pPr>
            <a:r>
              <a:rPr lang="en-US" sz="2400" b="1" dirty="0">
                <a:solidFill>
                  <a:srgbClr val="DEDEDE"/>
                </a:solidFill>
                <a:latin typeface="Aptos" pitchFamily="34" charset="0"/>
                <a:ea typeface="Aptos" pitchFamily="34" charset="-122"/>
                <a:cs typeface="Aptos" pitchFamily="34" charset="-120"/>
              </a:rPr>
              <a:t>CODE chooses the steps.</a:t>
            </a:r>
            <a:endParaRPr lang="en-US" sz="2400" dirty="0"/>
          </a:p>
          <a:p>
            <a:pPr indent="0" marL="0">
              <a:buNone/>
            </a:pPr>
            <a:r>
              <a:rPr lang="en-US" sz="2400" b="1" dirty="0">
                <a:solidFill>
                  <a:srgbClr val="DEDEDE"/>
                </a:solidFill>
                <a:latin typeface="Aptos" pitchFamily="34" charset="0"/>
                <a:ea typeface="Aptos" pitchFamily="34" charset="-122"/>
                <a:cs typeface="Aptos" pitchFamily="34" charset="-120"/>
              </a:rPr>
              <a:t>Branches when checks fail.</a:t>
            </a:r>
            <a:endParaRPr lang="en-US" sz="2400" dirty="0"/>
          </a:p>
          <a:p>
            <a:pPr indent="0" marL="0">
              <a:buNone/>
            </a:pPr>
            <a:r>
              <a:rPr lang="en-US" sz="2400" b="1" dirty="0">
                <a:solidFill>
                  <a:srgbClr val="DEDEDE"/>
                </a:solidFill>
                <a:latin typeface="Aptos" pitchFamily="34" charset="0"/>
                <a:ea typeface="Aptos" pitchFamily="34" charset="-122"/>
                <a:cs typeface="Aptos" pitchFamily="34" charset="-120"/>
              </a:rPr>
              <a:t>Keeps completed work.</a:t>
            </a:r>
            <a:endParaRPr lang="en-US" sz="2400" dirty="0"/>
          </a:p>
        </p:txBody>
      </p:sp>
      <p:sp>
        <p:nvSpPr>
          <p:cNvPr id="10" name="Shape 7"/>
          <p:cNvSpPr/>
          <p:nvPr/>
        </p:nvSpPr>
        <p:spPr>
          <a:xfrm>
            <a:off x="777240" y="4343400"/>
            <a:ext cx="5102352" cy="859536"/>
          </a:xfrm>
          <a:prstGeom prst="roundRect">
            <a:avLst>
              <a:gd name="adj" fmla="val 10638"/>
            </a:avLst>
          </a:prstGeom>
          <a:solidFill>
            <a:srgbClr val="FD8EA1"/>
          </a:solidFill>
          <a:ln w="16510">
            <a:solidFill>
              <a:srgbClr val="FD8EA1"/>
            </a:solidFill>
            <a:prstDash val="solid"/>
          </a:ln>
        </p:spPr>
      </p:sp>
      <p:sp>
        <p:nvSpPr>
          <p:cNvPr id="11" name="Text 8"/>
          <p:cNvSpPr/>
          <p:nvPr/>
        </p:nvSpPr>
        <p:spPr>
          <a:xfrm>
            <a:off x="896112" y="4434840"/>
            <a:ext cx="4864608" cy="676656"/>
          </a:xfrm>
          <a:prstGeom prst="rect">
            <a:avLst/>
          </a:prstGeom>
          <a:noFill/>
          <a:ln/>
        </p:spPr>
        <p:txBody>
          <a:bodyPr wrap="square" lIns="0" tIns="0" rIns="0" bIns="0" rtlCol="0" anchor="ctr"/>
          <a:lstStyle/>
          <a:p>
            <a:pPr algn="ctr" indent="0" marL="0">
              <a:buNone/>
            </a:pPr>
            <a:r>
              <a:rPr lang="en-US" sz="2900" b="1" dirty="0">
                <a:solidFill>
                  <a:srgbClr val="3D3B3A"/>
                </a:solidFill>
                <a:latin typeface="Aptos" pitchFamily="34" charset="0"/>
                <a:ea typeface="Aptos" pitchFamily="34" charset="-122"/>
                <a:cs typeface="Aptos" pitchFamily="34" charset="-120"/>
              </a:rPr>
              <a:t>Agentic Workflow</a:t>
            </a:r>
            <a:endParaRPr lang="en-US" sz="2900" dirty="0"/>
          </a:p>
        </p:txBody>
      </p:sp>
      <p:sp>
        <p:nvSpPr>
          <p:cNvPr id="12" name="Text 9"/>
          <p:cNvSpPr/>
          <p:nvPr/>
        </p:nvSpPr>
        <p:spPr>
          <a:xfrm>
            <a:off x="923544" y="5385816"/>
            <a:ext cx="4864608" cy="777240"/>
          </a:xfrm>
          <a:prstGeom prst="rect">
            <a:avLst/>
          </a:prstGeom>
          <a:noFill/>
          <a:ln/>
        </p:spPr>
        <p:txBody>
          <a:bodyPr wrap="square" lIns="0" tIns="0" rIns="0" bIns="0" rtlCol="0" anchor="ctr"/>
          <a:lstStyle/>
          <a:p>
            <a:pPr indent="0" marL="0">
              <a:buNone/>
            </a:pPr>
            <a:r>
              <a:rPr lang="en-US" sz="2400" b="1" dirty="0">
                <a:solidFill>
                  <a:srgbClr val="DEDEDE"/>
                </a:solidFill>
                <a:latin typeface="Aptos" pitchFamily="34" charset="0"/>
                <a:ea typeface="Aptos" pitchFamily="34" charset="-122"/>
                <a:cs typeface="Aptos" pitchFamily="34" charset="-120"/>
              </a:rPr>
              <a:t>MODEL interprets evidence.</a:t>
            </a:r>
            <a:endParaRPr lang="en-US" sz="2400" dirty="0"/>
          </a:p>
          <a:p>
            <a:pPr indent="0" marL="0">
              <a:buNone/>
            </a:pPr>
            <a:r>
              <a:rPr lang="en-US" sz="2400" b="1" dirty="0">
                <a:solidFill>
                  <a:srgbClr val="DEDEDE"/>
                </a:solidFill>
                <a:latin typeface="Aptos" pitchFamily="34" charset="0"/>
                <a:ea typeface="Aptos" pitchFamily="34" charset="-122"/>
                <a:cs typeface="Aptos" pitchFamily="34" charset="-120"/>
              </a:rPr>
              <a:t>Explains or rejects the repair.</a:t>
            </a:r>
            <a:endParaRPr lang="en-US" sz="2400" dirty="0"/>
          </a:p>
        </p:txBody>
      </p:sp>
      <p:sp>
        <p:nvSpPr>
          <p:cNvPr id="13" name="Text 10"/>
          <p:cNvSpPr/>
          <p:nvPr/>
        </p:nvSpPr>
        <p:spPr>
          <a:xfrm>
            <a:off x="6419088" y="1728216"/>
            <a:ext cx="4828032" cy="429768"/>
          </a:xfrm>
          <a:prstGeom prst="rect">
            <a:avLst/>
          </a:prstGeom>
          <a:noFill/>
          <a:ln/>
        </p:spPr>
        <p:txBody>
          <a:bodyPr wrap="square" lIns="0" tIns="0" rIns="0" bIns="0" rtlCol="0" anchor="ctr"/>
          <a:lstStyle/>
          <a:p>
            <a:pPr indent="0" marL="0">
              <a:buNone/>
            </a:pPr>
            <a:r>
              <a:rPr lang="en-US" sz="2600" b="1" dirty="0">
                <a:solidFill>
                  <a:srgbClr val="FD8EA1"/>
                </a:solidFill>
                <a:latin typeface="Aptos" pitchFamily="34" charset="0"/>
                <a:ea typeface="Aptos" pitchFamily="34" charset="-122"/>
                <a:cs typeface="Aptos" pitchFamily="34" charset="-120"/>
              </a:rPr>
              <a:t>Actual model handoff</a:t>
            </a:r>
            <a:endParaRPr lang="en-US" sz="2600" dirty="0"/>
          </a:p>
        </p:txBody>
      </p:sp>
      <p:pic>
        <p:nvPicPr>
          <p:cNvPr id="14" name="Image 0" descr="Cropped actual native model handoff showing gpt-6.1-sol max and its ctx.agent call.">    </p:cNvPr>
          <p:cNvPicPr>
            <a:picLocks noChangeAspect="1"/>
          </p:cNvPicPr>
          <p:nvPr/>
        </p:nvPicPr>
        <p:blipFill>
          <a:blip r:embed="rId2"/>
          <a:stretch>
            <a:fillRect/>
          </a:stretch>
        </p:blipFill>
        <p:spPr>
          <a:xfrm>
            <a:off x="6419088" y="2414016"/>
            <a:ext cx="4828032" cy="1423541"/>
          </a:xfrm>
          <a:prstGeom prst="rect">
            <a:avLst/>
          </a:prstGeom>
        </p:spPr>
      </p:pic>
      <p:sp>
        <p:nvSpPr>
          <p:cNvPr id="15" name="Text 11"/>
          <p:cNvSpPr/>
          <p:nvPr/>
        </p:nvSpPr>
        <p:spPr>
          <a:xfrm>
            <a:off x="6419088" y="4690872"/>
            <a:ext cx="4828032" cy="694944"/>
          </a:xfrm>
          <a:prstGeom prst="rect">
            <a:avLst/>
          </a:prstGeom>
          <a:noFill/>
          <a:ln/>
        </p:spPr>
        <p:txBody>
          <a:bodyPr wrap="square" lIns="0" tIns="0" rIns="0" bIns="0" rtlCol="0" anchor="ctr"/>
          <a:lstStyle/>
          <a:p>
            <a:pPr indent="0" marL="0">
              <a:buNone/>
            </a:pPr>
            <a:r>
              <a:rPr lang="en-US" sz="2400" b="1" dirty="0">
                <a:solidFill>
                  <a:srgbClr val="DEDEDE"/>
                </a:solidFill>
                <a:latin typeface="Aptos" pitchFamily="34" charset="0"/>
                <a:ea typeface="Aptos" pitchFamily="34" charset="-122"/>
                <a:cs typeface="Aptos" pitchFamily="34" charset="-120"/>
              </a:rPr>
              <a:t>Evidence in: 500 retry requests</a:t>
            </a:r>
            <a:endParaRPr lang="en-US" sz="2400" dirty="0"/>
          </a:p>
        </p:txBody>
      </p:sp>
      <p:sp>
        <p:nvSpPr>
          <p:cNvPr id="16" name="Text 12"/>
          <p:cNvSpPr/>
          <p:nvPr/>
        </p:nvSpPr>
        <p:spPr>
          <a:xfrm>
            <a:off x="6419088" y="5486400"/>
            <a:ext cx="4828032" cy="667512"/>
          </a:xfrm>
          <a:prstGeom prst="rect">
            <a:avLst/>
          </a:prstGeom>
          <a:noFill/>
          <a:ln/>
        </p:spPr>
        <p:txBody>
          <a:bodyPr wrap="square" lIns="0" tIns="0" rIns="0" bIns="0" rtlCol="0" anchor="ctr"/>
          <a:lstStyle/>
          <a:p>
            <a:pPr indent="0" marL="0">
              <a:buNone/>
            </a:pPr>
            <a:r>
              <a:rPr lang="en-US" sz="2200" dirty="0">
                <a:solidFill>
                  <a:srgbClr val="DEDEDE"/>
                </a:solidFill>
                <a:latin typeface="Consolas" pitchFamily="34" charset="0"/>
                <a:ea typeface="Consolas" pitchFamily="34" charset="-122"/>
                <a:cs typeface="Consolas" pitchFamily="34" charset="-120"/>
              </a:rPr>
              <a:t>repair: dedupe</a:t>
            </a:r>
            <a:endParaRPr lang="en-US" sz="2200" dirty="0"/>
          </a:p>
          <a:p>
            <a:pPr indent="0" marL="0">
              <a:buNone/>
            </a:pPr>
            <a:r>
              <a:rPr lang="en-US" sz="2200" dirty="0">
                <a:solidFill>
                  <a:srgbClr val="DEDEDE"/>
                </a:solidFill>
                <a:latin typeface="Consolas" pitchFamily="34" charset="0"/>
                <a:ea typeface="Consolas" pitchFamily="34" charset="-122"/>
                <a:cs typeface="Consolas" pitchFamily="34" charset="-120"/>
              </a:rPr>
              <a:t>cites: E-RETRY</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The room picks the incident.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10</a:t>
            </a:r>
            <a:endParaRPr lang="en-US" sz="1300" dirty="0"/>
          </a:p>
        </p:txBody>
      </p:sp>
      <p:sp>
        <p:nvSpPr>
          <p:cNvPr id="7" name="Shape 4"/>
          <p:cNvSpPr/>
          <p:nvPr/>
        </p:nvSpPr>
        <p:spPr>
          <a:xfrm>
            <a:off x="685800" y="1773936"/>
            <a:ext cx="5294376" cy="1874520"/>
          </a:xfrm>
          <a:prstGeom prst="roundRect">
            <a:avLst>
              <a:gd name="adj" fmla="val 5854"/>
            </a:avLst>
          </a:prstGeom>
          <a:solidFill>
            <a:srgbClr val="FFFFFF"/>
          </a:solidFill>
          <a:ln w="12700">
            <a:solidFill>
              <a:srgbClr val="DEDEDE"/>
            </a:solidFill>
            <a:prstDash val="solid"/>
          </a:ln>
        </p:spPr>
      </p:sp>
      <p:sp>
        <p:nvSpPr>
          <p:cNvPr id="8" name="Text 5"/>
          <p:cNvSpPr/>
          <p:nvPr/>
        </p:nvSpPr>
        <p:spPr>
          <a:xfrm>
            <a:off x="886968" y="1975104"/>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Retry storm</a:t>
            </a:r>
            <a:endParaRPr lang="en-US" sz="3000" dirty="0"/>
          </a:p>
        </p:txBody>
      </p:sp>
      <p:sp>
        <p:nvSpPr>
          <p:cNvPr id="9" name="Text 6"/>
          <p:cNvSpPr/>
          <p:nvPr/>
        </p:nvSpPr>
        <p:spPr>
          <a:xfrm>
            <a:off x="886968" y="2706624"/>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500 extra requests.</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Identity must survive retries.</a:t>
            </a:r>
            <a:endParaRPr lang="en-US" sz="2100" dirty="0"/>
          </a:p>
        </p:txBody>
      </p:sp>
      <p:sp>
        <p:nvSpPr>
          <p:cNvPr id="10" name="Shape 7"/>
          <p:cNvSpPr/>
          <p:nvPr/>
        </p:nvSpPr>
        <p:spPr>
          <a:xfrm>
            <a:off x="6208776" y="1773936"/>
            <a:ext cx="5294376" cy="1874520"/>
          </a:xfrm>
          <a:prstGeom prst="roundRect">
            <a:avLst>
              <a:gd name="adj" fmla="val 5854"/>
            </a:avLst>
          </a:prstGeom>
          <a:solidFill>
            <a:srgbClr val="FFFFFF"/>
          </a:solidFill>
          <a:ln w="12700">
            <a:solidFill>
              <a:srgbClr val="DEDEDE"/>
            </a:solidFill>
            <a:prstDash val="solid"/>
          </a:ln>
        </p:spPr>
      </p:sp>
      <p:sp>
        <p:nvSpPr>
          <p:cNvPr id="11" name="Text 8"/>
          <p:cNvSpPr/>
          <p:nvPr/>
        </p:nvSpPr>
        <p:spPr>
          <a:xfrm>
            <a:off x="6409944" y="1975104"/>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Room switch</a:t>
            </a:r>
            <a:endParaRPr lang="en-US" sz="3000" dirty="0"/>
          </a:p>
        </p:txBody>
      </p:sp>
      <p:sp>
        <p:nvSpPr>
          <p:cNvPr id="12" name="Text 9"/>
          <p:cNvSpPr/>
          <p:nvPr/>
        </p:nvSpPr>
        <p:spPr>
          <a:xfrm>
            <a:off x="6409944" y="2706624"/>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The published map is stale.</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Capacity must stay honest.</a:t>
            </a:r>
            <a:endParaRPr lang="en-US" sz="2100" dirty="0"/>
          </a:p>
        </p:txBody>
      </p:sp>
      <p:sp>
        <p:nvSpPr>
          <p:cNvPr id="13" name="Shape 10"/>
          <p:cNvSpPr/>
          <p:nvPr/>
        </p:nvSpPr>
        <p:spPr>
          <a:xfrm>
            <a:off x="685800" y="3941064"/>
            <a:ext cx="5294376" cy="1874520"/>
          </a:xfrm>
          <a:prstGeom prst="roundRect">
            <a:avLst>
              <a:gd name="adj" fmla="val 5854"/>
            </a:avLst>
          </a:prstGeom>
          <a:solidFill>
            <a:srgbClr val="FFFFFF"/>
          </a:solidFill>
          <a:ln w="12700">
            <a:solidFill>
              <a:srgbClr val="DEDEDE"/>
            </a:solidFill>
            <a:prstDash val="solid"/>
          </a:ln>
        </p:spPr>
      </p:sp>
      <p:sp>
        <p:nvSpPr>
          <p:cNvPr id="14" name="Text 11"/>
          <p:cNvSpPr/>
          <p:nvPr/>
        </p:nvSpPr>
        <p:spPr>
          <a:xfrm>
            <a:off x="886968" y="4142232"/>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Both at once</a:t>
            </a:r>
            <a:endParaRPr lang="en-US" sz="3000" dirty="0"/>
          </a:p>
        </p:txBody>
      </p:sp>
      <p:sp>
        <p:nvSpPr>
          <p:cNvPr id="15" name="Text 12"/>
          <p:cNvSpPr/>
          <p:nvPr/>
        </p:nvSpPr>
        <p:spPr>
          <a:xfrm>
            <a:off x="886968" y="4873752"/>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Two independent findings.</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Two specialists in parallel.</a:t>
            </a:r>
            <a:endParaRPr lang="en-US" sz="2100" dirty="0"/>
          </a:p>
        </p:txBody>
      </p:sp>
      <p:sp>
        <p:nvSpPr>
          <p:cNvPr id="16" name="Shape 13"/>
          <p:cNvSpPr/>
          <p:nvPr/>
        </p:nvSpPr>
        <p:spPr>
          <a:xfrm>
            <a:off x="6208776" y="3941064"/>
            <a:ext cx="5294376" cy="1874520"/>
          </a:xfrm>
          <a:prstGeom prst="roundRect">
            <a:avLst>
              <a:gd name="adj" fmla="val 5854"/>
            </a:avLst>
          </a:prstGeom>
          <a:solidFill>
            <a:srgbClr val="FFFFFF"/>
          </a:solidFill>
          <a:ln w="25400">
            <a:solidFill>
              <a:srgbClr val="B11F4B"/>
            </a:solidFill>
            <a:prstDash val="solid"/>
          </a:ln>
        </p:spPr>
      </p:sp>
      <p:sp>
        <p:nvSpPr>
          <p:cNvPr id="17" name="Text 14"/>
          <p:cNvSpPr/>
          <p:nvPr/>
        </p:nvSpPr>
        <p:spPr>
          <a:xfrm>
            <a:off x="6409944" y="4142232"/>
            <a:ext cx="4892040" cy="603504"/>
          </a:xfrm>
          <a:prstGeom prst="rect">
            <a:avLst/>
          </a:prstGeom>
          <a:noFill/>
          <a:ln/>
        </p:spPr>
        <p:txBody>
          <a:bodyPr wrap="square" lIns="0" tIns="0" rIns="0" bIns="0" rtlCol="0" anchor="ctr"/>
          <a:lstStyle/>
          <a:p>
            <a:pPr indent="0" marL="0">
              <a:buNone/>
            </a:pPr>
            <a:r>
              <a:rPr lang="en-US" sz="3000" b="1" dirty="0">
                <a:solidFill>
                  <a:srgbClr val="242424"/>
                </a:solidFill>
                <a:latin typeface="Aptos" pitchFamily="34" charset="0"/>
                <a:ea typeface="Aptos" pitchFamily="34" charset="-122"/>
                <a:cs typeface="Aptos" pitchFamily="34" charset="-120"/>
              </a:rPr>
              <a:t>Surprise me</a:t>
            </a:r>
            <a:endParaRPr lang="en-US" sz="3000" dirty="0"/>
          </a:p>
        </p:txBody>
      </p:sp>
      <p:sp>
        <p:nvSpPr>
          <p:cNvPr id="18" name="Text 15"/>
          <p:cNvSpPr/>
          <p:nvPr/>
        </p:nvSpPr>
        <p:spPr>
          <a:xfrm>
            <a:off x="6409944" y="4873752"/>
            <a:ext cx="4892040" cy="777240"/>
          </a:xfrm>
          <a:prstGeom prst="rect">
            <a:avLst/>
          </a:prstGeom>
          <a:noFill/>
          <a:ln/>
        </p:spPr>
        <p:txBody>
          <a:bodyPr wrap="square" lIns="0" tIns="0" rIns="0" bIns="0" rtlCol="0" anchor="t"/>
          <a:lstStyle/>
          <a:p>
            <a:pPr indent="0" marL="0">
              <a:buNone/>
            </a:pPr>
            <a:r>
              <a:rPr lang="en-US" sz="2100" dirty="0">
                <a:solidFill>
                  <a:srgbClr val="5C5C5C"/>
                </a:solidFill>
                <a:latin typeface="Aptos" pitchFamily="34" charset="0"/>
                <a:ea typeface="Aptos" pitchFamily="34" charset="-122"/>
                <a:cs typeface="Aptos" pitchFamily="34" charset="-120"/>
              </a:rPr>
              <a:t>Plan first.</a:t>
            </a:r>
            <a:endParaRPr lang="en-US" sz="2100" dirty="0"/>
          </a:p>
          <a:p>
            <a:pPr indent="0" marL="0">
              <a:buNone/>
            </a:pPr>
            <a:r>
              <a:rPr lang="en-US" sz="2100" dirty="0">
                <a:solidFill>
                  <a:srgbClr val="5C5C5C"/>
                </a:solidFill>
                <a:latin typeface="Aptos" pitchFamily="34" charset="0"/>
                <a:ea typeface="Aptos" pitchFamily="34" charset="-122"/>
                <a:cs typeface="Aptos" pitchFamily="34" charset="-120"/>
              </a:rPr>
              <a:t>Then change the evidence.</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One command.</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A real Copilot workflow.</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S4 · S5 · S19 · S20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11</a:t>
            </a:r>
            <a:endParaRPr lang="en-US" sz="1300" dirty="0"/>
          </a:p>
        </p:txBody>
      </p:sp>
      <p:sp>
        <p:nvSpPr>
          <p:cNvPr id="7" name="Shape 4"/>
          <p:cNvSpPr/>
          <p:nvPr/>
        </p:nvSpPr>
        <p:spPr>
          <a:xfrm>
            <a:off x="658368" y="2048256"/>
            <a:ext cx="10881360" cy="1508760"/>
          </a:xfrm>
          <a:prstGeom prst="roundRect">
            <a:avLst>
              <a:gd name="adj" fmla="val 9091"/>
            </a:avLst>
          </a:prstGeom>
          <a:solidFill>
            <a:srgbClr val="292929"/>
          </a:solidFill>
          <a:ln w="12700">
            <a:solidFill>
              <a:srgbClr val="292929">
                <a:alpha val="0"/>
              </a:srgbClr>
            </a:solidFill>
            <a:prstDash val="solid"/>
          </a:ln>
        </p:spPr>
      </p:sp>
      <p:sp>
        <p:nvSpPr>
          <p:cNvPr id="8" name="Text 5"/>
          <p:cNvSpPr/>
          <p:nvPr/>
        </p:nvSpPr>
        <p:spPr>
          <a:xfrm>
            <a:off x="960120" y="2523744"/>
            <a:ext cx="10268712" cy="521208"/>
          </a:xfrm>
          <a:prstGeom prst="rect">
            <a:avLst/>
          </a:prstGeom>
          <a:noFill/>
          <a:ln/>
        </p:spPr>
        <p:txBody>
          <a:bodyPr wrap="square" lIns="0" tIns="0" rIns="0" bIns="0" rtlCol="0" anchor="ctr"/>
          <a:lstStyle/>
          <a:p>
            <a:pPr indent="0" marL="0">
              <a:buNone/>
            </a:pPr>
            <a:r>
              <a:rPr lang="en-US" sz="2600" dirty="0">
                <a:solidFill>
                  <a:srgbClr val="FD8EA1"/>
                </a:solidFill>
                <a:latin typeface="Consolas" pitchFamily="34" charset="0"/>
                <a:ea typeface="Consolas" pitchFamily="34" charset="-122"/>
                <a:cs typeface="Consolas" pitchFamily="34" charset="-120"/>
              </a:rPr>
              <a:t>npm run native -- --live --pause --walkthrough</a:t>
            </a:r>
            <a:endParaRPr lang="en-US" sz="2600" dirty="0"/>
          </a:p>
        </p:txBody>
      </p:sp>
      <p:sp>
        <p:nvSpPr>
          <p:cNvPr id="9" name="Text 6"/>
          <p:cNvSpPr/>
          <p:nvPr/>
        </p:nvSpPr>
        <p:spPr>
          <a:xfrm>
            <a:off x="813816" y="4069080"/>
            <a:ext cx="4910328" cy="457200"/>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Analysis</a:t>
            </a:r>
            <a:endParaRPr lang="en-US" sz="2400" dirty="0"/>
          </a:p>
        </p:txBody>
      </p:sp>
      <p:sp>
        <p:nvSpPr>
          <p:cNvPr id="10" name="Text 7"/>
          <p:cNvSpPr/>
          <p:nvPr/>
        </p:nvSpPr>
        <p:spPr>
          <a:xfrm>
            <a:off x="813816" y="4663440"/>
            <a:ext cx="5120640" cy="594360"/>
          </a:xfrm>
          <a:prstGeom prst="rect">
            <a:avLst/>
          </a:prstGeom>
          <a:noFill/>
          <a:ln/>
        </p:spPr>
        <p:txBody>
          <a:bodyPr wrap="square" lIns="0" tIns="0" rIns="0" bIns="0" rtlCol="0" anchor="ctr"/>
          <a:lstStyle/>
          <a:p>
            <a:pPr indent="0" marL="0">
              <a:buNone/>
            </a:pPr>
            <a:r>
              <a:rPr lang="en-US" sz="3200" b="1" dirty="0">
                <a:solidFill>
                  <a:srgbClr val="DEDEDE"/>
                </a:solidFill>
                <a:latin typeface="Aptos" pitchFamily="34" charset="0"/>
                <a:ea typeface="Aptos" pitchFamily="34" charset="-122"/>
                <a:cs typeface="Aptos" pitchFamily="34" charset="-120"/>
              </a:rPr>
              <a:t>GPT-6.1 Sol / max</a:t>
            </a:r>
            <a:endParaRPr lang="en-US" sz="3200" dirty="0"/>
          </a:p>
        </p:txBody>
      </p:sp>
      <p:sp>
        <p:nvSpPr>
          <p:cNvPr id="11" name="Text 8"/>
          <p:cNvSpPr/>
          <p:nvPr/>
        </p:nvSpPr>
        <p:spPr>
          <a:xfrm>
            <a:off x="6409944" y="4069080"/>
            <a:ext cx="4910328" cy="457200"/>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Independent challenge</a:t>
            </a:r>
            <a:endParaRPr lang="en-US" sz="2400" dirty="0"/>
          </a:p>
        </p:txBody>
      </p:sp>
      <p:sp>
        <p:nvSpPr>
          <p:cNvPr id="12" name="Text 9"/>
          <p:cNvSpPr/>
          <p:nvPr/>
        </p:nvSpPr>
        <p:spPr>
          <a:xfrm>
            <a:off x="6409944" y="4663440"/>
            <a:ext cx="5120640" cy="594360"/>
          </a:xfrm>
          <a:prstGeom prst="rect">
            <a:avLst/>
          </a:prstGeom>
          <a:noFill/>
          <a:ln/>
        </p:spPr>
        <p:txBody>
          <a:bodyPr wrap="square" lIns="0" tIns="0" rIns="0" bIns="0" rtlCol="0" anchor="ctr"/>
          <a:lstStyle/>
          <a:p>
            <a:pPr indent="0" marL="0">
              <a:buNone/>
            </a:pPr>
            <a:r>
              <a:rPr lang="en-US" sz="3200" b="1" dirty="0">
                <a:solidFill>
                  <a:srgbClr val="DEDEDE"/>
                </a:solidFill>
                <a:latin typeface="Aptos" pitchFamily="34" charset="0"/>
                <a:ea typeface="Aptos" pitchFamily="34" charset="-122"/>
                <a:cs typeface="Aptos" pitchFamily="34" charset="-120"/>
              </a:rPr>
              <a:t>Sonnet 5.5 / high</a:t>
            </a:r>
            <a:endParaRPr lang="en-US" sz="3200" dirty="0"/>
          </a:p>
        </p:txBody>
      </p:sp>
      <p:sp>
        <p:nvSpPr>
          <p:cNvPr id="13" name="Text 10"/>
          <p:cNvSpPr/>
          <p:nvPr/>
        </p:nvSpPr>
        <p:spPr>
          <a:xfrm>
            <a:off x="841248" y="5650992"/>
            <a:ext cx="10515600" cy="502920"/>
          </a:xfrm>
          <a:prstGeom prst="rect">
            <a:avLst/>
          </a:prstGeom>
          <a:noFill/>
          <a:ln/>
        </p:spPr>
        <p:txBody>
          <a:bodyPr wrap="square" lIns="0" tIns="0" rIns="0" bIns="0" rtlCol="0" anchor="ctr"/>
          <a:lstStyle/>
          <a:p>
            <a:pPr indent="0" marL="0">
              <a:buNone/>
            </a:pPr>
            <a:r>
              <a:rPr lang="en-US" sz="2500" b="1" dirty="0">
                <a:solidFill>
                  <a:srgbClr val="B0B0B0"/>
                </a:solidFill>
                <a:latin typeface="Aptos" pitchFamily="34" charset="0"/>
                <a:ea typeface="Aptos" pitchFamily="34" charset="-122"/>
                <a:cs typeface="Aptos" pitchFamily="34" charset="-120"/>
              </a:rPr>
              <a:t>5 teaching stops: NEXT. Final draft review: APPROVE.</a:t>
            </a:r>
            <a:endParaRPr lang="en-US" sz="2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The surprise is new evidence,</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not a new prompt.</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12</a:t>
            </a:r>
            <a:endParaRPr lang="en-US" sz="1300" dirty="0"/>
          </a:p>
        </p:txBody>
      </p:sp>
      <p:sp>
        <p:nvSpPr>
          <p:cNvPr id="7" name="Text 4"/>
          <p:cNvSpPr/>
          <p:nvPr/>
        </p:nvSpPr>
        <p:spPr>
          <a:xfrm>
            <a:off x="731520" y="2157984"/>
            <a:ext cx="4160520" cy="1389888"/>
          </a:xfrm>
          <a:prstGeom prst="rect">
            <a:avLst/>
          </a:prstGeom>
          <a:noFill/>
          <a:ln/>
        </p:spPr>
        <p:txBody>
          <a:bodyPr wrap="square" lIns="0" tIns="0" rIns="0" bIns="0" rtlCol="0" anchor="ctr"/>
          <a:lstStyle/>
          <a:p>
            <a:pPr indent="0" marL="0">
              <a:buNone/>
            </a:pPr>
            <a:r>
              <a:rPr lang="en-US" sz="8600" b="1" dirty="0">
                <a:solidFill>
                  <a:srgbClr val="DEDEDE"/>
                </a:solidFill>
                <a:latin typeface="Aptos Display" pitchFamily="34" charset="0"/>
                <a:ea typeface="Aptos Display" pitchFamily="34" charset="-122"/>
                <a:cs typeface="Aptos Display" pitchFamily="34" charset="-120"/>
              </a:rPr>
              <a:t>1,800</a:t>
            </a:r>
            <a:endParaRPr lang="en-US" sz="8600" dirty="0"/>
          </a:p>
        </p:txBody>
      </p:sp>
      <p:sp>
        <p:nvSpPr>
          <p:cNvPr id="8" name="Text 5"/>
          <p:cNvSpPr/>
          <p:nvPr/>
        </p:nvSpPr>
        <p:spPr>
          <a:xfrm>
            <a:off x="5440680" y="2240280"/>
            <a:ext cx="1234440" cy="1188720"/>
          </a:xfrm>
          <a:prstGeom prst="rect">
            <a:avLst/>
          </a:prstGeom>
          <a:noFill/>
          <a:ln/>
        </p:spPr>
        <p:txBody>
          <a:bodyPr wrap="square" lIns="0" tIns="0" rIns="0" bIns="0" rtlCol="0" anchor="ctr"/>
          <a:lstStyle/>
          <a:p>
            <a:pPr algn="ctr" indent="0" marL="0">
              <a:buNone/>
            </a:pPr>
            <a:r>
              <a:rPr lang="en-US" sz="7200" dirty="0">
                <a:solidFill>
                  <a:srgbClr val="FD8EA1"/>
                </a:solidFill>
                <a:latin typeface="Aptos" pitchFamily="34" charset="0"/>
                <a:ea typeface="Aptos" pitchFamily="34" charset="-122"/>
                <a:cs typeface="Aptos" pitchFamily="34" charset="-120"/>
              </a:rPr>
              <a:t>→</a:t>
            </a:r>
            <a:endParaRPr lang="en-US" sz="7200" dirty="0"/>
          </a:p>
        </p:txBody>
      </p:sp>
      <p:sp>
        <p:nvSpPr>
          <p:cNvPr id="9" name="Text 6"/>
          <p:cNvSpPr/>
          <p:nvPr/>
        </p:nvSpPr>
        <p:spPr>
          <a:xfrm>
            <a:off x="7379208" y="2157984"/>
            <a:ext cx="4069080" cy="1389888"/>
          </a:xfrm>
          <a:prstGeom prst="rect">
            <a:avLst/>
          </a:prstGeom>
          <a:noFill/>
          <a:ln/>
        </p:spPr>
        <p:txBody>
          <a:bodyPr wrap="square" lIns="0" tIns="0" rIns="0" bIns="0" rtlCol="0" anchor="ctr"/>
          <a:lstStyle/>
          <a:p>
            <a:pPr indent="0" marL="0">
              <a:buNone/>
            </a:pPr>
            <a:r>
              <a:rPr lang="en-US" sz="8600" b="1" dirty="0">
                <a:solidFill>
                  <a:srgbClr val="FD8EA1"/>
                </a:solidFill>
                <a:latin typeface="Aptos Display" pitchFamily="34" charset="0"/>
                <a:ea typeface="Aptos Display" pitchFamily="34" charset="-122"/>
                <a:cs typeface="Aptos Display" pitchFamily="34" charset="-120"/>
              </a:rPr>
              <a:t>1,600</a:t>
            </a:r>
            <a:endParaRPr lang="en-US" sz="8600" dirty="0"/>
          </a:p>
        </p:txBody>
      </p:sp>
      <p:sp>
        <p:nvSpPr>
          <p:cNvPr id="10" name="Text 7"/>
          <p:cNvSpPr/>
          <p:nvPr/>
        </p:nvSpPr>
        <p:spPr>
          <a:xfrm>
            <a:off x="832104" y="3675888"/>
            <a:ext cx="4069080" cy="502920"/>
          </a:xfrm>
          <a:prstGeom prst="rect">
            <a:avLst/>
          </a:prstGeom>
          <a:noFill/>
          <a:ln/>
        </p:spPr>
        <p:txBody>
          <a:bodyPr wrap="square" lIns="0" tIns="0" rIns="0" bIns="0" rtlCol="0" anchor="ctr"/>
          <a:lstStyle/>
          <a:p>
            <a:pPr indent="0" marL="0">
              <a:buNone/>
            </a:pPr>
            <a:r>
              <a:rPr lang="en-US" sz="2500" dirty="0">
                <a:solidFill>
                  <a:srgbClr val="B0B0B0"/>
                </a:solidFill>
                <a:latin typeface="Aptos" pitchFamily="34" charset="0"/>
                <a:ea typeface="Aptos" pitchFamily="34" charset="-122"/>
                <a:cs typeface="Aptos" pitchFamily="34" charset="-120"/>
              </a:rPr>
              <a:t>planned main hall seats</a:t>
            </a:r>
            <a:endParaRPr lang="en-US" sz="2500" dirty="0"/>
          </a:p>
        </p:txBody>
      </p:sp>
      <p:sp>
        <p:nvSpPr>
          <p:cNvPr id="11" name="Text 8"/>
          <p:cNvSpPr/>
          <p:nvPr/>
        </p:nvSpPr>
        <p:spPr>
          <a:xfrm>
            <a:off x="7470648" y="3675888"/>
            <a:ext cx="3977640" cy="502920"/>
          </a:xfrm>
          <a:prstGeom prst="rect">
            <a:avLst/>
          </a:prstGeom>
          <a:noFill/>
          <a:ln/>
        </p:spPr>
        <p:txBody>
          <a:bodyPr wrap="square" lIns="0" tIns="0" rIns="0" bIns="0" rtlCol="0" anchor="ctr"/>
          <a:lstStyle/>
          <a:p>
            <a:pPr indent="0" marL="0">
              <a:buNone/>
            </a:pPr>
            <a:r>
              <a:rPr lang="en-US" sz="2500" dirty="0">
                <a:solidFill>
                  <a:srgbClr val="B0B0B0"/>
                </a:solidFill>
                <a:latin typeface="Aptos" pitchFamily="34" charset="0"/>
                <a:ea typeface="Aptos" pitchFamily="34" charset="-122"/>
                <a:cs typeface="Aptos" pitchFamily="34" charset="-120"/>
              </a:rPr>
              <a:t>current main hall seats</a:t>
            </a:r>
            <a:endParaRPr lang="en-US" sz="2500" dirty="0"/>
          </a:p>
        </p:txBody>
      </p:sp>
      <p:sp>
        <p:nvSpPr>
          <p:cNvPr id="12" name="Shape 9"/>
          <p:cNvSpPr/>
          <p:nvPr/>
        </p:nvSpPr>
        <p:spPr>
          <a:xfrm>
            <a:off x="859536" y="4791456"/>
            <a:ext cx="3328416" cy="384048"/>
          </a:xfrm>
          <a:prstGeom prst="roundRect">
            <a:avLst/>
          </a:prstGeom>
          <a:solidFill>
            <a:srgbClr val="FD8EA1"/>
          </a:solidFill>
          <a:ln w="12700">
            <a:solidFill>
              <a:srgbClr val="FD8EA1">
                <a:alpha val="0"/>
              </a:srgbClr>
            </a:solidFill>
            <a:prstDash val="solid"/>
          </a:ln>
        </p:spPr>
      </p:sp>
      <p:sp>
        <p:nvSpPr>
          <p:cNvPr id="13" name="Text 10"/>
          <p:cNvSpPr/>
          <p:nvPr/>
        </p:nvSpPr>
        <p:spPr>
          <a:xfrm>
            <a:off x="978408" y="4837176"/>
            <a:ext cx="3090672" cy="274320"/>
          </a:xfrm>
          <a:prstGeom prst="rect">
            <a:avLst/>
          </a:prstGeom>
          <a:noFill/>
          <a:ln/>
        </p:spPr>
        <p:txBody>
          <a:bodyPr wrap="square" lIns="0" tIns="0" rIns="0" bIns="0" rtlCol="0" anchor="ctr"/>
          <a:lstStyle/>
          <a:p>
            <a:pPr algn="ctr" indent="0" marL="0">
              <a:buNone/>
            </a:pPr>
            <a:r>
              <a:rPr lang="en-US" sz="1800" b="1" dirty="0">
                <a:solidFill>
                  <a:srgbClr val="3D3B3A"/>
                </a:solidFill>
                <a:latin typeface="Aptos" pitchFamily="34" charset="0"/>
                <a:ea typeface="Aptos" pitchFamily="34" charset="-122"/>
                <a:cs typeface="Aptos" pitchFamily="34" charset="-120"/>
              </a:rPr>
              <a:t>C-CAPACITY: FAIL</a:t>
            </a:r>
            <a:endParaRPr lang="en-US" sz="1800" dirty="0"/>
          </a:p>
        </p:txBody>
      </p:sp>
      <p:sp>
        <p:nvSpPr>
          <p:cNvPr id="14" name="Text 11"/>
          <p:cNvSpPr/>
          <p:nvPr/>
        </p:nvSpPr>
        <p:spPr>
          <a:xfrm>
            <a:off x="4599432" y="4608576"/>
            <a:ext cx="6775704" cy="1115568"/>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200 seats over capacity.</a:t>
            </a:r>
            <a:endParaRPr lang="en-US" sz="2800" dirty="0"/>
          </a:p>
          <a:p>
            <a:pPr indent="0" marL="0">
              <a:buNone/>
            </a:pPr>
            <a:r>
              <a:rPr lang="en-US" sz="2800" b="1" dirty="0">
                <a:solidFill>
                  <a:srgbClr val="DEDEDE"/>
                </a:solidFill>
                <a:latin typeface="Aptos" pitchFamily="34" charset="0"/>
                <a:ea typeface="Aptos" pitchFamily="34" charset="-122"/>
                <a:cs typeface="Aptos" pitchFamily="34" charset="-120"/>
              </a:rPr>
              <a:t>The candidate must adapt.</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A failed check changes the graph.</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13</a:t>
            </a:r>
            <a:endParaRPr lang="en-US" sz="1300" dirty="0"/>
          </a:p>
        </p:txBody>
      </p:sp>
      <p:sp>
        <p:nvSpPr>
          <p:cNvPr id="7" name="Shape 4"/>
          <p:cNvSpPr/>
          <p:nvPr/>
        </p:nvSpPr>
        <p:spPr>
          <a:xfrm>
            <a:off x="777240" y="2048256"/>
            <a:ext cx="2286000" cy="914400"/>
          </a:xfrm>
          <a:prstGeom prst="roundRect">
            <a:avLst>
              <a:gd name="adj" fmla="val 10000"/>
            </a:avLst>
          </a:prstGeom>
          <a:solidFill>
            <a:srgbClr val="FFFFFF"/>
          </a:solidFill>
          <a:ln w="16510">
            <a:solidFill>
              <a:srgbClr val="DEDEDE"/>
            </a:solidFill>
            <a:prstDash val="solid"/>
          </a:ln>
        </p:spPr>
      </p:sp>
      <p:sp>
        <p:nvSpPr>
          <p:cNvPr id="8" name="Text 5"/>
          <p:cNvSpPr/>
          <p:nvPr/>
        </p:nvSpPr>
        <p:spPr>
          <a:xfrm>
            <a:off x="896112" y="2139696"/>
            <a:ext cx="2048256" cy="731520"/>
          </a:xfrm>
          <a:prstGeom prst="rect">
            <a:avLst/>
          </a:prstGeom>
          <a:noFill/>
          <a:ln/>
        </p:spPr>
        <p:txBody>
          <a:bodyPr wrap="square" lIns="0" tIns="0" rIns="0" bIns="0" rtlCol="0" anchor="ctr"/>
          <a:lstStyle/>
          <a:p>
            <a:pPr algn="ctr" indent="0" marL="0">
              <a:buNone/>
            </a:pPr>
            <a:r>
              <a:rPr lang="en-US" sz="2400" b="1" dirty="0">
                <a:solidFill>
                  <a:srgbClr val="242424"/>
                </a:solidFill>
                <a:latin typeface="Aptos" pitchFamily="34" charset="0"/>
                <a:ea typeface="Aptos" pitchFamily="34" charset="-122"/>
                <a:cs typeface="Aptos" pitchFamily="34" charset="-120"/>
              </a:rPr>
              <a:t>Retry repair</a:t>
            </a:r>
            <a:endParaRPr lang="en-US" sz="2400" dirty="0"/>
          </a:p>
        </p:txBody>
      </p:sp>
      <p:sp>
        <p:nvSpPr>
          <p:cNvPr id="9" name="Shape 6"/>
          <p:cNvSpPr/>
          <p:nvPr/>
        </p:nvSpPr>
        <p:spPr>
          <a:xfrm>
            <a:off x="4352544" y="2048256"/>
            <a:ext cx="2286000" cy="914400"/>
          </a:xfrm>
          <a:prstGeom prst="roundRect">
            <a:avLst>
              <a:gd name="adj" fmla="val 10000"/>
            </a:avLst>
          </a:prstGeom>
          <a:solidFill>
            <a:srgbClr val="B11F4B"/>
          </a:solidFill>
          <a:ln w="16510">
            <a:solidFill>
              <a:srgbClr val="B11F4B"/>
            </a:solidFill>
            <a:prstDash val="solid"/>
          </a:ln>
        </p:spPr>
      </p:sp>
      <p:sp>
        <p:nvSpPr>
          <p:cNvPr id="10" name="Text 7"/>
          <p:cNvSpPr/>
          <p:nvPr/>
        </p:nvSpPr>
        <p:spPr>
          <a:xfrm>
            <a:off x="4471416" y="2139696"/>
            <a:ext cx="2048256" cy="731520"/>
          </a:xfrm>
          <a:prstGeom prst="rect">
            <a:avLst/>
          </a:prstGeom>
          <a:noFill/>
          <a:ln/>
        </p:spPr>
        <p:txBody>
          <a:bodyPr wrap="square" lIns="0" tIns="0" rIns="0" bIns="0" rtlCol="0" anchor="ctr"/>
          <a:lstStyle/>
          <a:p>
            <a:pPr algn="ctr" indent="0" marL="0">
              <a:buNone/>
            </a:pPr>
            <a:r>
              <a:rPr lang="en-US" sz="2400" b="1" dirty="0">
                <a:solidFill>
                  <a:srgbClr val="F7F4EF"/>
                </a:solidFill>
                <a:latin typeface="Aptos" pitchFamily="34" charset="0"/>
                <a:ea typeface="Aptos" pitchFamily="34" charset="-122"/>
                <a:cs typeface="Aptos" pitchFamily="34" charset="-120"/>
              </a:rPr>
              <a:t>Check fails</a:t>
            </a:r>
            <a:endParaRPr lang="en-US" sz="2400" dirty="0"/>
          </a:p>
        </p:txBody>
      </p:sp>
      <p:sp>
        <p:nvSpPr>
          <p:cNvPr id="11" name="Shape 8"/>
          <p:cNvSpPr/>
          <p:nvPr/>
        </p:nvSpPr>
        <p:spPr>
          <a:xfrm>
            <a:off x="8522208" y="2048256"/>
            <a:ext cx="2788920" cy="914400"/>
          </a:xfrm>
          <a:prstGeom prst="roundRect">
            <a:avLst>
              <a:gd name="adj" fmla="val 10000"/>
            </a:avLst>
          </a:prstGeom>
          <a:solidFill>
            <a:srgbClr val="FFFFFF"/>
          </a:solidFill>
          <a:ln w="16510">
            <a:solidFill>
              <a:srgbClr val="DEDEDE"/>
            </a:solidFill>
            <a:prstDash val="solid"/>
          </a:ln>
        </p:spPr>
      </p:sp>
      <p:sp>
        <p:nvSpPr>
          <p:cNvPr id="12" name="Text 9"/>
          <p:cNvSpPr/>
          <p:nvPr/>
        </p:nvSpPr>
        <p:spPr>
          <a:xfrm>
            <a:off x="8641080" y="2139696"/>
            <a:ext cx="2551176" cy="731520"/>
          </a:xfrm>
          <a:prstGeom prst="rect">
            <a:avLst/>
          </a:prstGeom>
          <a:noFill/>
          <a:ln/>
        </p:spPr>
        <p:txBody>
          <a:bodyPr wrap="square" lIns="0" tIns="0" rIns="0" bIns="0" rtlCol="0" anchor="ctr"/>
          <a:lstStyle/>
          <a:p>
            <a:pPr algn="ctr" indent="0" marL="0">
              <a:buNone/>
            </a:pPr>
            <a:r>
              <a:rPr lang="en-US" sz="2400" b="1" dirty="0">
                <a:solidFill>
                  <a:srgbClr val="242424"/>
                </a:solidFill>
                <a:latin typeface="Aptos" pitchFamily="34" charset="0"/>
                <a:ea typeface="Aptos" pitchFamily="34" charset="-122"/>
                <a:cs typeface="Aptos" pitchFamily="34" charset="-120"/>
              </a:rPr>
              <a:t>New inventory</a:t>
            </a:r>
            <a:endParaRPr lang="en-US" sz="2400" dirty="0"/>
          </a:p>
        </p:txBody>
      </p:sp>
      <p:sp>
        <p:nvSpPr>
          <p:cNvPr id="13" name="Shape 10"/>
          <p:cNvSpPr/>
          <p:nvPr/>
        </p:nvSpPr>
        <p:spPr>
          <a:xfrm>
            <a:off x="3063240" y="2505456"/>
            <a:ext cx="1289304" cy="0"/>
          </a:xfrm>
          <a:prstGeom prst="line">
            <a:avLst/>
          </a:prstGeom>
          <a:noFill/>
          <a:ln w="25400">
            <a:solidFill>
              <a:srgbClr val="B11F4B"/>
            </a:solidFill>
            <a:prstDash val="solid"/>
            <a:tailEnd type="triangle"/>
          </a:ln>
        </p:spPr>
      </p:sp>
      <p:sp>
        <p:nvSpPr>
          <p:cNvPr id="14" name="Shape 11"/>
          <p:cNvSpPr/>
          <p:nvPr/>
        </p:nvSpPr>
        <p:spPr>
          <a:xfrm>
            <a:off x="6638544" y="2505456"/>
            <a:ext cx="1883664" cy="0"/>
          </a:xfrm>
          <a:prstGeom prst="line">
            <a:avLst/>
          </a:prstGeom>
          <a:noFill/>
          <a:ln w="25400">
            <a:solidFill>
              <a:srgbClr val="B11F4B"/>
            </a:solidFill>
            <a:prstDash val="solid"/>
            <a:tailEnd type="triangle"/>
          </a:ln>
        </p:spPr>
      </p:sp>
      <p:sp>
        <p:nvSpPr>
          <p:cNvPr id="15" name="Shape 12"/>
          <p:cNvSpPr/>
          <p:nvPr/>
        </p:nvSpPr>
        <p:spPr>
          <a:xfrm>
            <a:off x="777240" y="4105656"/>
            <a:ext cx="3401568" cy="932688"/>
          </a:xfrm>
          <a:prstGeom prst="roundRect">
            <a:avLst>
              <a:gd name="adj" fmla="val 9804"/>
            </a:avLst>
          </a:prstGeom>
          <a:solidFill>
            <a:srgbClr val="FFFFFF"/>
          </a:solidFill>
          <a:ln w="16510">
            <a:solidFill>
              <a:srgbClr val="DEDEDE"/>
            </a:solidFill>
            <a:prstDash val="solid"/>
          </a:ln>
        </p:spPr>
      </p:sp>
      <p:sp>
        <p:nvSpPr>
          <p:cNvPr id="16" name="Text 13"/>
          <p:cNvSpPr/>
          <p:nvPr/>
        </p:nvSpPr>
        <p:spPr>
          <a:xfrm>
            <a:off x="896112" y="4197096"/>
            <a:ext cx="3163824" cy="749808"/>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Verified retry repair</a:t>
            </a:r>
            <a:endParaRPr lang="en-US" sz="2200" dirty="0"/>
          </a:p>
        </p:txBody>
      </p:sp>
      <p:sp>
        <p:nvSpPr>
          <p:cNvPr id="17" name="Shape 14"/>
          <p:cNvSpPr/>
          <p:nvPr/>
        </p:nvSpPr>
        <p:spPr>
          <a:xfrm>
            <a:off x="1920240" y="2962656"/>
            <a:ext cx="0" cy="1143000"/>
          </a:xfrm>
          <a:prstGeom prst="line">
            <a:avLst/>
          </a:prstGeom>
          <a:noFill/>
          <a:ln w="22860">
            <a:solidFill>
              <a:srgbClr val="5C5C5C"/>
            </a:solidFill>
            <a:prstDash val="dash"/>
            <a:tailEnd type="triangle"/>
          </a:ln>
        </p:spPr>
      </p:sp>
      <p:sp>
        <p:nvSpPr>
          <p:cNvPr id="18" name="Shape 15"/>
          <p:cNvSpPr/>
          <p:nvPr/>
        </p:nvSpPr>
        <p:spPr>
          <a:xfrm>
            <a:off x="4636008" y="4105656"/>
            <a:ext cx="3493008" cy="932688"/>
          </a:xfrm>
          <a:prstGeom prst="roundRect">
            <a:avLst>
              <a:gd name="adj" fmla="val 9804"/>
            </a:avLst>
          </a:prstGeom>
          <a:solidFill>
            <a:srgbClr val="B11F4B"/>
          </a:solidFill>
          <a:ln w="16510">
            <a:solidFill>
              <a:srgbClr val="B11F4B"/>
            </a:solidFill>
            <a:prstDash val="solid"/>
          </a:ln>
        </p:spPr>
      </p:sp>
      <p:sp>
        <p:nvSpPr>
          <p:cNvPr id="19" name="Text 16"/>
          <p:cNvSpPr/>
          <p:nvPr/>
        </p:nvSpPr>
        <p:spPr>
          <a:xfrm>
            <a:off x="4754880" y="4197096"/>
            <a:ext cx="3255264" cy="749808"/>
          </a:xfrm>
          <a:prstGeom prst="rect">
            <a:avLst/>
          </a:prstGeom>
          <a:noFill/>
          <a:ln/>
        </p:spPr>
        <p:txBody>
          <a:bodyPr wrap="square" lIns="0" tIns="0" rIns="0" bIns="0" rtlCol="0" anchor="ctr"/>
          <a:lstStyle/>
          <a:p>
            <a:pPr algn="ctr" indent="0" marL="0">
              <a:buNone/>
            </a:pPr>
            <a:r>
              <a:rPr lang="en-US" sz="2400" b="1" dirty="0">
                <a:solidFill>
                  <a:srgbClr val="F7F4EF"/>
                </a:solidFill>
                <a:latin typeface="Aptos" pitchFamily="34" charset="0"/>
                <a:ea typeface="Aptos" pitchFamily="34" charset="-122"/>
                <a:cs typeface="Aptos" pitchFamily="34" charset="-120"/>
              </a:rPr>
              <a:t>Capacity specialist</a:t>
            </a:r>
            <a:endParaRPr lang="en-US" sz="2400" dirty="0"/>
          </a:p>
        </p:txBody>
      </p:sp>
      <p:sp>
        <p:nvSpPr>
          <p:cNvPr id="20" name="Shape 17"/>
          <p:cNvSpPr/>
          <p:nvPr/>
        </p:nvSpPr>
        <p:spPr>
          <a:xfrm>
            <a:off x="8741664" y="4105656"/>
            <a:ext cx="2569464" cy="932688"/>
          </a:xfrm>
          <a:prstGeom prst="roundRect">
            <a:avLst>
              <a:gd name="adj" fmla="val 9804"/>
            </a:avLst>
          </a:prstGeom>
          <a:solidFill>
            <a:srgbClr val="FFFFFF"/>
          </a:solidFill>
          <a:ln w="16510">
            <a:solidFill>
              <a:srgbClr val="DEDEDE"/>
            </a:solidFill>
            <a:prstDash val="solid"/>
          </a:ln>
        </p:spPr>
      </p:sp>
      <p:sp>
        <p:nvSpPr>
          <p:cNvPr id="21" name="Text 18"/>
          <p:cNvSpPr/>
          <p:nvPr/>
        </p:nvSpPr>
        <p:spPr>
          <a:xfrm>
            <a:off x="8860536" y="4197096"/>
            <a:ext cx="2331720" cy="749808"/>
          </a:xfrm>
          <a:prstGeom prst="rect">
            <a:avLst/>
          </a:prstGeom>
          <a:noFill/>
          <a:ln/>
        </p:spPr>
        <p:txBody>
          <a:bodyPr wrap="square" lIns="0" tIns="0" rIns="0" bIns="0" rtlCol="0" anchor="ctr"/>
          <a:lstStyle/>
          <a:p>
            <a:pPr algn="ctr" indent="0" marL="0">
              <a:buNone/>
            </a:pPr>
            <a:r>
              <a:rPr lang="en-US" sz="2500" b="1" dirty="0">
                <a:solidFill>
                  <a:srgbClr val="242424"/>
                </a:solidFill>
                <a:latin typeface="Aptos" pitchFamily="34" charset="0"/>
                <a:ea typeface="Aptos" pitchFamily="34" charset="-122"/>
                <a:cs typeface="Aptos" pitchFamily="34" charset="-120"/>
              </a:rPr>
              <a:t>Verify again</a:t>
            </a:r>
            <a:endParaRPr lang="en-US" sz="2500" dirty="0"/>
          </a:p>
        </p:txBody>
      </p:sp>
      <p:sp>
        <p:nvSpPr>
          <p:cNvPr id="22" name="Shape 19"/>
          <p:cNvSpPr/>
          <p:nvPr/>
        </p:nvSpPr>
        <p:spPr>
          <a:xfrm>
            <a:off x="9912096" y="2962656"/>
            <a:ext cx="0" cy="612648"/>
          </a:xfrm>
          <a:prstGeom prst="line">
            <a:avLst/>
          </a:prstGeom>
          <a:noFill/>
          <a:ln w="25400">
            <a:solidFill>
              <a:srgbClr val="B11F4B"/>
            </a:solidFill>
            <a:prstDash val="solid"/>
            <a:tailEnd type="none"/>
          </a:ln>
        </p:spPr>
      </p:sp>
      <p:sp>
        <p:nvSpPr>
          <p:cNvPr id="23" name="Shape 20"/>
          <p:cNvSpPr/>
          <p:nvPr/>
        </p:nvSpPr>
        <p:spPr>
          <a:xfrm flipH="1">
            <a:off x="6382512" y="3575304"/>
            <a:ext cx="3529584" cy="0"/>
          </a:xfrm>
          <a:prstGeom prst="line">
            <a:avLst/>
          </a:prstGeom>
          <a:noFill/>
          <a:ln w="25400">
            <a:solidFill>
              <a:srgbClr val="B11F4B"/>
            </a:solidFill>
            <a:prstDash val="solid"/>
            <a:tailEnd type="none"/>
          </a:ln>
        </p:spPr>
      </p:sp>
      <p:sp>
        <p:nvSpPr>
          <p:cNvPr id="24" name="Shape 21"/>
          <p:cNvSpPr/>
          <p:nvPr/>
        </p:nvSpPr>
        <p:spPr>
          <a:xfrm>
            <a:off x="6382512" y="3575304"/>
            <a:ext cx="0" cy="530352"/>
          </a:xfrm>
          <a:prstGeom prst="line">
            <a:avLst/>
          </a:prstGeom>
          <a:noFill/>
          <a:ln w="25400">
            <a:solidFill>
              <a:srgbClr val="B11F4B"/>
            </a:solidFill>
            <a:prstDash val="solid"/>
            <a:tailEnd type="triangle"/>
          </a:ln>
        </p:spPr>
      </p:sp>
      <p:sp>
        <p:nvSpPr>
          <p:cNvPr id="25" name="Shape 22"/>
          <p:cNvSpPr/>
          <p:nvPr/>
        </p:nvSpPr>
        <p:spPr>
          <a:xfrm>
            <a:off x="4178808" y="4572000"/>
            <a:ext cx="457200" cy="0"/>
          </a:xfrm>
          <a:prstGeom prst="line">
            <a:avLst/>
          </a:prstGeom>
          <a:noFill/>
          <a:ln w="22860">
            <a:solidFill>
              <a:srgbClr val="5C5C5C"/>
            </a:solidFill>
            <a:prstDash val="dash"/>
            <a:tailEnd type="triangle"/>
          </a:ln>
        </p:spPr>
      </p:sp>
      <p:sp>
        <p:nvSpPr>
          <p:cNvPr id="26" name="Shape 23"/>
          <p:cNvSpPr/>
          <p:nvPr/>
        </p:nvSpPr>
        <p:spPr>
          <a:xfrm>
            <a:off x="8129016" y="4572000"/>
            <a:ext cx="612648" cy="0"/>
          </a:xfrm>
          <a:prstGeom prst="line">
            <a:avLst/>
          </a:prstGeom>
          <a:noFill/>
          <a:ln w="25400">
            <a:solidFill>
              <a:srgbClr val="B11F4B"/>
            </a:solidFill>
            <a:prstDash val="solid"/>
            <a:tailEnd type="triangle"/>
          </a:ln>
        </p:spPr>
      </p:sp>
      <p:sp>
        <p:nvSpPr>
          <p:cNvPr id="27" name="Text 24"/>
          <p:cNvSpPr/>
          <p:nvPr/>
        </p:nvSpPr>
        <p:spPr>
          <a:xfrm>
            <a:off x="886968" y="5532120"/>
            <a:ext cx="10515600" cy="466344"/>
          </a:xfrm>
          <a:prstGeom prst="rect">
            <a:avLst/>
          </a:prstGeom>
          <a:noFill/>
          <a:ln/>
        </p:spPr>
        <p:txBody>
          <a:bodyPr wrap="square" lIns="0" tIns="0" rIns="0" bIns="0" rtlCol="0" anchor="ctr"/>
          <a:lstStyle/>
          <a:p>
            <a:pPr indent="0" marL="0">
              <a:buNone/>
            </a:pPr>
            <a:r>
              <a:rPr lang="en-US" sz="3100" b="1" dirty="0">
                <a:solidFill>
                  <a:srgbClr val="B11F4B"/>
                </a:solidFill>
                <a:latin typeface="Aptos" pitchFamily="34" charset="0"/>
                <a:ea typeface="Aptos" pitchFamily="34" charset="-122"/>
                <a:cs typeface="Aptos" pitchFamily="34" charset="-120"/>
              </a:rPr>
              <a:t>Same process. A different path.</a:t>
            </a:r>
            <a:endParaRPr lang="en-US" sz="3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Passing checks is not permission.</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14</a:t>
            </a:r>
            <a:endParaRPr lang="en-US" sz="1300" dirty="0"/>
          </a:p>
        </p:txBody>
      </p:sp>
      <p:sp>
        <p:nvSpPr>
          <p:cNvPr id="7" name="Shape 4"/>
          <p:cNvSpPr/>
          <p:nvPr/>
        </p:nvSpPr>
        <p:spPr>
          <a:xfrm>
            <a:off x="795528" y="2075688"/>
            <a:ext cx="2816352" cy="969264"/>
          </a:xfrm>
          <a:prstGeom prst="roundRect">
            <a:avLst>
              <a:gd name="adj" fmla="val 9434"/>
            </a:avLst>
          </a:prstGeom>
          <a:solidFill>
            <a:srgbClr val="292929"/>
          </a:solidFill>
          <a:ln w="16510">
            <a:solidFill>
              <a:srgbClr val="5F5F5F"/>
            </a:solidFill>
            <a:prstDash val="solid"/>
          </a:ln>
        </p:spPr>
      </p:sp>
      <p:sp>
        <p:nvSpPr>
          <p:cNvPr id="8" name="Text 5"/>
          <p:cNvSpPr/>
          <p:nvPr/>
        </p:nvSpPr>
        <p:spPr>
          <a:xfrm>
            <a:off x="914400" y="2167128"/>
            <a:ext cx="2578608" cy="786384"/>
          </a:xfrm>
          <a:prstGeom prst="rect">
            <a:avLst/>
          </a:prstGeom>
          <a:noFill/>
          <a:ln/>
        </p:spPr>
        <p:txBody>
          <a:bodyPr wrap="square" lIns="0" tIns="0" rIns="0" bIns="0" rtlCol="0" anchor="ctr"/>
          <a:lstStyle/>
          <a:p>
            <a:pPr algn="ctr" indent="0" marL="0">
              <a:buNone/>
            </a:pPr>
            <a:r>
              <a:rPr lang="en-US" sz="2800" b="1" dirty="0">
                <a:solidFill>
                  <a:srgbClr val="DEDEDE"/>
                </a:solidFill>
                <a:latin typeface="Aptos" pitchFamily="34" charset="0"/>
                <a:ea typeface="Aptos" pitchFamily="34" charset="-122"/>
                <a:cs typeface="Aptos" pitchFamily="34" charset="-120"/>
              </a:rPr>
              <a:t>3 checks pass</a:t>
            </a:r>
            <a:endParaRPr lang="en-US" sz="2800" dirty="0"/>
          </a:p>
        </p:txBody>
      </p:sp>
      <p:sp>
        <p:nvSpPr>
          <p:cNvPr id="9" name="Shape 6"/>
          <p:cNvSpPr/>
          <p:nvPr/>
        </p:nvSpPr>
        <p:spPr>
          <a:xfrm>
            <a:off x="4672584" y="2075688"/>
            <a:ext cx="2816352" cy="969264"/>
          </a:xfrm>
          <a:prstGeom prst="roundRect">
            <a:avLst>
              <a:gd name="adj" fmla="val 9434"/>
            </a:avLst>
          </a:prstGeom>
          <a:solidFill>
            <a:srgbClr val="292929"/>
          </a:solidFill>
          <a:ln w="16510">
            <a:solidFill>
              <a:srgbClr val="5F5F5F"/>
            </a:solidFill>
            <a:prstDash val="solid"/>
          </a:ln>
        </p:spPr>
      </p:sp>
      <p:sp>
        <p:nvSpPr>
          <p:cNvPr id="10" name="Text 7"/>
          <p:cNvSpPr/>
          <p:nvPr/>
        </p:nvSpPr>
        <p:spPr>
          <a:xfrm>
            <a:off x="4791456" y="2167128"/>
            <a:ext cx="2578608"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Independent review</a:t>
            </a:r>
            <a:endParaRPr lang="en-US" sz="2500" dirty="0"/>
          </a:p>
        </p:txBody>
      </p:sp>
      <p:sp>
        <p:nvSpPr>
          <p:cNvPr id="11" name="Shape 8"/>
          <p:cNvSpPr/>
          <p:nvPr/>
        </p:nvSpPr>
        <p:spPr>
          <a:xfrm>
            <a:off x="8549640" y="2075688"/>
            <a:ext cx="2816352" cy="969264"/>
          </a:xfrm>
          <a:prstGeom prst="roundRect">
            <a:avLst>
              <a:gd name="adj" fmla="val 9434"/>
            </a:avLst>
          </a:prstGeom>
          <a:solidFill>
            <a:srgbClr val="FD8EA1"/>
          </a:solidFill>
          <a:ln w="16510">
            <a:solidFill>
              <a:srgbClr val="FD8EA1"/>
            </a:solidFill>
            <a:prstDash val="solid"/>
          </a:ln>
        </p:spPr>
      </p:sp>
      <p:sp>
        <p:nvSpPr>
          <p:cNvPr id="12" name="Text 9"/>
          <p:cNvSpPr/>
          <p:nvPr/>
        </p:nvSpPr>
        <p:spPr>
          <a:xfrm>
            <a:off x="8668512" y="2167128"/>
            <a:ext cx="2578608" cy="786384"/>
          </a:xfrm>
          <a:prstGeom prst="rect">
            <a:avLst/>
          </a:prstGeom>
          <a:noFill/>
          <a:ln/>
        </p:spPr>
        <p:txBody>
          <a:bodyPr wrap="square" lIns="0" tIns="0" rIns="0" bIns="0" rtlCol="0" anchor="ctr"/>
          <a:lstStyle/>
          <a:p>
            <a:pPr algn="ctr" indent="0" marL="0">
              <a:buNone/>
            </a:pPr>
            <a:r>
              <a:rPr lang="en-US" sz="2600" b="1" dirty="0">
                <a:solidFill>
                  <a:srgbClr val="3D3B3A"/>
                </a:solidFill>
                <a:latin typeface="Aptos" pitchFamily="34" charset="0"/>
                <a:ea typeface="Aptos" pitchFamily="34" charset="-122"/>
                <a:cs typeface="Aptos" pitchFamily="34" charset="-120"/>
              </a:rPr>
              <a:t>Human checkpoint</a:t>
            </a:r>
            <a:endParaRPr lang="en-US" sz="2600" dirty="0"/>
          </a:p>
        </p:txBody>
      </p:sp>
      <p:sp>
        <p:nvSpPr>
          <p:cNvPr id="13" name="Shape 10"/>
          <p:cNvSpPr/>
          <p:nvPr/>
        </p:nvSpPr>
        <p:spPr>
          <a:xfrm>
            <a:off x="3611880" y="2560320"/>
            <a:ext cx="1060704" cy="0"/>
          </a:xfrm>
          <a:prstGeom prst="line">
            <a:avLst/>
          </a:prstGeom>
          <a:noFill/>
          <a:ln w="25400">
            <a:solidFill>
              <a:srgbClr val="FD8EA1"/>
            </a:solidFill>
            <a:prstDash val="solid"/>
            <a:tailEnd type="triangle"/>
          </a:ln>
        </p:spPr>
      </p:sp>
      <p:sp>
        <p:nvSpPr>
          <p:cNvPr id="14" name="Shape 11"/>
          <p:cNvSpPr/>
          <p:nvPr/>
        </p:nvSpPr>
        <p:spPr>
          <a:xfrm>
            <a:off x="7488936" y="2560320"/>
            <a:ext cx="1060704" cy="0"/>
          </a:xfrm>
          <a:prstGeom prst="line">
            <a:avLst/>
          </a:prstGeom>
          <a:noFill/>
          <a:ln w="25400">
            <a:solidFill>
              <a:srgbClr val="FD8EA1"/>
            </a:solidFill>
            <a:prstDash val="solid"/>
            <a:tailEnd type="triangle"/>
          </a:ln>
        </p:spPr>
      </p:sp>
      <p:sp>
        <p:nvSpPr>
          <p:cNvPr id="15" name="Text 12"/>
          <p:cNvSpPr/>
          <p:nvPr/>
        </p:nvSpPr>
        <p:spPr>
          <a:xfrm>
            <a:off x="850392" y="3739896"/>
            <a:ext cx="10607040" cy="612648"/>
          </a:xfrm>
          <a:prstGeom prst="rect">
            <a:avLst/>
          </a:prstGeom>
          <a:noFill/>
          <a:ln/>
        </p:spPr>
        <p:txBody>
          <a:bodyPr wrap="square" lIns="0" tIns="0" rIns="0" bIns="0" rtlCol="0" anchor="ctr"/>
          <a:lstStyle/>
          <a:p>
            <a:pPr indent="0" marL="0">
              <a:buNone/>
            </a:pPr>
            <a:r>
              <a:rPr lang="en-US" sz="2900" dirty="0">
                <a:solidFill>
                  <a:srgbClr val="FD8EA1"/>
                </a:solidFill>
                <a:latin typeface="Consolas" pitchFamily="34" charset="0"/>
                <a:ea typeface="Consolas" pitchFamily="34" charset="-122"/>
                <a:cs typeface="Consolas" pitchFamily="34" charset="-120"/>
              </a:rPr>
              <a:t>await ctx.pause("approve-local-draft");</a:t>
            </a:r>
            <a:endParaRPr lang="en-US" sz="2900" dirty="0"/>
          </a:p>
        </p:txBody>
      </p:sp>
      <p:sp>
        <p:nvSpPr>
          <p:cNvPr id="16" name="Text 13"/>
          <p:cNvSpPr/>
          <p:nvPr/>
        </p:nvSpPr>
        <p:spPr>
          <a:xfrm>
            <a:off x="877824" y="4855464"/>
            <a:ext cx="10424160" cy="950976"/>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A resumable pause is a feature.</a:t>
            </a:r>
            <a:endParaRPr lang="en-US" sz="2900" dirty="0"/>
          </a:p>
          <a:p>
            <a:pPr indent="0" marL="0">
              <a:buNone/>
            </a:pPr>
            <a:r>
              <a:rPr lang="en-US" sz="2900" b="1" dirty="0">
                <a:solidFill>
                  <a:srgbClr val="DEDEDE"/>
                </a:solidFill>
                <a:latin typeface="Aptos" pitchFamily="34" charset="0"/>
                <a:ea typeface="Aptos" pitchFamily="34" charset="-122"/>
                <a:cs typeface="Aptos" pitchFamily="34" charset="-120"/>
              </a:rPr>
              <a:t>A cancelled run is not a resumable pause.</a:t>
            </a:r>
            <a:endParaRPr lang="en-US" sz="2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2,500 attendees accounted for.</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15</a:t>
            </a:r>
            <a:endParaRPr lang="en-US" sz="1300" dirty="0"/>
          </a:p>
        </p:txBody>
      </p:sp>
      <p:sp>
        <p:nvSpPr>
          <p:cNvPr id="7" name="Text 4"/>
          <p:cNvSpPr/>
          <p:nvPr/>
        </p:nvSpPr>
        <p:spPr>
          <a:xfrm>
            <a:off x="758952" y="2039112"/>
            <a:ext cx="4663440" cy="1408176"/>
          </a:xfrm>
          <a:prstGeom prst="rect">
            <a:avLst/>
          </a:prstGeom>
          <a:noFill/>
          <a:ln/>
        </p:spPr>
        <p:txBody>
          <a:bodyPr wrap="square" lIns="0" tIns="0" rIns="0" bIns="0" rtlCol="0" anchor="ctr"/>
          <a:lstStyle/>
          <a:p>
            <a:pPr indent="0" marL="0">
              <a:buNone/>
            </a:pPr>
            <a:r>
              <a:rPr lang="en-US" sz="8800" b="1" dirty="0">
                <a:solidFill>
                  <a:srgbClr val="B11F4B"/>
                </a:solidFill>
                <a:latin typeface="Aptos Display" pitchFamily="34" charset="0"/>
                <a:ea typeface="Aptos Display" pitchFamily="34" charset="-122"/>
                <a:cs typeface="Aptos Display" pitchFamily="34" charset="-120"/>
              </a:rPr>
              <a:t>2,300</a:t>
            </a:r>
            <a:endParaRPr lang="en-US" sz="8800" dirty="0"/>
          </a:p>
        </p:txBody>
      </p:sp>
      <p:sp>
        <p:nvSpPr>
          <p:cNvPr id="8" name="Text 5"/>
          <p:cNvSpPr/>
          <p:nvPr/>
        </p:nvSpPr>
        <p:spPr>
          <a:xfrm>
            <a:off x="850392" y="3502152"/>
            <a:ext cx="4663440" cy="521208"/>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confirmed</a:t>
            </a:r>
            <a:endParaRPr lang="en-US" sz="3000" dirty="0"/>
          </a:p>
        </p:txBody>
      </p:sp>
      <p:sp>
        <p:nvSpPr>
          <p:cNvPr id="9" name="Text 6"/>
          <p:cNvSpPr/>
          <p:nvPr/>
        </p:nvSpPr>
        <p:spPr>
          <a:xfrm>
            <a:off x="5715000" y="2395728"/>
            <a:ext cx="731520" cy="859536"/>
          </a:xfrm>
          <a:prstGeom prst="rect">
            <a:avLst/>
          </a:prstGeom>
          <a:noFill/>
          <a:ln/>
        </p:spPr>
        <p:txBody>
          <a:bodyPr wrap="square" lIns="0" tIns="0" rIns="0" bIns="0" rtlCol="0" anchor="ctr"/>
          <a:lstStyle/>
          <a:p>
            <a:pPr algn="ctr" indent="0" marL="0">
              <a:buNone/>
            </a:pPr>
            <a:r>
              <a:rPr lang="en-US" sz="5200" dirty="0">
                <a:solidFill>
                  <a:srgbClr val="5C5C5C"/>
                </a:solidFill>
                <a:latin typeface="Aptos" pitchFamily="34" charset="0"/>
                <a:ea typeface="Aptos" pitchFamily="34" charset="-122"/>
                <a:cs typeface="Aptos" pitchFamily="34" charset="-120"/>
              </a:rPr>
              <a:t>+</a:t>
            </a:r>
            <a:endParaRPr lang="en-US" sz="5200" dirty="0"/>
          </a:p>
        </p:txBody>
      </p:sp>
      <p:sp>
        <p:nvSpPr>
          <p:cNvPr id="10" name="Text 7"/>
          <p:cNvSpPr/>
          <p:nvPr/>
        </p:nvSpPr>
        <p:spPr>
          <a:xfrm>
            <a:off x="7077456" y="2039112"/>
            <a:ext cx="4453128" cy="1408176"/>
          </a:xfrm>
          <a:prstGeom prst="rect">
            <a:avLst/>
          </a:prstGeom>
          <a:noFill/>
          <a:ln/>
        </p:spPr>
        <p:txBody>
          <a:bodyPr wrap="square" lIns="0" tIns="0" rIns="0" bIns="0" rtlCol="0" anchor="ctr"/>
          <a:lstStyle/>
          <a:p>
            <a:pPr indent="0" marL="0">
              <a:buNone/>
            </a:pPr>
            <a:r>
              <a:rPr lang="en-US" sz="8800" b="1" dirty="0">
                <a:solidFill>
                  <a:srgbClr val="242424"/>
                </a:solidFill>
                <a:latin typeface="Aptos Display" pitchFamily="34" charset="0"/>
                <a:ea typeface="Aptos Display" pitchFamily="34" charset="-122"/>
                <a:cs typeface="Aptos Display" pitchFamily="34" charset="-120"/>
              </a:rPr>
              <a:t>200</a:t>
            </a:r>
            <a:endParaRPr lang="en-US" sz="8800" dirty="0"/>
          </a:p>
        </p:txBody>
      </p:sp>
      <p:sp>
        <p:nvSpPr>
          <p:cNvPr id="11" name="Text 8"/>
          <p:cNvSpPr/>
          <p:nvPr/>
        </p:nvSpPr>
        <p:spPr>
          <a:xfrm>
            <a:off x="7178040" y="3502152"/>
            <a:ext cx="4206240" cy="521208"/>
          </a:xfrm>
          <a:prstGeom prst="rect">
            <a:avLst/>
          </a:prstGeom>
          <a:noFill/>
          <a:ln/>
        </p:spPr>
        <p:txBody>
          <a:bodyPr wrap="square" lIns="0" tIns="0" rIns="0" bIns="0" rtlCol="0" anchor="ctr"/>
          <a:lstStyle/>
          <a:p>
            <a:pPr indent="0" marL="0">
              <a:buNone/>
            </a:pPr>
            <a:r>
              <a:rPr lang="en-US" sz="3000" dirty="0">
                <a:solidFill>
                  <a:srgbClr val="242424"/>
                </a:solidFill>
                <a:latin typeface="Aptos" pitchFamily="34" charset="0"/>
                <a:ea typeface="Aptos" pitchFamily="34" charset="-122"/>
                <a:cs typeface="Aptos" pitchFamily="34" charset="-120"/>
              </a:rPr>
              <a:t>waitlisted</a:t>
            </a:r>
            <a:endParaRPr lang="en-US" sz="3000" dirty="0"/>
          </a:p>
        </p:txBody>
      </p:sp>
      <p:sp>
        <p:nvSpPr>
          <p:cNvPr id="12" name="Shape 9"/>
          <p:cNvSpPr/>
          <p:nvPr/>
        </p:nvSpPr>
        <p:spPr>
          <a:xfrm>
            <a:off x="832104" y="4800600"/>
            <a:ext cx="3337560" cy="859536"/>
          </a:xfrm>
          <a:prstGeom prst="roundRect">
            <a:avLst>
              <a:gd name="adj" fmla="val 10638"/>
            </a:avLst>
          </a:prstGeom>
          <a:solidFill>
            <a:srgbClr val="FFFFFF"/>
          </a:solidFill>
          <a:ln w="16510">
            <a:solidFill>
              <a:srgbClr val="DEDEDE"/>
            </a:solidFill>
            <a:prstDash val="solid"/>
          </a:ln>
        </p:spPr>
      </p:sp>
      <p:sp>
        <p:nvSpPr>
          <p:cNvPr id="13" name="Text 10"/>
          <p:cNvSpPr/>
          <p:nvPr/>
        </p:nvSpPr>
        <p:spPr>
          <a:xfrm>
            <a:off x="95097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duplicate outcomes</a:t>
            </a:r>
            <a:endParaRPr lang="en-US" sz="2200" dirty="0"/>
          </a:p>
        </p:txBody>
      </p:sp>
      <p:sp>
        <p:nvSpPr>
          <p:cNvPr id="14" name="Shape 11"/>
          <p:cNvSpPr/>
          <p:nvPr/>
        </p:nvSpPr>
        <p:spPr>
          <a:xfrm>
            <a:off x="4443984" y="4800600"/>
            <a:ext cx="3337560" cy="859536"/>
          </a:xfrm>
          <a:prstGeom prst="roundRect">
            <a:avLst>
              <a:gd name="adj" fmla="val 10638"/>
            </a:avLst>
          </a:prstGeom>
          <a:solidFill>
            <a:srgbClr val="FFFFFF"/>
          </a:solidFill>
          <a:ln w="16510">
            <a:solidFill>
              <a:srgbClr val="DEDEDE"/>
            </a:solidFill>
            <a:prstDash val="solid"/>
          </a:ln>
        </p:spPr>
      </p:sp>
      <p:sp>
        <p:nvSpPr>
          <p:cNvPr id="15" name="Text 12"/>
          <p:cNvSpPr/>
          <p:nvPr/>
        </p:nvSpPr>
        <p:spPr>
          <a:xfrm>
            <a:off x="456285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seats over capacity</a:t>
            </a:r>
            <a:endParaRPr lang="en-US" sz="2200" dirty="0"/>
          </a:p>
        </p:txBody>
      </p:sp>
      <p:sp>
        <p:nvSpPr>
          <p:cNvPr id="16" name="Shape 13"/>
          <p:cNvSpPr/>
          <p:nvPr/>
        </p:nvSpPr>
        <p:spPr>
          <a:xfrm>
            <a:off x="8055864" y="4800600"/>
            <a:ext cx="3337560" cy="859536"/>
          </a:xfrm>
          <a:prstGeom prst="roundRect">
            <a:avLst>
              <a:gd name="adj" fmla="val 10638"/>
            </a:avLst>
          </a:prstGeom>
          <a:solidFill>
            <a:srgbClr val="FFFFFF"/>
          </a:solidFill>
          <a:ln w="16510">
            <a:solidFill>
              <a:srgbClr val="DEDEDE"/>
            </a:solidFill>
            <a:prstDash val="solid"/>
          </a:ln>
        </p:spPr>
      </p:sp>
      <p:sp>
        <p:nvSpPr>
          <p:cNvPr id="17" name="Text 14"/>
          <p:cNvSpPr/>
          <p:nvPr/>
        </p:nvSpPr>
        <p:spPr>
          <a:xfrm>
            <a:off x="8174736" y="4892040"/>
            <a:ext cx="3099816" cy="676656"/>
          </a:xfrm>
          <a:prstGeom prst="rect">
            <a:avLst/>
          </a:prstGeom>
          <a:noFill/>
          <a:ln/>
        </p:spPr>
        <p:txBody>
          <a:bodyPr wrap="square" lIns="0" tIns="0" rIns="0" bIns="0" rtlCol="0" anchor="ctr"/>
          <a:lstStyle/>
          <a:p>
            <a:pPr algn="ctr" indent="0" marL="0">
              <a:buNone/>
            </a:pPr>
            <a:r>
              <a:rPr lang="en-US" sz="2200" b="1" dirty="0">
                <a:solidFill>
                  <a:srgbClr val="242424"/>
                </a:solidFill>
                <a:latin typeface="Aptos" pitchFamily="34" charset="0"/>
                <a:ea typeface="Aptos" pitchFamily="34" charset="-122"/>
                <a:cs typeface="Aptos" pitchFamily="34" charset="-120"/>
              </a:rPr>
              <a:t>0 missing attendees</a:t>
            </a:r>
            <a:endParaRPr lang="en-US" sz="2200" dirty="0"/>
          </a:p>
        </p:txBody>
      </p:sp>
      <p:sp>
        <p:nvSpPr>
          <p:cNvPr id="18" name="Text 15"/>
          <p:cNvSpPr/>
          <p:nvPr/>
        </p:nvSpPr>
        <p:spPr>
          <a:xfrm>
            <a:off x="859536" y="5843016"/>
            <a:ext cx="10552176" cy="301752"/>
          </a:xfrm>
          <a:prstGeom prst="rect">
            <a:avLst/>
          </a:prstGeom>
          <a:noFill/>
          <a:ln/>
        </p:spPr>
        <p:txBody>
          <a:bodyPr wrap="square" lIns="0" tIns="0" rIns="0" bIns="0" rtlCol="0" anchor="ctr"/>
          <a:lstStyle/>
          <a:p>
            <a:pPr indent="0" marL="0">
              <a:buNone/>
            </a:pPr>
            <a:r>
              <a:rPr lang="en-US" sz="1800" dirty="0">
                <a:solidFill>
                  <a:srgbClr val="5C5C5C"/>
                </a:solidFill>
                <a:latin typeface="Aptos" pitchFamily="34" charset="0"/>
                <a:ea typeface="Aptos" pitchFamily="34" charset="-122"/>
                <a:cs typeface="Aptos" pitchFamily="34" charset="-120"/>
              </a:rPr>
              <a:t>Measured local fixture. Not a capacity or latency benchmark.</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Three demo modes.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One honest story.</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16</a:t>
            </a:r>
            <a:endParaRPr lang="en-US" sz="1300" dirty="0"/>
          </a:p>
        </p:txBody>
      </p:sp>
      <p:sp>
        <p:nvSpPr>
          <p:cNvPr id="7" name="Shape 4"/>
          <p:cNvSpPr/>
          <p:nvPr/>
        </p:nvSpPr>
        <p:spPr>
          <a:xfrm>
            <a:off x="713232" y="2057400"/>
            <a:ext cx="10771632" cy="941832"/>
          </a:xfrm>
          <a:prstGeom prst="roundRect">
            <a:avLst>
              <a:gd name="adj" fmla="val 9709"/>
            </a:avLst>
          </a:prstGeom>
          <a:solidFill>
            <a:srgbClr val="292929"/>
          </a:solidFill>
          <a:ln w="12700">
            <a:solidFill>
              <a:srgbClr val="292929">
                <a:alpha val="0"/>
              </a:srgbClr>
            </a:solidFill>
            <a:prstDash val="solid"/>
          </a:ln>
        </p:spPr>
      </p:sp>
      <p:sp>
        <p:nvSpPr>
          <p:cNvPr id="8" name="Text 5"/>
          <p:cNvSpPr/>
          <p:nvPr/>
        </p:nvSpPr>
        <p:spPr>
          <a:xfrm>
            <a:off x="923544" y="2240280"/>
            <a:ext cx="3337560" cy="521208"/>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Offline rehearsal</a:t>
            </a:r>
            <a:endParaRPr lang="en-US" sz="2600" dirty="0"/>
          </a:p>
        </p:txBody>
      </p:sp>
      <p:sp>
        <p:nvSpPr>
          <p:cNvPr id="9" name="Text 6"/>
          <p:cNvSpPr/>
          <p:nvPr/>
        </p:nvSpPr>
        <p:spPr>
          <a:xfrm>
            <a:off x="4572000" y="2240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Local JavaScript</a:t>
            </a:r>
            <a:endParaRPr lang="en-US" sz="2400" dirty="0"/>
          </a:p>
        </p:txBody>
      </p:sp>
      <p:sp>
        <p:nvSpPr>
          <p:cNvPr id="10" name="Text 7"/>
          <p:cNvSpPr/>
          <p:nvPr/>
        </p:nvSpPr>
        <p:spPr>
          <a:xfrm>
            <a:off x="7936992" y="2240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No LLM / no sign-in</a:t>
            </a:r>
            <a:endParaRPr lang="en-US" sz="2100" dirty="0"/>
          </a:p>
        </p:txBody>
      </p:sp>
      <p:sp>
        <p:nvSpPr>
          <p:cNvPr id="11" name="Shape 8"/>
          <p:cNvSpPr/>
          <p:nvPr/>
        </p:nvSpPr>
        <p:spPr>
          <a:xfrm>
            <a:off x="713232" y="3200400"/>
            <a:ext cx="10771632" cy="941832"/>
          </a:xfrm>
          <a:prstGeom prst="roundRect">
            <a:avLst>
              <a:gd name="adj" fmla="val 9709"/>
            </a:avLst>
          </a:prstGeom>
          <a:solidFill>
            <a:srgbClr val="292929"/>
          </a:solidFill>
          <a:ln w="12700">
            <a:solidFill>
              <a:srgbClr val="292929">
                <a:alpha val="0"/>
              </a:srgbClr>
            </a:solidFill>
            <a:prstDash val="solid"/>
          </a:ln>
        </p:spPr>
      </p:sp>
      <p:sp>
        <p:nvSpPr>
          <p:cNvPr id="12" name="Text 9"/>
          <p:cNvSpPr/>
          <p:nvPr/>
        </p:nvSpPr>
        <p:spPr>
          <a:xfrm>
            <a:off x="923544" y="3383280"/>
            <a:ext cx="3337560" cy="521208"/>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Native rehearsal</a:t>
            </a:r>
            <a:endParaRPr lang="en-US" sz="2600" dirty="0"/>
          </a:p>
        </p:txBody>
      </p:sp>
      <p:sp>
        <p:nvSpPr>
          <p:cNvPr id="13" name="Text 10"/>
          <p:cNvSpPr/>
          <p:nvPr/>
        </p:nvSpPr>
        <p:spPr>
          <a:xfrm>
            <a:off x="4572000" y="3383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Copilot runtime</a:t>
            </a:r>
            <a:endParaRPr lang="en-US" sz="2400" dirty="0"/>
          </a:p>
        </p:txBody>
      </p:sp>
      <p:sp>
        <p:nvSpPr>
          <p:cNvPr id="14" name="Text 11"/>
          <p:cNvSpPr/>
          <p:nvPr/>
        </p:nvSpPr>
        <p:spPr>
          <a:xfrm>
            <a:off x="7936992" y="3383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No LLM / preview access</a:t>
            </a:r>
            <a:endParaRPr lang="en-US" sz="2100" dirty="0"/>
          </a:p>
        </p:txBody>
      </p:sp>
      <p:sp>
        <p:nvSpPr>
          <p:cNvPr id="15" name="Shape 12"/>
          <p:cNvSpPr/>
          <p:nvPr/>
        </p:nvSpPr>
        <p:spPr>
          <a:xfrm>
            <a:off x="713232" y="4343400"/>
            <a:ext cx="10771632" cy="941832"/>
          </a:xfrm>
          <a:prstGeom prst="roundRect">
            <a:avLst>
              <a:gd name="adj" fmla="val 9709"/>
            </a:avLst>
          </a:prstGeom>
          <a:solidFill>
            <a:srgbClr val="343231"/>
          </a:solidFill>
          <a:ln w="12700">
            <a:solidFill>
              <a:srgbClr val="343231">
                <a:alpha val="0"/>
              </a:srgbClr>
            </a:solidFill>
            <a:prstDash val="solid"/>
          </a:ln>
        </p:spPr>
      </p:sp>
      <p:sp>
        <p:nvSpPr>
          <p:cNvPr id="16" name="Text 13"/>
          <p:cNvSpPr/>
          <p:nvPr/>
        </p:nvSpPr>
        <p:spPr>
          <a:xfrm>
            <a:off x="923544" y="4526280"/>
            <a:ext cx="3337560" cy="521208"/>
          </a:xfrm>
          <a:prstGeom prst="rect">
            <a:avLst/>
          </a:prstGeom>
          <a:noFill/>
          <a:ln/>
        </p:spPr>
        <p:txBody>
          <a:bodyPr wrap="square" lIns="0" tIns="0" rIns="0" bIns="0" rtlCol="0" anchor="ctr"/>
          <a:lstStyle/>
          <a:p>
            <a:pPr indent="0" marL="0">
              <a:buNone/>
            </a:pPr>
            <a:r>
              <a:rPr lang="en-US" sz="2600" b="1" dirty="0">
                <a:solidFill>
                  <a:srgbClr val="FD8EA1"/>
                </a:solidFill>
                <a:latin typeface="Aptos" pitchFamily="34" charset="0"/>
                <a:ea typeface="Aptos" pitchFamily="34" charset="-122"/>
                <a:cs typeface="Aptos" pitchFamily="34" charset="-120"/>
              </a:rPr>
              <a:t>Native live</a:t>
            </a:r>
            <a:endParaRPr lang="en-US" sz="2600" dirty="0"/>
          </a:p>
        </p:txBody>
      </p:sp>
      <p:sp>
        <p:nvSpPr>
          <p:cNvPr id="17" name="Text 14"/>
          <p:cNvSpPr/>
          <p:nvPr/>
        </p:nvSpPr>
        <p:spPr>
          <a:xfrm>
            <a:off x="4572000" y="4526280"/>
            <a:ext cx="3026664" cy="521208"/>
          </a:xfrm>
          <a:prstGeom prst="rect">
            <a:avLst/>
          </a:prstGeom>
          <a:noFill/>
          <a:ln/>
        </p:spPr>
        <p:txBody>
          <a:bodyPr wrap="square" lIns="0" tIns="0" rIns="0" bIns="0" rtlCol="0" anchor="ctr"/>
          <a:lstStyle/>
          <a:p>
            <a:pPr indent="0" marL="0">
              <a:buNone/>
            </a:pPr>
            <a:r>
              <a:rPr lang="en-US" sz="2400" dirty="0">
                <a:solidFill>
                  <a:srgbClr val="DEDEDE"/>
                </a:solidFill>
                <a:latin typeface="Aptos" pitchFamily="34" charset="0"/>
                <a:ea typeface="Aptos" pitchFamily="34" charset="-122"/>
                <a:cs typeface="Aptos" pitchFamily="34" charset="-120"/>
              </a:rPr>
              <a:t>Copilot agents</a:t>
            </a:r>
            <a:endParaRPr lang="en-US" sz="2400" dirty="0"/>
          </a:p>
        </p:txBody>
      </p:sp>
      <p:sp>
        <p:nvSpPr>
          <p:cNvPr id="18" name="Text 15"/>
          <p:cNvSpPr/>
          <p:nvPr/>
        </p:nvSpPr>
        <p:spPr>
          <a:xfrm>
            <a:off x="7936992" y="4526280"/>
            <a:ext cx="3310128" cy="521208"/>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Model calls / AI credits</a:t>
            </a:r>
            <a:endParaRPr lang="en-US" sz="2100" dirty="0"/>
          </a:p>
        </p:txBody>
      </p:sp>
      <p:sp>
        <p:nvSpPr>
          <p:cNvPr id="19" name="Text 16"/>
          <p:cNvSpPr/>
          <p:nvPr/>
        </p:nvSpPr>
        <p:spPr>
          <a:xfrm>
            <a:off x="868680" y="5806440"/>
            <a:ext cx="10442448" cy="402336"/>
          </a:xfrm>
          <a:prstGeom prst="rect">
            <a:avLst/>
          </a:prstGeom>
          <a:noFill/>
          <a:ln/>
        </p:spPr>
        <p:txBody>
          <a:bodyPr wrap="square" lIns="0" tIns="0" rIns="0" bIns="0" rtlCol="0" anchor="ctr"/>
          <a:lstStyle/>
          <a:p>
            <a:pPr indent="0" marL="0">
              <a:buNone/>
            </a:pPr>
            <a:r>
              <a:rPr lang="en-US" sz="2600" b="1" dirty="0">
                <a:solidFill>
                  <a:srgbClr val="DEDEDE"/>
                </a:solidFill>
                <a:latin typeface="Aptos" pitchFamily="34" charset="0"/>
                <a:ea typeface="Aptos" pitchFamily="34" charset="-122"/>
                <a:cs typeface="Aptos" pitchFamily="34" charset="-120"/>
              </a:rPr>
              <a:t>The fallback preserves the lesson—not an illusion of AI.</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Autonomy is not authorization.</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S4 · S5 · S12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17</a:t>
            </a:r>
            <a:endParaRPr lang="en-US" sz="1300" dirty="0"/>
          </a:p>
        </p:txBody>
      </p:sp>
      <p:sp>
        <p:nvSpPr>
          <p:cNvPr id="7" name="Shape 4"/>
          <p:cNvSpPr/>
          <p:nvPr/>
        </p:nvSpPr>
        <p:spPr>
          <a:xfrm>
            <a:off x="722376" y="1956816"/>
            <a:ext cx="10725912" cy="1536192"/>
          </a:xfrm>
          <a:prstGeom prst="roundRect">
            <a:avLst>
              <a:gd name="adj" fmla="val 5952"/>
            </a:avLst>
          </a:prstGeom>
          <a:solidFill>
            <a:srgbClr val="FFFFFF"/>
          </a:solidFill>
          <a:ln w="25400">
            <a:solidFill>
              <a:srgbClr val="B11F4B"/>
            </a:solidFill>
            <a:prstDash val="solid"/>
          </a:ln>
        </p:spPr>
      </p:sp>
      <p:sp>
        <p:nvSpPr>
          <p:cNvPr id="8" name="Text 5"/>
          <p:cNvSpPr/>
          <p:nvPr/>
        </p:nvSpPr>
        <p:spPr>
          <a:xfrm>
            <a:off x="996696" y="2212848"/>
            <a:ext cx="10204704" cy="960120"/>
          </a:xfrm>
          <a:prstGeom prst="rect">
            <a:avLst/>
          </a:prstGeom>
          <a:noFill/>
          <a:ln/>
        </p:spPr>
        <p:txBody>
          <a:bodyPr wrap="square" lIns="0" tIns="0" rIns="0" bIns="0" rtlCol="0" anchor="ctr"/>
          <a:lstStyle/>
          <a:p>
            <a:pPr indent="0" marL="0">
              <a:buNone/>
            </a:pPr>
            <a:r>
              <a:rPr lang="en-US" sz="3100" b="1" dirty="0">
                <a:solidFill>
                  <a:srgbClr val="242424"/>
                </a:solidFill>
                <a:latin typeface="Aptos" pitchFamily="34" charset="0"/>
                <a:ea typeface="Aptos" pitchFamily="34" charset="-122"/>
                <a:cs typeface="Aptos" pitchFamily="34" charset="-120"/>
              </a:rPr>
              <a:t>tools: [] constrains agents.</a:t>
            </a:r>
            <a:endParaRPr lang="en-US" sz="3100" dirty="0"/>
          </a:p>
          <a:p>
            <a:pPr indent="0" marL="0">
              <a:buNone/>
            </a:pPr>
            <a:r>
              <a:rPr lang="en-US" sz="3100" b="1" dirty="0">
                <a:solidFill>
                  <a:srgbClr val="242424"/>
                </a:solidFill>
                <a:latin typeface="Aptos" pitchFamily="34" charset="0"/>
                <a:ea typeface="Aptos" pitchFamily="34" charset="-122"/>
                <a:cs typeface="Aptos" pitchFamily="34" charset="-120"/>
              </a:rPr>
              <a:t>It does not sandbox extension code.</a:t>
            </a:r>
            <a:endParaRPr lang="en-US" sz="3100" dirty="0"/>
          </a:p>
        </p:txBody>
      </p:sp>
      <p:sp>
        <p:nvSpPr>
          <p:cNvPr id="9" name="Shape 6"/>
          <p:cNvSpPr/>
          <p:nvPr/>
        </p:nvSpPr>
        <p:spPr>
          <a:xfrm>
            <a:off x="832104" y="4251960"/>
            <a:ext cx="3337560" cy="950976"/>
          </a:xfrm>
          <a:prstGeom prst="roundRect">
            <a:avLst>
              <a:gd name="adj" fmla="val 9615"/>
            </a:avLst>
          </a:prstGeom>
          <a:solidFill>
            <a:srgbClr val="FFFFFF"/>
          </a:solidFill>
          <a:ln w="16510">
            <a:solidFill>
              <a:srgbClr val="DEDEDE"/>
            </a:solidFill>
            <a:prstDash val="solid"/>
          </a:ln>
        </p:spPr>
      </p:sp>
      <p:sp>
        <p:nvSpPr>
          <p:cNvPr id="10" name="Text 7"/>
          <p:cNvSpPr/>
          <p:nvPr/>
        </p:nvSpPr>
        <p:spPr>
          <a:xfrm>
            <a:off x="950976" y="4343400"/>
            <a:ext cx="3099816" cy="768096"/>
          </a:xfrm>
          <a:prstGeom prst="rect">
            <a:avLst/>
          </a:prstGeom>
          <a:noFill/>
          <a:ln/>
        </p:spPr>
        <p:txBody>
          <a:bodyPr wrap="square" lIns="0" tIns="0" rIns="0" bIns="0" rtlCol="0" anchor="ctr"/>
          <a:lstStyle/>
          <a:p>
            <a:pPr algn="ctr" indent="0" marL="0">
              <a:buNone/>
            </a:pPr>
            <a:r>
              <a:rPr lang="en-US" sz="2300" b="1" dirty="0">
                <a:solidFill>
                  <a:srgbClr val="242424"/>
                </a:solidFill>
                <a:latin typeface="Aptos" pitchFamily="34" charset="0"/>
                <a:ea typeface="Aptos" pitchFamily="34" charset="-122"/>
                <a:cs typeface="Aptos" pitchFamily="34" charset="-120"/>
              </a:rPr>
              <a:t>Review trusted code</a:t>
            </a:r>
            <a:endParaRPr lang="en-US" sz="2300" dirty="0"/>
          </a:p>
        </p:txBody>
      </p:sp>
      <p:sp>
        <p:nvSpPr>
          <p:cNvPr id="11" name="Shape 8"/>
          <p:cNvSpPr/>
          <p:nvPr/>
        </p:nvSpPr>
        <p:spPr>
          <a:xfrm>
            <a:off x="4443984" y="4251960"/>
            <a:ext cx="3337560" cy="950976"/>
          </a:xfrm>
          <a:prstGeom prst="roundRect">
            <a:avLst>
              <a:gd name="adj" fmla="val 9615"/>
            </a:avLst>
          </a:prstGeom>
          <a:solidFill>
            <a:srgbClr val="FFFFFF"/>
          </a:solidFill>
          <a:ln w="16510">
            <a:solidFill>
              <a:srgbClr val="DEDEDE"/>
            </a:solidFill>
            <a:prstDash val="solid"/>
          </a:ln>
        </p:spPr>
      </p:sp>
      <p:sp>
        <p:nvSpPr>
          <p:cNvPr id="12" name="Text 9"/>
          <p:cNvSpPr/>
          <p:nvPr/>
        </p:nvSpPr>
        <p:spPr>
          <a:xfrm>
            <a:off x="4562856" y="4343400"/>
            <a:ext cx="3099816" cy="768096"/>
          </a:xfrm>
          <a:prstGeom prst="rect">
            <a:avLst/>
          </a:prstGeom>
          <a:noFill/>
          <a:ln/>
        </p:spPr>
        <p:txBody>
          <a:bodyPr wrap="square" lIns="0" tIns="0" rIns="0" bIns="0" rtlCol="0" anchor="ctr"/>
          <a:lstStyle/>
          <a:p>
            <a:pPr algn="ctr" indent="0" marL="0">
              <a:buNone/>
            </a:pPr>
            <a:r>
              <a:rPr lang="en-US" sz="2300" b="1" dirty="0">
                <a:solidFill>
                  <a:srgbClr val="242424"/>
                </a:solidFill>
                <a:latin typeface="Aptos" pitchFamily="34" charset="0"/>
                <a:ea typeface="Aptos" pitchFamily="34" charset="-122"/>
                <a:cs typeface="Aptos" pitchFamily="34" charset="-120"/>
              </a:rPr>
              <a:t>Scope permissions</a:t>
            </a:r>
            <a:endParaRPr lang="en-US" sz="2300" dirty="0"/>
          </a:p>
        </p:txBody>
      </p:sp>
      <p:sp>
        <p:nvSpPr>
          <p:cNvPr id="13" name="Shape 10"/>
          <p:cNvSpPr/>
          <p:nvPr/>
        </p:nvSpPr>
        <p:spPr>
          <a:xfrm>
            <a:off x="8055864" y="4251960"/>
            <a:ext cx="3337560" cy="950976"/>
          </a:xfrm>
          <a:prstGeom prst="roundRect">
            <a:avLst>
              <a:gd name="adj" fmla="val 9615"/>
            </a:avLst>
          </a:prstGeom>
          <a:solidFill>
            <a:srgbClr val="B11F4B"/>
          </a:solidFill>
          <a:ln w="16510">
            <a:solidFill>
              <a:srgbClr val="B11F4B"/>
            </a:solidFill>
            <a:prstDash val="solid"/>
          </a:ln>
        </p:spPr>
      </p:sp>
      <p:sp>
        <p:nvSpPr>
          <p:cNvPr id="14" name="Text 11"/>
          <p:cNvSpPr/>
          <p:nvPr/>
        </p:nvSpPr>
        <p:spPr>
          <a:xfrm>
            <a:off x="8174736" y="4343400"/>
            <a:ext cx="3099816" cy="768096"/>
          </a:xfrm>
          <a:prstGeom prst="rect">
            <a:avLst/>
          </a:prstGeom>
          <a:noFill/>
          <a:ln/>
        </p:spPr>
        <p:txBody>
          <a:bodyPr wrap="square" lIns="0" tIns="0" rIns="0" bIns="0" rtlCol="0" anchor="ctr"/>
          <a:lstStyle/>
          <a:p>
            <a:pPr algn="ctr" indent="0" marL="0">
              <a:buNone/>
            </a:pPr>
            <a:r>
              <a:rPr lang="en-US" sz="2300" b="1" dirty="0">
                <a:solidFill>
                  <a:srgbClr val="F7F4EF"/>
                </a:solidFill>
                <a:latin typeface="Aptos" pitchFamily="34" charset="0"/>
                <a:ea typeface="Aptos" pitchFamily="34" charset="-122"/>
                <a:cs typeface="Aptos" pitchFamily="34" charset="-120"/>
              </a:rPr>
              <a:t>Gate consequences</a:t>
            </a:r>
            <a:endParaRPr lang="en-US" sz="2300" dirty="0"/>
          </a:p>
        </p:txBody>
      </p:sp>
      <p:sp>
        <p:nvSpPr>
          <p:cNvPr id="15" name="Text 12"/>
          <p:cNvSpPr/>
          <p:nvPr/>
        </p:nvSpPr>
        <p:spPr>
          <a:xfrm>
            <a:off x="886968" y="5605272"/>
            <a:ext cx="10515600" cy="438912"/>
          </a:xfrm>
          <a:prstGeom prst="rect">
            <a:avLst/>
          </a:prstGeom>
          <a:noFill/>
          <a:ln/>
        </p:spPr>
        <p:txBody>
          <a:bodyPr wrap="square" lIns="0" tIns="0" rIns="0" bIns="0" rtlCol="0" anchor="ctr"/>
          <a:lstStyle/>
          <a:p>
            <a:pPr indent="0" marL="0">
              <a:buNone/>
            </a:pPr>
            <a:r>
              <a:rPr lang="en-US" sz="2500" dirty="0">
                <a:solidFill>
                  <a:srgbClr val="5C5C5C"/>
                </a:solidFill>
                <a:latin typeface="Aptos" pitchFamily="34" charset="0"/>
                <a:ea typeface="Aptos" pitchFamily="34" charset="-122"/>
                <a:cs typeface="Aptos" pitchFamily="34" charset="-120"/>
              </a:rPr>
              <a:t>No generated code execution. No deployment. No remote writes.</a:t>
            </a:r>
            <a:endParaRPr lang="en-US" sz="2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Make the workflow a team asset.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S4 · S9 · S12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18</a:t>
            </a:r>
            <a:endParaRPr lang="en-US" sz="1300" dirty="0"/>
          </a:p>
        </p:txBody>
      </p:sp>
      <p:sp>
        <p:nvSpPr>
          <p:cNvPr id="7" name="Shape 4"/>
          <p:cNvSpPr/>
          <p:nvPr/>
        </p:nvSpPr>
        <p:spPr>
          <a:xfrm>
            <a:off x="694944" y="1856232"/>
            <a:ext cx="10826496" cy="1069848"/>
          </a:xfrm>
          <a:prstGeom prst="roundRect">
            <a:avLst>
              <a:gd name="adj" fmla="val 8547"/>
            </a:avLst>
          </a:prstGeom>
          <a:solidFill>
            <a:srgbClr val="292929"/>
          </a:solidFill>
          <a:ln w="12700">
            <a:solidFill>
              <a:srgbClr val="292929">
                <a:alpha val="0"/>
              </a:srgbClr>
            </a:solidFill>
            <a:prstDash val="solid"/>
          </a:ln>
        </p:spPr>
      </p:sp>
      <p:sp>
        <p:nvSpPr>
          <p:cNvPr id="8" name="Text 5"/>
          <p:cNvSpPr/>
          <p:nvPr/>
        </p:nvSpPr>
        <p:spPr>
          <a:xfrm>
            <a:off x="914400" y="2029968"/>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.github\extensions\launch-rescue\extension.mjs</a:t>
            </a:r>
            <a:endParaRPr lang="en-US" sz="2400" dirty="0"/>
          </a:p>
        </p:txBody>
      </p:sp>
      <p:sp>
        <p:nvSpPr>
          <p:cNvPr id="9" name="Text 6"/>
          <p:cNvSpPr/>
          <p:nvPr/>
        </p:nvSpPr>
        <p:spPr>
          <a:xfrm>
            <a:off x="914400" y="2514600"/>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Reusable process</a:t>
            </a:r>
            <a:endParaRPr lang="en-US" sz="2000" dirty="0"/>
          </a:p>
        </p:txBody>
      </p:sp>
      <p:sp>
        <p:nvSpPr>
          <p:cNvPr id="10" name="Shape 7"/>
          <p:cNvSpPr/>
          <p:nvPr/>
        </p:nvSpPr>
        <p:spPr>
          <a:xfrm>
            <a:off x="694944" y="3163824"/>
            <a:ext cx="10826496" cy="1069848"/>
          </a:xfrm>
          <a:prstGeom prst="roundRect">
            <a:avLst>
              <a:gd name="adj" fmla="val 8547"/>
            </a:avLst>
          </a:prstGeom>
          <a:solidFill>
            <a:srgbClr val="292929"/>
          </a:solidFill>
          <a:ln w="12700">
            <a:solidFill>
              <a:srgbClr val="292929">
                <a:alpha val="0"/>
              </a:srgbClr>
            </a:solidFill>
            <a:prstDash val="solid"/>
          </a:ln>
        </p:spPr>
      </p:sp>
      <p:sp>
        <p:nvSpPr>
          <p:cNvPr id="11" name="Text 8"/>
          <p:cNvSpPr/>
          <p:nvPr/>
        </p:nvSpPr>
        <p:spPr>
          <a:xfrm>
            <a:off x="914400" y="3337560"/>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.github\agents\launch-analyst.agent.md</a:t>
            </a:r>
            <a:endParaRPr lang="en-US" sz="2400" dirty="0"/>
          </a:p>
        </p:txBody>
      </p:sp>
      <p:sp>
        <p:nvSpPr>
          <p:cNvPr id="12" name="Text 9"/>
          <p:cNvSpPr/>
          <p:nvPr/>
        </p:nvSpPr>
        <p:spPr>
          <a:xfrm>
            <a:off x="914400" y="3822192"/>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Scoped expertise</a:t>
            </a:r>
            <a:endParaRPr lang="en-US" sz="2000" dirty="0"/>
          </a:p>
        </p:txBody>
      </p:sp>
      <p:sp>
        <p:nvSpPr>
          <p:cNvPr id="13" name="Shape 10"/>
          <p:cNvSpPr/>
          <p:nvPr/>
        </p:nvSpPr>
        <p:spPr>
          <a:xfrm>
            <a:off x="694944" y="4471416"/>
            <a:ext cx="10826496" cy="1069848"/>
          </a:xfrm>
          <a:prstGeom prst="roundRect">
            <a:avLst>
              <a:gd name="adj" fmla="val 8547"/>
            </a:avLst>
          </a:prstGeom>
          <a:solidFill>
            <a:srgbClr val="292929"/>
          </a:solidFill>
          <a:ln w="12700">
            <a:solidFill>
              <a:srgbClr val="292929">
                <a:alpha val="0"/>
              </a:srgbClr>
            </a:solidFill>
            <a:prstDash val="solid"/>
          </a:ln>
        </p:spPr>
      </p:sp>
      <p:sp>
        <p:nvSpPr>
          <p:cNvPr id="14" name="Text 11"/>
          <p:cNvSpPr/>
          <p:nvPr/>
        </p:nvSpPr>
        <p:spPr>
          <a:xfrm>
            <a:off x="914400" y="4645152"/>
            <a:ext cx="10277856" cy="402336"/>
          </a:xfrm>
          <a:prstGeom prst="rect">
            <a:avLst/>
          </a:prstGeom>
          <a:noFill/>
          <a:ln/>
        </p:spPr>
        <p:txBody>
          <a:bodyPr wrap="square" lIns="0" tIns="0" rIns="0" bIns="0" rtlCol="0" anchor="ctr"/>
          <a:lstStyle/>
          <a:p>
            <a:pPr indent="0" marL="0">
              <a:buNone/>
            </a:pPr>
            <a:r>
              <a:rPr lang="en-US" sz="2400" dirty="0">
                <a:solidFill>
                  <a:srgbClr val="FD8EA1"/>
                </a:solidFill>
                <a:latin typeface="Consolas" pitchFamily="34" charset="0"/>
                <a:ea typeface="Consolas" pitchFamily="34" charset="-122"/>
                <a:cs typeface="Consolas" pitchFamily="34" charset="-120"/>
              </a:rPr>
              <a:t>.github\github-app.yml</a:t>
            </a:r>
            <a:endParaRPr lang="en-US" sz="2400" dirty="0"/>
          </a:p>
        </p:txBody>
      </p:sp>
      <p:sp>
        <p:nvSpPr>
          <p:cNvPr id="15" name="Text 12"/>
          <p:cNvSpPr/>
          <p:nvPr/>
        </p:nvSpPr>
        <p:spPr>
          <a:xfrm>
            <a:off x="914400" y="5129784"/>
            <a:ext cx="9966960" cy="365760"/>
          </a:xfrm>
          <a:prstGeom prst="rect">
            <a:avLst/>
          </a:prstGeom>
          <a:noFill/>
          <a:ln/>
        </p:spPr>
        <p:txBody>
          <a:bodyPr wrap="square" lIns="0" tIns="0" rIns="0" bIns="0" rtlCol="0" anchor="ctr"/>
          <a:lstStyle/>
          <a:p>
            <a:pPr indent="0" marL="0">
              <a:buNone/>
            </a:pPr>
            <a:r>
              <a:rPr lang="en-US" sz="2000" dirty="0">
                <a:solidFill>
                  <a:srgbClr val="B0B0B0"/>
                </a:solidFill>
                <a:latin typeface="Aptos" pitchFamily="34" charset="0"/>
                <a:ea typeface="Aptos" pitchFamily="34" charset="-122"/>
                <a:cs typeface="Aptos" pitchFamily="34" charset="-120"/>
              </a:rPr>
              <a:t>Project launch experience</a:t>
            </a:r>
            <a:endParaRPr lang="en-US" sz="2000" dirty="0"/>
          </a:p>
        </p:txBody>
      </p:sp>
      <p:sp>
        <p:nvSpPr>
          <p:cNvPr id="16" name="Text 13"/>
          <p:cNvSpPr/>
          <p:nvPr/>
        </p:nvSpPr>
        <p:spPr>
          <a:xfrm>
            <a:off x="868680" y="5888736"/>
            <a:ext cx="10497312" cy="438912"/>
          </a:xfrm>
          <a:prstGeom prst="rect">
            <a:avLst/>
          </a:prstGeom>
          <a:noFill/>
          <a:ln/>
        </p:spPr>
        <p:txBody>
          <a:bodyPr wrap="square" lIns="0" tIns="0" rIns="0" bIns="0" rtlCol="0" anchor="ctr"/>
          <a:lstStyle/>
          <a:p>
            <a:pPr indent="0" marL="0">
              <a:buNone/>
            </a:pPr>
            <a:r>
              <a:rPr lang="en-US" sz="2300" b="1" dirty="0">
                <a:solidFill>
                  <a:srgbClr val="DEDEDE"/>
                </a:solidFill>
                <a:latin typeface="Aptos" pitchFamily="34" charset="0"/>
                <a:ea typeface="Aptos" pitchFamily="34" charset="-122"/>
                <a:cs typeface="Aptos" pitchFamily="34" charset="-120"/>
              </a:rPr>
              <a:t>Share the definition. Review the trust. Rehearse the run.</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On GitHub Actions,</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use the other workflow engine.</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S13 · S14 · S15 · S16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19</a:t>
            </a:r>
            <a:endParaRPr lang="en-US" sz="1300" dirty="0"/>
          </a:p>
        </p:txBody>
      </p:sp>
      <p:sp>
        <p:nvSpPr>
          <p:cNvPr id="7" name="Shape 4"/>
          <p:cNvSpPr/>
          <p:nvPr/>
        </p:nvSpPr>
        <p:spPr>
          <a:xfrm>
            <a:off x="813816" y="2331720"/>
            <a:ext cx="2011680" cy="969264"/>
          </a:xfrm>
          <a:prstGeom prst="roundRect">
            <a:avLst>
              <a:gd name="adj" fmla="val 9434"/>
            </a:avLst>
          </a:prstGeom>
          <a:solidFill>
            <a:srgbClr val="292929"/>
          </a:solidFill>
          <a:ln w="16510">
            <a:solidFill>
              <a:srgbClr val="5F5F5F"/>
            </a:solidFill>
            <a:prstDash val="solid"/>
          </a:ln>
        </p:spPr>
      </p:sp>
      <p:sp>
        <p:nvSpPr>
          <p:cNvPr id="8" name="Text 5"/>
          <p:cNvSpPr/>
          <p:nvPr/>
        </p:nvSpPr>
        <p:spPr>
          <a:xfrm>
            <a:off x="932688"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Markdown</a:t>
            </a:r>
            <a:endParaRPr lang="en-US" sz="2500" dirty="0"/>
          </a:p>
        </p:txBody>
      </p:sp>
      <p:sp>
        <p:nvSpPr>
          <p:cNvPr id="9" name="Shape 6"/>
          <p:cNvSpPr/>
          <p:nvPr/>
        </p:nvSpPr>
        <p:spPr>
          <a:xfrm>
            <a:off x="3675888" y="2331720"/>
            <a:ext cx="2011680" cy="969264"/>
          </a:xfrm>
          <a:prstGeom prst="roundRect">
            <a:avLst>
              <a:gd name="adj" fmla="val 9434"/>
            </a:avLst>
          </a:prstGeom>
          <a:solidFill>
            <a:srgbClr val="292929"/>
          </a:solidFill>
          <a:ln w="16510">
            <a:solidFill>
              <a:srgbClr val="5F5F5F"/>
            </a:solidFill>
            <a:prstDash val="solid"/>
          </a:ln>
        </p:spPr>
      </p:sp>
      <p:sp>
        <p:nvSpPr>
          <p:cNvPr id="10" name="Text 7"/>
          <p:cNvSpPr/>
          <p:nvPr/>
        </p:nvSpPr>
        <p:spPr>
          <a:xfrm>
            <a:off x="3794760"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Compile</a:t>
            </a:r>
            <a:endParaRPr lang="en-US" sz="2500" dirty="0"/>
          </a:p>
        </p:txBody>
      </p:sp>
      <p:sp>
        <p:nvSpPr>
          <p:cNvPr id="11" name="Shape 8"/>
          <p:cNvSpPr/>
          <p:nvPr/>
        </p:nvSpPr>
        <p:spPr>
          <a:xfrm>
            <a:off x="6537960" y="2331720"/>
            <a:ext cx="2011680" cy="969264"/>
          </a:xfrm>
          <a:prstGeom prst="roundRect">
            <a:avLst>
              <a:gd name="adj" fmla="val 9434"/>
            </a:avLst>
          </a:prstGeom>
          <a:solidFill>
            <a:srgbClr val="292929"/>
          </a:solidFill>
          <a:ln w="16510">
            <a:solidFill>
              <a:srgbClr val="5F5F5F"/>
            </a:solidFill>
            <a:prstDash val="solid"/>
          </a:ln>
        </p:spPr>
      </p:sp>
      <p:sp>
        <p:nvSpPr>
          <p:cNvPr id="12" name="Text 9"/>
          <p:cNvSpPr/>
          <p:nvPr/>
        </p:nvSpPr>
        <p:spPr>
          <a:xfrm>
            <a:off x="6656832" y="2423160"/>
            <a:ext cx="1773936" cy="786384"/>
          </a:xfrm>
          <a:prstGeom prst="rect">
            <a:avLst/>
          </a:prstGeom>
          <a:noFill/>
          <a:ln/>
        </p:spPr>
        <p:txBody>
          <a:bodyPr wrap="square" lIns="0" tIns="0" rIns="0" bIns="0" rtlCol="0" anchor="ctr"/>
          <a:lstStyle/>
          <a:p>
            <a:pPr algn="ctr" indent="0" marL="0">
              <a:buNone/>
            </a:pPr>
            <a:r>
              <a:rPr lang="en-US" sz="2500" b="1" dirty="0">
                <a:solidFill>
                  <a:srgbClr val="DEDEDE"/>
                </a:solidFill>
                <a:latin typeface="Aptos" pitchFamily="34" charset="0"/>
                <a:ea typeface="Aptos" pitchFamily="34" charset="-122"/>
                <a:cs typeface="Aptos" pitchFamily="34" charset="-120"/>
              </a:rPr>
              <a:t>Actions agent</a:t>
            </a:r>
            <a:endParaRPr lang="en-US" sz="2500" dirty="0"/>
          </a:p>
        </p:txBody>
      </p:sp>
      <p:sp>
        <p:nvSpPr>
          <p:cNvPr id="13" name="Shape 10"/>
          <p:cNvSpPr/>
          <p:nvPr/>
        </p:nvSpPr>
        <p:spPr>
          <a:xfrm>
            <a:off x="9400032" y="2331720"/>
            <a:ext cx="2011680" cy="969264"/>
          </a:xfrm>
          <a:prstGeom prst="roundRect">
            <a:avLst>
              <a:gd name="adj" fmla="val 9434"/>
            </a:avLst>
          </a:prstGeom>
          <a:solidFill>
            <a:srgbClr val="FD8EA1"/>
          </a:solidFill>
          <a:ln w="16510">
            <a:solidFill>
              <a:srgbClr val="FD8EA1"/>
            </a:solidFill>
            <a:prstDash val="solid"/>
          </a:ln>
        </p:spPr>
      </p:sp>
      <p:sp>
        <p:nvSpPr>
          <p:cNvPr id="14" name="Text 11"/>
          <p:cNvSpPr/>
          <p:nvPr/>
        </p:nvSpPr>
        <p:spPr>
          <a:xfrm>
            <a:off x="9518904" y="2423160"/>
            <a:ext cx="1773936" cy="786384"/>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Safe output</a:t>
            </a:r>
            <a:endParaRPr lang="en-US" sz="2500" dirty="0"/>
          </a:p>
        </p:txBody>
      </p:sp>
      <p:sp>
        <p:nvSpPr>
          <p:cNvPr id="15" name="Shape 12"/>
          <p:cNvSpPr/>
          <p:nvPr/>
        </p:nvSpPr>
        <p:spPr>
          <a:xfrm>
            <a:off x="2825496" y="2816352"/>
            <a:ext cx="850392" cy="0"/>
          </a:xfrm>
          <a:prstGeom prst="line">
            <a:avLst/>
          </a:prstGeom>
          <a:noFill/>
          <a:ln w="25400">
            <a:solidFill>
              <a:srgbClr val="FD8EA1"/>
            </a:solidFill>
            <a:prstDash val="solid"/>
            <a:tailEnd type="triangle"/>
          </a:ln>
        </p:spPr>
      </p:sp>
      <p:sp>
        <p:nvSpPr>
          <p:cNvPr id="16" name="Shape 13"/>
          <p:cNvSpPr/>
          <p:nvPr/>
        </p:nvSpPr>
        <p:spPr>
          <a:xfrm>
            <a:off x="5687568" y="2816352"/>
            <a:ext cx="850392" cy="0"/>
          </a:xfrm>
          <a:prstGeom prst="line">
            <a:avLst/>
          </a:prstGeom>
          <a:noFill/>
          <a:ln w="25400">
            <a:solidFill>
              <a:srgbClr val="FD8EA1"/>
            </a:solidFill>
            <a:prstDash val="solid"/>
            <a:tailEnd type="triangle"/>
          </a:ln>
        </p:spPr>
      </p:sp>
      <p:sp>
        <p:nvSpPr>
          <p:cNvPr id="17" name="Shape 14"/>
          <p:cNvSpPr/>
          <p:nvPr/>
        </p:nvSpPr>
        <p:spPr>
          <a:xfrm>
            <a:off x="8549640" y="2816352"/>
            <a:ext cx="850392" cy="0"/>
          </a:xfrm>
          <a:prstGeom prst="line">
            <a:avLst/>
          </a:prstGeom>
          <a:noFill/>
          <a:ln w="25400">
            <a:solidFill>
              <a:srgbClr val="FD8EA1"/>
            </a:solidFill>
            <a:prstDash val="solid"/>
            <a:tailEnd type="triangle"/>
          </a:ln>
        </p:spPr>
      </p:sp>
      <p:sp>
        <p:nvSpPr>
          <p:cNvPr id="18" name="Text 15"/>
          <p:cNvSpPr/>
          <p:nvPr/>
        </p:nvSpPr>
        <p:spPr>
          <a:xfrm>
            <a:off x="896112" y="3767328"/>
            <a:ext cx="10268712" cy="521208"/>
          </a:xfrm>
          <a:prstGeom prst="rect">
            <a:avLst/>
          </a:prstGeom>
          <a:noFill/>
          <a:ln/>
        </p:spPr>
        <p:txBody>
          <a:bodyPr wrap="square" lIns="0" tIns="0" rIns="0" bIns="0" rtlCol="0" anchor="ctr"/>
          <a:lstStyle/>
          <a:p>
            <a:pPr indent="0" marL="0">
              <a:buNone/>
            </a:pPr>
            <a:r>
              <a:rPr lang="en-US" sz="2900" dirty="0">
                <a:solidFill>
                  <a:srgbClr val="FD8EA1"/>
                </a:solidFill>
                <a:latin typeface="Consolas" pitchFamily="34" charset="0"/>
                <a:ea typeface="Consolas" pitchFamily="34" charset="-122"/>
                <a:cs typeface="Consolas" pitchFamily="34" charset="-120"/>
              </a:rPr>
              <a:t>.md → .lock.yml</a:t>
            </a:r>
            <a:endParaRPr lang="en-US" sz="2900" dirty="0"/>
          </a:p>
        </p:txBody>
      </p:sp>
      <p:sp>
        <p:nvSpPr>
          <p:cNvPr id="19" name="Text 16"/>
          <p:cNvSpPr/>
          <p:nvPr/>
        </p:nvSpPr>
        <p:spPr>
          <a:xfrm>
            <a:off x="896112" y="4809744"/>
            <a:ext cx="10387584" cy="969264"/>
          </a:xfrm>
          <a:prstGeom prst="rect">
            <a:avLst/>
          </a:prstGeom>
          <a:noFill/>
          <a:ln/>
        </p:spPr>
        <p:txBody>
          <a:bodyPr wrap="square" lIns="0" tIns="0" rIns="0" bIns="0" rtlCol="0" anchor="ctr"/>
          <a:lstStyle/>
          <a:p>
            <a:pPr indent="0" marL="0">
              <a:buNone/>
            </a:pPr>
            <a:r>
              <a:rPr lang="en-US" sz="2900" b="1" dirty="0">
                <a:solidFill>
                  <a:srgbClr val="DEDEDE"/>
                </a:solidFill>
                <a:latin typeface="Aptos" pitchFamily="34" charset="0"/>
                <a:ea typeface="Aptos" pitchFamily="34" charset="-122"/>
                <a:cs typeface="Aptos" pitchFamily="34" charset="-120"/>
              </a:rPr>
              <a:t>Keep builds and tests deterministic.</a:t>
            </a:r>
            <a:endParaRPr lang="en-US" sz="2900" dirty="0"/>
          </a:p>
          <a:p>
            <a:pPr indent="0" marL="0">
              <a:buNone/>
            </a:pPr>
            <a:r>
              <a:rPr lang="en-US" sz="2900" b="1" dirty="0">
                <a:solidFill>
                  <a:srgbClr val="DEDEDE"/>
                </a:solidFill>
                <a:latin typeface="Aptos" pitchFamily="34" charset="0"/>
                <a:ea typeface="Aptos" pitchFamily="34" charset="-122"/>
                <a:cs typeface="Aptos" pitchFamily="34" charset="-120"/>
              </a:rPr>
              <a:t>Use agents for investigation and interpretation.</a:t>
            </a:r>
            <a:endParaRPr lang="en-US" sz="2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Start with one valuable process.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S6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20</a:t>
            </a:r>
            <a:endParaRPr lang="en-US" sz="1300" dirty="0"/>
          </a:p>
        </p:txBody>
      </p:sp>
      <p:sp>
        <p:nvSpPr>
          <p:cNvPr id="7" name="Shape 4"/>
          <p:cNvSpPr/>
          <p:nvPr/>
        </p:nvSpPr>
        <p:spPr>
          <a:xfrm>
            <a:off x="786384" y="1856232"/>
            <a:ext cx="365760" cy="365760"/>
          </a:xfrm>
          <a:prstGeom prst="ellipse">
            <a:avLst/>
          </a:prstGeom>
          <a:solidFill>
            <a:srgbClr val="B11F4B"/>
          </a:solidFill>
          <a:ln w="12700">
            <a:solidFill>
              <a:srgbClr val="B11F4B">
                <a:alpha val="0"/>
              </a:srgbClr>
            </a:solidFill>
            <a:prstDash val="solid"/>
          </a:ln>
        </p:spPr>
      </p:sp>
      <p:sp>
        <p:nvSpPr>
          <p:cNvPr id="8" name="Text 5"/>
          <p:cNvSpPr/>
          <p:nvPr/>
        </p:nvSpPr>
        <p:spPr>
          <a:xfrm>
            <a:off x="1399032" y="1792224"/>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real input</a:t>
            </a:r>
            <a:endParaRPr lang="en-US" sz="2600" dirty="0"/>
          </a:p>
        </p:txBody>
      </p:sp>
      <p:sp>
        <p:nvSpPr>
          <p:cNvPr id="9" name="Text 6"/>
          <p:cNvSpPr/>
          <p:nvPr/>
        </p:nvSpPr>
        <p:spPr>
          <a:xfrm>
            <a:off x="5065776" y="1792224"/>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A failing test, changed files, or incident evidence.</a:t>
            </a:r>
            <a:endParaRPr lang="en-US" sz="2400" dirty="0"/>
          </a:p>
        </p:txBody>
      </p:sp>
      <p:sp>
        <p:nvSpPr>
          <p:cNvPr id="10" name="Shape 7"/>
          <p:cNvSpPr/>
          <p:nvPr/>
        </p:nvSpPr>
        <p:spPr>
          <a:xfrm>
            <a:off x="786384" y="2788920"/>
            <a:ext cx="365760" cy="365760"/>
          </a:xfrm>
          <a:prstGeom prst="ellipse">
            <a:avLst/>
          </a:prstGeom>
          <a:solidFill>
            <a:srgbClr val="B11F4B"/>
          </a:solidFill>
          <a:ln w="12700">
            <a:solidFill>
              <a:srgbClr val="B11F4B">
                <a:alpha val="0"/>
              </a:srgbClr>
            </a:solidFill>
            <a:prstDash val="solid"/>
          </a:ln>
        </p:spPr>
      </p:sp>
      <p:sp>
        <p:nvSpPr>
          <p:cNvPr id="11" name="Text 8"/>
          <p:cNvSpPr/>
          <p:nvPr/>
        </p:nvSpPr>
        <p:spPr>
          <a:xfrm>
            <a:off x="1399032" y="2724912"/>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real contract</a:t>
            </a:r>
            <a:endParaRPr lang="en-US" sz="2600" dirty="0"/>
          </a:p>
        </p:txBody>
      </p:sp>
      <p:sp>
        <p:nvSpPr>
          <p:cNvPr id="12" name="Text 9"/>
          <p:cNvSpPr/>
          <p:nvPr/>
        </p:nvSpPr>
        <p:spPr>
          <a:xfrm>
            <a:off x="5065776" y="2724912"/>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What must be true before the work can progress?</a:t>
            </a:r>
            <a:endParaRPr lang="en-US" sz="2400" dirty="0"/>
          </a:p>
        </p:txBody>
      </p:sp>
      <p:sp>
        <p:nvSpPr>
          <p:cNvPr id="13" name="Shape 10"/>
          <p:cNvSpPr/>
          <p:nvPr/>
        </p:nvSpPr>
        <p:spPr>
          <a:xfrm>
            <a:off x="786384" y="3721608"/>
            <a:ext cx="365760" cy="365760"/>
          </a:xfrm>
          <a:prstGeom prst="ellipse">
            <a:avLst/>
          </a:prstGeom>
          <a:solidFill>
            <a:srgbClr val="B11F4B"/>
          </a:solidFill>
          <a:ln w="12700">
            <a:solidFill>
              <a:srgbClr val="B11F4B">
                <a:alpha val="0"/>
              </a:srgbClr>
            </a:solidFill>
            <a:prstDash val="solid"/>
          </a:ln>
        </p:spPr>
      </p:sp>
      <p:sp>
        <p:nvSpPr>
          <p:cNvPr id="14" name="Text 11"/>
          <p:cNvSpPr/>
          <p:nvPr/>
        </p:nvSpPr>
        <p:spPr>
          <a:xfrm>
            <a:off x="1399032" y="3657600"/>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judgment step</a:t>
            </a:r>
            <a:endParaRPr lang="en-US" sz="2600" dirty="0"/>
          </a:p>
        </p:txBody>
      </p:sp>
      <p:sp>
        <p:nvSpPr>
          <p:cNvPr id="15" name="Text 12"/>
          <p:cNvSpPr/>
          <p:nvPr/>
        </p:nvSpPr>
        <p:spPr>
          <a:xfrm>
            <a:off x="5065776" y="3657600"/>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Where does interpretation improve the outcome?</a:t>
            </a:r>
            <a:endParaRPr lang="en-US" sz="2400" dirty="0"/>
          </a:p>
        </p:txBody>
      </p:sp>
      <p:sp>
        <p:nvSpPr>
          <p:cNvPr id="16" name="Shape 13"/>
          <p:cNvSpPr/>
          <p:nvPr/>
        </p:nvSpPr>
        <p:spPr>
          <a:xfrm>
            <a:off x="786384" y="4654296"/>
            <a:ext cx="365760" cy="365760"/>
          </a:xfrm>
          <a:prstGeom prst="ellipse">
            <a:avLst/>
          </a:prstGeom>
          <a:solidFill>
            <a:srgbClr val="B11F4B"/>
          </a:solidFill>
          <a:ln w="12700">
            <a:solidFill>
              <a:srgbClr val="B11F4B">
                <a:alpha val="0"/>
              </a:srgbClr>
            </a:solidFill>
            <a:prstDash val="solid"/>
          </a:ln>
        </p:spPr>
      </p:sp>
      <p:sp>
        <p:nvSpPr>
          <p:cNvPr id="17" name="Text 14"/>
          <p:cNvSpPr/>
          <p:nvPr/>
        </p:nvSpPr>
        <p:spPr>
          <a:xfrm>
            <a:off x="1399032" y="4590288"/>
            <a:ext cx="3502152" cy="621792"/>
          </a:xfrm>
          <a:prstGeom prst="rect">
            <a:avLst/>
          </a:prstGeom>
          <a:noFill/>
          <a:ln/>
        </p:spPr>
        <p:txBody>
          <a:bodyPr wrap="square" lIns="0" tIns="0" rIns="0" bIns="0" rtlCol="0" anchor="t"/>
          <a:lstStyle/>
          <a:p>
            <a:pPr indent="0" marL="0">
              <a:buNone/>
            </a:pPr>
            <a:r>
              <a:rPr lang="en-US" sz="2600" b="1" dirty="0">
                <a:solidFill>
                  <a:srgbClr val="242424"/>
                </a:solidFill>
                <a:latin typeface="Aptos" pitchFamily="34" charset="0"/>
                <a:ea typeface="Aptos" pitchFamily="34" charset="-122"/>
                <a:cs typeface="Aptos" pitchFamily="34" charset="-120"/>
              </a:rPr>
              <a:t>A human boundary</a:t>
            </a:r>
            <a:endParaRPr lang="en-US" sz="2600" dirty="0"/>
          </a:p>
        </p:txBody>
      </p:sp>
      <p:sp>
        <p:nvSpPr>
          <p:cNvPr id="18" name="Text 15"/>
          <p:cNvSpPr/>
          <p:nvPr/>
        </p:nvSpPr>
        <p:spPr>
          <a:xfrm>
            <a:off x="5065776" y="4590288"/>
            <a:ext cx="6318504" cy="758952"/>
          </a:xfrm>
          <a:prstGeom prst="rect">
            <a:avLst/>
          </a:prstGeom>
          <a:noFill/>
          <a:ln/>
        </p:spPr>
        <p:txBody>
          <a:bodyPr wrap="square" lIns="0" tIns="0" rIns="0" bIns="0" rtlCol="0" anchor="t"/>
          <a:lstStyle/>
          <a:p>
            <a:pPr indent="0" marL="0">
              <a:buNone/>
            </a:pPr>
            <a:r>
              <a:rPr lang="en-US" sz="2400" dirty="0">
                <a:solidFill>
                  <a:srgbClr val="5C5C5C"/>
                </a:solidFill>
                <a:latin typeface="Aptos" pitchFamily="34" charset="0"/>
                <a:ea typeface="Aptos" pitchFamily="34" charset="-122"/>
                <a:cs typeface="Aptos" pitchFamily="34" charset="-120"/>
              </a:rPr>
              <a:t>What requires review, pause, or approval?</a:t>
            </a:r>
            <a:endParaRPr lang="en-US" sz="2400" dirty="0"/>
          </a:p>
        </p:txBody>
      </p:sp>
      <p:sp>
        <p:nvSpPr>
          <p:cNvPr id="19" name="Text 16"/>
          <p:cNvSpPr/>
          <p:nvPr/>
        </p:nvSpPr>
        <p:spPr>
          <a:xfrm>
            <a:off x="950976" y="5614416"/>
            <a:ext cx="10268712" cy="530352"/>
          </a:xfrm>
          <a:prstGeom prst="rect">
            <a:avLst/>
          </a:prstGeom>
          <a:noFill/>
          <a:ln/>
        </p:spPr>
        <p:txBody>
          <a:bodyPr wrap="square" lIns="0" tIns="0" rIns="0" bIns="0" rtlCol="0" anchor="ctr"/>
          <a:lstStyle/>
          <a:p>
            <a:pPr indent="0" marL="0">
              <a:buNone/>
            </a:pPr>
            <a:r>
              <a:rPr lang="en-US" sz="2600" b="1" dirty="0">
                <a:solidFill>
                  <a:srgbClr val="B11F4B"/>
                </a:solidFill>
                <a:latin typeface="Aptos" pitchFamily="34" charset="0"/>
                <a:ea typeface="Aptos" pitchFamily="34" charset="-122"/>
                <a:cs typeface="Aptos" pitchFamily="34" charset="-120"/>
              </a:rPr>
              <a:t>One process, proven end to end, beats ten busy agents.</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1261872"/>
          </a:xfrm>
          <a:prstGeom prst="rect">
            <a:avLst/>
          </a:prstGeom>
          <a:noFill/>
          <a:ln/>
        </p:spPr>
        <p:txBody>
          <a:bodyPr wrap="square" lIns="0" tIns="0" rIns="0" bIns="0" rtlCol="0" anchor="t"/>
          <a:lstStyle/>
          <a:p>
            <a:pPr indent="0" marL="0">
              <a:buNone/>
            </a:pPr>
            <a:r>
              <a:rPr lang="en-US" sz="4200" b="1" dirty="0">
                <a:solidFill>
                  <a:srgbClr val="DEDEDE"/>
                </a:solidFill>
                <a:latin typeface="Aptos Display" pitchFamily="34" charset="0"/>
                <a:ea typeface="Aptos Display" pitchFamily="34" charset="-122"/>
                <a:cs typeface="Aptos Display" pitchFamily="34" charset="-120"/>
              </a:rPr>
              <a:t>Give agents a goal.</a:t>
            </a:r>
            <a:endParaRPr lang="en-US" sz="4200" dirty="0"/>
          </a:p>
          <a:p>
            <a:pPr indent="0" marL="0">
              <a:buNone/>
            </a:pPr>
            <a:r>
              <a:rPr lang="en-US" sz="4200" b="1" dirty="0">
                <a:solidFill>
                  <a:srgbClr val="DEDEDE"/>
                </a:solidFill>
                <a:latin typeface="Aptos Display" pitchFamily="34" charset="0"/>
                <a:ea typeface="Aptos Display" pitchFamily="34" charset="-122"/>
                <a:cs typeface="Aptos Display" pitchFamily="34" charset="-120"/>
              </a:rPr>
              <a:t>Give workflows a contract.</a:t>
            </a:r>
            <a:endParaRPr lang="en-US" sz="42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GITHUB COPILOT</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21</a:t>
            </a:r>
            <a:endParaRPr lang="en-US" sz="1300" dirty="0"/>
          </a:p>
        </p:txBody>
      </p:sp>
      <p:sp>
        <p:nvSpPr>
          <p:cNvPr id="7" name="Shape 4"/>
          <p:cNvSpPr/>
          <p:nvPr/>
        </p:nvSpPr>
        <p:spPr>
          <a:xfrm>
            <a:off x="850392" y="2359152"/>
            <a:ext cx="2157984" cy="987552"/>
          </a:xfrm>
          <a:prstGeom prst="roundRect">
            <a:avLst>
              <a:gd name="adj" fmla="val 9259"/>
            </a:avLst>
          </a:prstGeom>
          <a:solidFill>
            <a:srgbClr val="292929"/>
          </a:solidFill>
          <a:ln w="16510">
            <a:solidFill>
              <a:srgbClr val="5F5F5F"/>
            </a:solidFill>
            <a:prstDash val="solid"/>
          </a:ln>
        </p:spPr>
      </p:sp>
      <p:sp>
        <p:nvSpPr>
          <p:cNvPr id="8" name="Text 5"/>
          <p:cNvSpPr/>
          <p:nvPr/>
        </p:nvSpPr>
        <p:spPr>
          <a:xfrm>
            <a:off x="969264" y="2450592"/>
            <a:ext cx="1920240" cy="804672"/>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Evidence</a:t>
            </a:r>
            <a:endParaRPr lang="en-US" sz="2700" dirty="0"/>
          </a:p>
        </p:txBody>
      </p:sp>
      <p:sp>
        <p:nvSpPr>
          <p:cNvPr id="9" name="Shape 6"/>
          <p:cNvSpPr/>
          <p:nvPr/>
        </p:nvSpPr>
        <p:spPr>
          <a:xfrm>
            <a:off x="3666744" y="2359152"/>
            <a:ext cx="2157984" cy="987552"/>
          </a:xfrm>
          <a:prstGeom prst="roundRect">
            <a:avLst>
              <a:gd name="adj" fmla="val 9259"/>
            </a:avLst>
          </a:prstGeom>
          <a:solidFill>
            <a:srgbClr val="FD8EA1"/>
          </a:solidFill>
          <a:ln w="16510">
            <a:solidFill>
              <a:srgbClr val="FD8EA1"/>
            </a:solidFill>
            <a:prstDash val="solid"/>
          </a:ln>
        </p:spPr>
      </p:sp>
      <p:sp>
        <p:nvSpPr>
          <p:cNvPr id="10" name="Text 7"/>
          <p:cNvSpPr/>
          <p:nvPr/>
        </p:nvSpPr>
        <p:spPr>
          <a:xfrm>
            <a:off x="3785616" y="2450592"/>
            <a:ext cx="1920240" cy="804672"/>
          </a:xfrm>
          <a:prstGeom prst="rect">
            <a:avLst/>
          </a:prstGeom>
          <a:noFill/>
          <a:ln/>
        </p:spPr>
        <p:txBody>
          <a:bodyPr wrap="square" lIns="0" tIns="0" rIns="0" bIns="0" rtlCol="0" anchor="ctr"/>
          <a:lstStyle/>
          <a:p>
            <a:pPr algn="ctr" indent="0" marL="0">
              <a:buNone/>
            </a:pPr>
            <a:r>
              <a:rPr lang="en-US" sz="2500" b="1" dirty="0">
                <a:solidFill>
                  <a:srgbClr val="3D3B3A"/>
                </a:solidFill>
                <a:latin typeface="Aptos" pitchFamily="34" charset="0"/>
                <a:ea typeface="Aptos" pitchFamily="34" charset="-122"/>
                <a:cs typeface="Aptos" pitchFamily="34" charset="-120"/>
              </a:rPr>
              <a:t>Bounded action</a:t>
            </a:r>
            <a:endParaRPr lang="en-US" sz="2500" dirty="0"/>
          </a:p>
        </p:txBody>
      </p:sp>
      <p:sp>
        <p:nvSpPr>
          <p:cNvPr id="11" name="Shape 8"/>
          <p:cNvSpPr/>
          <p:nvPr/>
        </p:nvSpPr>
        <p:spPr>
          <a:xfrm>
            <a:off x="6483096" y="2359152"/>
            <a:ext cx="2157984" cy="987552"/>
          </a:xfrm>
          <a:prstGeom prst="roundRect">
            <a:avLst>
              <a:gd name="adj" fmla="val 9259"/>
            </a:avLst>
          </a:prstGeom>
          <a:solidFill>
            <a:srgbClr val="292929"/>
          </a:solidFill>
          <a:ln w="16510">
            <a:solidFill>
              <a:srgbClr val="5F5F5F"/>
            </a:solidFill>
            <a:prstDash val="solid"/>
          </a:ln>
        </p:spPr>
      </p:sp>
      <p:sp>
        <p:nvSpPr>
          <p:cNvPr id="12" name="Text 9"/>
          <p:cNvSpPr/>
          <p:nvPr/>
        </p:nvSpPr>
        <p:spPr>
          <a:xfrm>
            <a:off x="6601968" y="2450592"/>
            <a:ext cx="1920240" cy="804672"/>
          </a:xfrm>
          <a:prstGeom prst="rect">
            <a:avLst/>
          </a:prstGeom>
          <a:noFill/>
          <a:ln/>
        </p:spPr>
        <p:txBody>
          <a:bodyPr wrap="square" lIns="0" tIns="0" rIns="0" bIns="0" rtlCol="0" anchor="ctr"/>
          <a:lstStyle/>
          <a:p>
            <a:pPr algn="ctr" indent="0" marL="0">
              <a:buNone/>
            </a:pPr>
            <a:r>
              <a:rPr lang="en-US" sz="2600" b="1" dirty="0">
                <a:solidFill>
                  <a:srgbClr val="DEDEDE"/>
                </a:solidFill>
                <a:latin typeface="Aptos" pitchFamily="34" charset="0"/>
                <a:ea typeface="Aptos" pitchFamily="34" charset="-122"/>
                <a:cs typeface="Aptos" pitchFamily="34" charset="-120"/>
              </a:rPr>
              <a:t>Verification</a:t>
            </a:r>
            <a:endParaRPr lang="en-US" sz="2600" dirty="0"/>
          </a:p>
        </p:txBody>
      </p:sp>
      <p:sp>
        <p:nvSpPr>
          <p:cNvPr id="13" name="Shape 10"/>
          <p:cNvSpPr/>
          <p:nvPr/>
        </p:nvSpPr>
        <p:spPr>
          <a:xfrm>
            <a:off x="9299448" y="2359152"/>
            <a:ext cx="2029968" cy="987552"/>
          </a:xfrm>
          <a:prstGeom prst="roundRect">
            <a:avLst>
              <a:gd name="adj" fmla="val 9259"/>
            </a:avLst>
          </a:prstGeom>
          <a:solidFill>
            <a:srgbClr val="292929"/>
          </a:solidFill>
          <a:ln w="16510">
            <a:solidFill>
              <a:srgbClr val="5F5F5F"/>
            </a:solidFill>
            <a:prstDash val="solid"/>
          </a:ln>
        </p:spPr>
      </p:sp>
      <p:sp>
        <p:nvSpPr>
          <p:cNvPr id="14" name="Text 11"/>
          <p:cNvSpPr/>
          <p:nvPr/>
        </p:nvSpPr>
        <p:spPr>
          <a:xfrm>
            <a:off x="9418320" y="2450592"/>
            <a:ext cx="1792224" cy="804672"/>
          </a:xfrm>
          <a:prstGeom prst="rect">
            <a:avLst/>
          </a:prstGeom>
          <a:noFill/>
          <a:ln/>
        </p:spPr>
        <p:txBody>
          <a:bodyPr wrap="square" lIns="0" tIns="0" rIns="0" bIns="0" rtlCol="0" anchor="ctr"/>
          <a:lstStyle/>
          <a:p>
            <a:pPr algn="ctr" indent="0" marL="0">
              <a:buNone/>
            </a:pPr>
            <a:r>
              <a:rPr lang="en-US" sz="2700" b="1" dirty="0">
                <a:solidFill>
                  <a:srgbClr val="DEDEDE"/>
                </a:solidFill>
                <a:latin typeface="Aptos" pitchFamily="34" charset="0"/>
                <a:ea typeface="Aptos" pitchFamily="34" charset="-122"/>
                <a:cs typeface="Aptos" pitchFamily="34" charset="-120"/>
              </a:rPr>
              <a:t>Human</a:t>
            </a:r>
            <a:endParaRPr lang="en-US" sz="2700" dirty="0"/>
          </a:p>
        </p:txBody>
      </p:sp>
      <p:sp>
        <p:nvSpPr>
          <p:cNvPr id="15" name="Shape 12"/>
          <p:cNvSpPr/>
          <p:nvPr/>
        </p:nvSpPr>
        <p:spPr>
          <a:xfrm>
            <a:off x="3008376" y="2852928"/>
            <a:ext cx="658368" cy="0"/>
          </a:xfrm>
          <a:prstGeom prst="line">
            <a:avLst/>
          </a:prstGeom>
          <a:noFill/>
          <a:ln w="25400">
            <a:solidFill>
              <a:srgbClr val="FD8EA1"/>
            </a:solidFill>
            <a:prstDash val="solid"/>
            <a:tailEnd type="triangle"/>
          </a:ln>
        </p:spPr>
      </p:sp>
      <p:sp>
        <p:nvSpPr>
          <p:cNvPr id="16" name="Shape 13"/>
          <p:cNvSpPr/>
          <p:nvPr/>
        </p:nvSpPr>
        <p:spPr>
          <a:xfrm>
            <a:off x="5824728" y="2852928"/>
            <a:ext cx="658368" cy="0"/>
          </a:xfrm>
          <a:prstGeom prst="line">
            <a:avLst/>
          </a:prstGeom>
          <a:noFill/>
          <a:ln w="25400">
            <a:solidFill>
              <a:srgbClr val="FD8EA1"/>
            </a:solidFill>
            <a:prstDash val="solid"/>
            <a:tailEnd type="triangle"/>
          </a:ln>
        </p:spPr>
      </p:sp>
      <p:sp>
        <p:nvSpPr>
          <p:cNvPr id="17" name="Shape 14"/>
          <p:cNvSpPr/>
          <p:nvPr/>
        </p:nvSpPr>
        <p:spPr>
          <a:xfrm>
            <a:off x="8641080" y="2852928"/>
            <a:ext cx="658368" cy="0"/>
          </a:xfrm>
          <a:prstGeom prst="line">
            <a:avLst/>
          </a:prstGeom>
          <a:noFill/>
          <a:ln w="25400">
            <a:solidFill>
              <a:srgbClr val="FD8EA1"/>
            </a:solidFill>
            <a:prstDash val="solid"/>
            <a:tailEnd type="triangle"/>
          </a:ln>
        </p:spPr>
      </p:sp>
      <p:sp>
        <p:nvSpPr>
          <p:cNvPr id="18" name="Text 15"/>
          <p:cNvSpPr/>
          <p:nvPr/>
        </p:nvSpPr>
        <p:spPr>
          <a:xfrm>
            <a:off x="896112" y="4261104"/>
            <a:ext cx="10405872" cy="1261872"/>
          </a:xfrm>
          <a:prstGeom prst="rect">
            <a:avLst/>
          </a:prstGeom>
          <a:noFill/>
          <a:ln/>
        </p:spPr>
        <p:txBody>
          <a:bodyPr wrap="square" lIns="0" tIns="0" rIns="0" bIns="0" rtlCol="0" anchor="ctr"/>
          <a:lstStyle/>
          <a:p>
            <a:pPr indent="0" marL="0">
              <a:buNone/>
            </a:pPr>
            <a:r>
              <a:rPr lang="en-US" sz="4000" b="1" dirty="0">
                <a:solidFill>
                  <a:srgbClr val="FD8EA1"/>
                </a:solidFill>
                <a:latin typeface="Aptos Display" pitchFamily="34" charset="0"/>
                <a:ea typeface="Aptos Display" pitchFamily="34" charset="-122"/>
                <a:cs typeface="Aptos Display" pitchFamily="34" charset="-120"/>
              </a:rPr>
              <a:t>Own the process.</a:t>
            </a:r>
            <a:endParaRPr lang="en-US" sz="4000" dirty="0"/>
          </a:p>
          <a:p>
            <a:pPr indent="0" marL="0">
              <a:buNone/>
            </a:pPr>
            <a:r>
              <a:rPr lang="en-US" sz="4000" b="1" dirty="0">
                <a:solidFill>
                  <a:srgbClr val="FD8EA1"/>
                </a:solidFill>
                <a:latin typeface="Aptos Display" pitchFamily="34" charset="0"/>
                <a:ea typeface="Aptos Display" pitchFamily="34" charset="-122"/>
                <a:cs typeface="Aptos Display" pitchFamily="34" charset="-120"/>
              </a:rPr>
              <a:t>Let the path adapt.</a:t>
            </a:r>
            <a:endParaRPr lang="en-US" sz="4000" dirty="0"/>
          </a:p>
        </p:txBody>
      </p:sp>
      <p:sp>
        <p:nvSpPr>
          <p:cNvPr id="19" name="Text 16"/>
          <p:cNvSpPr/>
          <p:nvPr/>
        </p:nvSpPr>
        <p:spPr>
          <a:xfrm>
            <a:off x="932688" y="5833872"/>
            <a:ext cx="10424160" cy="356616"/>
          </a:xfrm>
          <a:prstGeom prst="rect">
            <a:avLst/>
          </a:prstGeom>
          <a:noFill/>
          <a:ln/>
        </p:spPr>
        <p:txBody>
          <a:bodyPr wrap="square" lIns="0" tIns="0" rIns="0" bIns="0" rtlCol="0" anchor="ctr"/>
          <a:lstStyle/>
          <a:p>
            <a:pPr indent="0" marL="0">
              <a:buNone/>
            </a:pPr>
            <a:r>
              <a:rPr lang="en-US" sz="2100" dirty="0">
                <a:solidFill>
                  <a:srgbClr val="B0B0B0"/>
                </a:solidFill>
                <a:latin typeface="Aptos" pitchFamily="34" charset="0"/>
                <a:ea typeface="Aptos" pitchFamily="34" charset="-122"/>
                <a:cs typeface="Aptos" pitchFamily="34" charset="-120"/>
              </a:rPr>
              <a:t>PowerPoint + source + offline fallback + native extension included.</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the API contract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22</a:t>
            </a:r>
            <a:endParaRPr lang="en-US" sz="1300" dirty="0"/>
          </a:p>
        </p:txBody>
      </p:sp>
      <p:sp>
        <p:nvSpPr>
          <p:cNvPr id="7" name="Text 4"/>
          <p:cNvSpPr/>
          <p:nvPr/>
        </p:nvSpPr>
        <p:spPr>
          <a:xfrm>
            <a:off x="786384" y="170992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ctx.agent</a:t>
            </a:r>
            <a:endParaRPr lang="en-US" sz="2600" dirty="0"/>
          </a:p>
        </p:txBody>
      </p:sp>
      <p:sp>
        <p:nvSpPr>
          <p:cNvPr id="8" name="Text 5"/>
          <p:cNvSpPr/>
          <p:nvPr/>
        </p:nvSpPr>
        <p:spPr>
          <a:xfrm>
            <a:off x="3685032" y="170992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Explicit model + effort + shape. Guard null and validate semantics.</a:t>
            </a:r>
            <a:endParaRPr lang="en-US" sz="2400" dirty="0"/>
          </a:p>
        </p:txBody>
      </p:sp>
      <p:sp>
        <p:nvSpPr>
          <p:cNvPr id="9" name="Text 6"/>
          <p:cNvSpPr/>
          <p:nvPr/>
        </p:nvSpPr>
        <p:spPr>
          <a:xfrm>
            <a:off x="786384" y="271576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ctx.parallel</a:t>
            </a:r>
            <a:endParaRPr lang="en-US" sz="2600" dirty="0"/>
          </a:p>
        </p:txBody>
      </p:sp>
      <p:sp>
        <p:nvSpPr>
          <p:cNvPr id="10" name="Text 7"/>
          <p:cNvSpPr/>
          <p:nvPr/>
        </p:nvSpPr>
        <p:spPr>
          <a:xfrm>
            <a:off x="3685032" y="271576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Independent calls overlap; the next barrier waits for all results.</a:t>
            </a:r>
            <a:endParaRPr lang="en-US" sz="2400" dirty="0"/>
          </a:p>
        </p:txBody>
      </p:sp>
      <p:sp>
        <p:nvSpPr>
          <p:cNvPr id="11" name="Text 8"/>
          <p:cNvSpPr/>
          <p:nvPr/>
        </p:nvSpPr>
        <p:spPr>
          <a:xfrm>
            <a:off x="786384" y="372160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ctx.step</a:t>
            </a:r>
            <a:endParaRPr lang="en-US" sz="2600" dirty="0"/>
          </a:p>
        </p:txBody>
      </p:sp>
      <p:sp>
        <p:nvSpPr>
          <p:cNvPr id="12" name="Text 9"/>
          <p:cNvSpPr/>
          <p:nvPr/>
        </p:nvSpPr>
        <p:spPr>
          <a:xfrm>
            <a:off x="3685032" y="372160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Versioned key + JSON result. Keep effects idempotent.</a:t>
            </a:r>
            <a:endParaRPr lang="en-US" sz="2400" dirty="0"/>
          </a:p>
        </p:txBody>
      </p:sp>
      <p:sp>
        <p:nvSpPr>
          <p:cNvPr id="13" name="Text 10"/>
          <p:cNvSpPr/>
          <p:nvPr/>
        </p:nvSpPr>
        <p:spPr>
          <a:xfrm>
            <a:off x="786384" y="4727448"/>
            <a:ext cx="2770632" cy="621792"/>
          </a:xfrm>
          <a:prstGeom prst="rect">
            <a:avLst/>
          </a:prstGeom>
          <a:noFill/>
          <a:ln/>
        </p:spPr>
        <p:txBody>
          <a:bodyPr wrap="square" lIns="0" tIns="0" rIns="0" bIns="0" rtlCol="0" anchor="t"/>
          <a:lstStyle/>
          <a:p>
            <a:pPr indent="0" marL="0">
              <a:buNone/>
            </a:pPr>
            <a:r>
              <a:rPr lang="en-US" sz="2600" b="1" dirty="0">
                <a:solidFill>
                  <a:srgbClr val="B11F4B"/>
                </a:solidFill>
                <a:latin typeface="Consolas" pitchFamily="34" charset="0"/>
                <a:ea typeface="Consolas" pitchFamily="34" charset="-122"/>
                <a:cs typeface="Consolas" pitchFamily="34" charset="-120"/>
              </a:rPr>
              <a:t>ctx.pause</a:t>
            </a:r>
            <a:endParaRPr lang="en-US" sz="2600" dirty="0"/>
          </a:p>
        </p:txBody>
      </p:sp>
      <p:sp>
        <p:nvSpPr>
          <p:cNvPr id="14" name="Text 11"/>
          <p:cNvSpPr/>
          <p:nvPr/>
        </p:nvSpPr>
        <p:spPr>
          <a:xfrm>
            <a:off x="3685032" y="4727448"/>
            <a:ext cx="7516368" cy="795528"/>
          </a:xfrm>
          <a:prstGeom prst="rect">
            <a:avLst/>
          </a:prstGeom>
          <a:noFill/>
          <a:ln/>
        </p:spPr>
        <p:txBody>
          <a:bodyPr wrap="square" lIns="0" tIns="0" rIns="0" bIns="0" rtlCol="0" anchor="t"/>
          <a:lstStyle/>
          <a:p>
            <a:pPr indent="0" marL="0">
              <a:buNone/>
            </a:pPr>
            <a:r>
              <a:rPr lang="en-US" sz="2400" dirty="0">
                <a:solidFill>
                  <a:srgbClr val="242424"/>
                </a:solidFill>
                <a:latin typeface="Aptos" pitchFamily="34" charset="0"/>
                <a:ea typeface="Aptos" pitchFamily="34" charset="-122"/>
                <a:cs typeface="Aptos" pitchFamily="34" charset="-120"/>
              </a:rPr>
              <a:t>One-shot durable checkpoint. Resume reuses saved work.</a:t>
            </a:r>
            <a:endParaRPr lang="en-US" sz="2400" dirty="0"/>
          </a:p>
        </p:txBody>
      </p:sp>
      <p:sp>
        <p:nvSpPr>
          <p:cNvPr id="15" name="Text 12"/>
          <p:cNvSpPr/>
          <p:nvPr/>
        </p:nvSpPr>
        <p:spPr>
          <a:xfrm>
            <a:off x="886968" y="5687568"/>
            <a:ext cx="10442448" cy="438912"/>
          </a:xfrm>
          <a:prstGeom prst="rect">
            <a:avLst/>
          </a:prstGeom>
          <a:noFill/>
          <a:ln/>
        </p:spPr>
        <p:txBody>
          <a:bodyPr wrap="square" lIns="0" tIns="0" rIns="0" bIns="0" rtlCol="0" anchor="ctr"/>
          <a:lstStyle/>
          <a:p>
            <a:pPr indent="0" marL="0">
              <a:buNone/>
            </a:pPr>
            <a:r>
              <a:rPr lang="en-US" sz="2000" dirty="0">
                <a:solidFill>
                  <a:srgbClr val="5C5C5C"/>
                </a:solidFill>
                <a:latin typeface="Aptos" pitchFamily="34" charset="0"/>
                <a:ea typeface="Aptos" pitchFamily="34" charset="-122"/>
                <a:cs typeface="Aptos" pitchFamily="34" charset="-120"/>
              </a:rPr>
              <a:t>Not full JSON Schema. Not exactly-once. Not nested workflows.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Reference: preflight the actual host</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23</a:t>
            </a:r>
            <a:endParaRPr lang="en-US" sz="1300" dirty="0"/>
          </a:p>
        </p:txBody>
      </p:sp>
      <p:sp>
        <p:nvSpPr>
          <p:cNvPr id="7" name="Shape 4"/>
          <p:cNvSpPr/>
          <p:nvPr/>
        </p:nvSpPr>
        <p:spPr>
          <a:xfrm>
            <a:off x="704088" y="1746504"/>
            <a:ext cx="5285232" cy="3127248"/>
          </a:xfrm>
          <a:prstGeom prst="roundRect">
            <a:avLst>
              <a:gd name="adj" fmla="val 3509"/>
            </a:avLst>
          </a:prstGeom>
          <a:solidFill>
            <a:srgbClr val="292929"/>
          </a:solidFill>
          <a:ln w="12700">
            <a:solidFill>
              <a:srgbClr val="5F5F5F"/>
            </a:solidFill>
            <a:prstDash val="solid"/>
          </a:ln>
        </p:spPr>
      </p:sp>
      <p:sp>
        <p:nvSpPr>
          <p:cNvPr id="8" name="Text 5"/>
          <p:cNvSpPr/>
          <p:nvPr/>
        </p:nvSpPr>
        <p:spPr>
          <a:xfrm>
            <a:off x="905256" y="1947672"/>
            <a:ext cx="4882896" cy="603504"/>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Client + plan</a:t>
            </a:r>
            <a:endParaRPr lang="en-US" sz="2800" dirty="0"/>
          </a:p>
        </p:txBody>
      </p:sp>
      <p:sp>
        <p:nvSpPr>
          <p:cNvPr id="9" name="Text 6"/>
          <p:cNvSpPr/>
          <p:nvPr/>
        </p:nvSpPr>
        <p:spPr>
          <a:xfrm>
            <a:off x="905256" y="2679192"/>
            <a:ext cx="4882896" cy="2029968"/>
          </a:xfrm>
          <a:prstGeom prst="rect">
            <a:avLst/>
          </a:prstGeom>
          <a:noFill/>
          <a:ln/>
        </p:spPr>
        <p:txBody>
          <a:bodyPr wrap="square" lIns="0" tIns="0" rIns="0" bIns="0" rtlCol="0" anchor="t"/>
          <a:lstStyle/>
          <a:p>
            <a:pPr indent="0" marL="0">
              <a:buNone/>
            </a:pPr>
            <a:r>
              <a:rPr lang="en-US" sz="2400" dirty="0">
                <a:solidFill>
                  <a:srgbClr val="B0B0B0"/>
                </a:solidFill>
                <a:latin typeface="Aptos" pitchFamily="34" charset="0"/>
                <a:ea typeface="Aptos" pitchFamily="34" charset="-122"/>
                <a:cs typeface="Aptos" pitchFamily="34" charset="-120"/>
              </a:rPr>
              <a:t>Experimental features on.</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Eligible plan + authentication.</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App monitoring: local sessions.</a:t>
            </a:r>
            <a:endParaRPr lang="en-US" sz="2400" dirty="0"/>
          </a:p>
        </p:txBody>
      </p:sp>
      <p:sp>
        <p:nvSpPr>
          <p:cNvPr id="10" name="Shape 7"/>
          <p:cNvSpPr/>
          <p:nvPr/>
        </p:nvSpPr>
        <p:spPr>
          <a:xfrm>
            <a:off x="6208776" y="1746504"/>
            <a:ext cx="5285232" cy="3127248"/>
          </a:xfrm>
          <a:prstGeom prst="roundRect">
            <a:avLst>
              <a:gd name="adj" fmla="val 3509"/>
            </a:avLst>
          </a:prstGeom>
          <a:solidFill>
            <a:srgbClr val="292929"/>
          </a:solidFill>
          <a:ln w="25400">
            <a:solidFill>
              <a:srgbClr val="FD8EA1"/>
            </a:solidFill>
            <a:prstDash val="solid"/>
          </a:ln>
        </p:spPr>
      </p:sp>
      <p:sp>
        <p:nvSpPr>
          <p:cNvPr id="11" name="Text 8"/>
          <p:cNvSpPr/>
          <p:nvPr/>
        </p:nvSpPr>
        <p:spPr>
          <a:xfrm>
            <a:off x="6409944" y="1947672"/>
            <a:ext cx="4882896" cy="603504"/>
          </a:xfrm>
          <a:prstGeom prst="rect">
            <a:avLst/>
          </a:prstGeom>
          <a:noFill/>
          <a:ln/>
        </p:spPr>
        <p:txBody>
          <a:bodyPr wrap="square" lIns="0" tIns="0" rIns="0" bIns="0" rtlCol="0" anchor="ctr"/>
          <a:lstStyle/>
          <a:p>
            <a:pPr indent="0" marL="0">
              <a:buNone/>
            </a:pPr>
            <a:r>
              <a:rPr lang="en-US" sz="2800" b="1" dirty="0">
                <a:solidFill>
                  <a:srgbClr val="DEDEDE"/>
                </a:solidFill>
                <a:latin typeface="Aptos" pitchFamily="34" charset="0"/>
                <a:ea typeface="Aptos" pitchFamily="34" charset="-122"/>
                <a:cs typeface="Aptos" pitchFamily="34" charset="-120"/>
              </a:rPr>
              <a:t>Models + limits</a:t>
            </a:r>
            <a:endParaRPr lang="en-US" sz="2800" dirty="0"/>
          </a:p>
        </p:txBody>
      </p:sp>
      <p:sp>
        <p:nvSpPr>
          <p:cNvPr id="12" name="Text 9"/>
          <p:cNvSpPr/>
          <p:nvPr/>
        </p:nvSpPr>
        <p:spPr>
          <a:xfrm>
            <a:off x="6409944" y="2679192"/>
            <a:ext cx="4882896" cy="2029968"/>
          </a:xfrm>
          <a:prstGeom prst="rect">
            <a:avLst/>
          </a:prstGeom>
          <a:noFill/>
          <a:ln/>
        </p:spPr>
        <p:txBody>
          <a:bodyPr wrap="square" lIns="0" tIns="0" rIns="0" bIns="0" rtlCol="0" anchor="t"/>
          <a:lstStyle/>
          <a:p>
            <a:pPr indent="0" marL="0">
              <a:buNone/>
            </a:pPr>
            <a:r>
              <a:rPr lang="en-US" sz="2400" dirty="0">
                <a:solidFill>
                  <a:srgbClr val="B0B0B0"/>
                </a:solidFill>
                <a:latin typeface="Aptos" pitchFamily="34" charset="0"/>
                <a:ea typeface="Aptos" pitchFamily="34" charset="-122"/>
                <a:cs typeface="Aptos" pitchFamily="34" charset="-120"/>
              </a:rPr>
              <a:t>GPT-6.1 Sol / max</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Sonnet 5.5 / high</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2 concurrent; 6 admissions</a:t>
            </a:r>
            <a:endParaRPr lang="en-US" sz="2400" dirty="0"/>
          </a:p>
          <a:p>
            <a:pPr indent="0" marL="0">
              <a:buNone/>
            </a:pPr>
            <a:r>
              <a:rPr lang="en-US" sz="2400" dirty="0">
                <a:solidFill>
                  <a:srgbClr val="B0B0B0"/>
                </a:solidFill>
                <a:latin typeface="Aptos" pitchFamily="34" charset="0"/>
                <a:ea typeface="Aptos" pitchFamily="34" charset="-122"/>
                <a:cs typeface="Aptos" pitchFamily="34" charset="-120"/>
              </a:rPr>
              <a:t>480 seconds active runtime</a:t>
            </a:r>
            <a:endParaRPr lang="en-US" sz="2400" dirty="0"/>
          </a:p>
        </p:txBody>
      </p:sp>
      <p:sp>
        <p:nvSpPr>
          <p:cNvPr id="13" name="Text 10"/>
          <p:cNvSpPr/>
          <p:nvPr/>
        </p:nvSpPr>
        <p:spPr>
          <a:xfrm>
            <a:off x="877824" y="5330952"/>
            <a:ext cx="10442448" cy="777240"/>
          </a:xfrm>
          <a:prstGeom prst="rect">
            <a:avLst/>
          </a:prstGeom>
          <a:noFill/>
          <a:ln/>
        </p:spPr>
        <p:txBody>
          <a:bodyPr wrap="square" lIns="0" tIns="0" rIns="0" bIns="0" rtlCol="0" anchor="ctr"/>
          <a:lstStyle/>
          <a:p>
            <a:pPr indent="0" marL="0">
              <a:buNone/>
            </a:pPr>
            <a:r>
              <a:rPr lang="en-US" sz="2500" b="1" dirty="0">
                <a:solidFill>
                  <a:srgbClr val="DEDEDE"/>
                </a:solidFill>
                <a:latin typeface="Aptos" pitchFamily="34" charset="0"/>
                <a:ea typeface="Aptos" pitchFamily="34" charset="-122"/>
                <a:cs typeface="Aptos" pitchFamily="34" charset="-120"/>
              </a:rPr>
              <a:t>AI-credit limits are approximate. Measure usage before setting a budget.</a:t>
            </a:r>
            <a:endParaRPr lang="en-US" sz="2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on-stage recovery</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S2 · S3 · S5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24</a:t>
            </a:r>
            <a:endParaRPr lang="en-US" sz="1300" dirty="0"/>
          </a:p>
        </p:txBody>
      </p:sp>
      <p:sp>
        <p:nvSpPr>
          <p:cNvPr id="7" name="Text 4"/>
          <p:cNvSpPr/>
          <p:nvPr/>
        </p:nvSpPr>
        <p:spPr>
          <a:xfrm>
            <a:off x="786384" y="1737360"/>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Network / model unavailable</a:t>
            </a:r>
            <a:endParaRPr lang="en-US" sz="2400" dirty="0"/>
          </a:p>
        </p:txBody>
      </p:sp>
      <p:sp>
        <p:nvSpPr>
          <p:cNvPr id="8" name="Text 5"/>
          <p:cNvSpPr/>
          <p:nvPr/>
        </p:nvSpPr>
        <p:spPr>
          <a:xfrm>
            <a:off x="5184648" y="1737360"/>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Switch to Offline rehearsal. Say: 'Real checks, no LLM calls.'</a:t>
            </a:r>
            <a:endParaRPr lang="en-US" sz="2300" dirty="0"/>
          </a:p>
        </p:txBody>
      </p:sp>
      <p:sp>
        <p:nvSpPr>
          <p:cNvPr id="9" name="Text 6"/>
          <p:cNvSpPr/>
          <p:nvPr/>
        </p:nvSpPr>
        <p:spPr>
          <a:xfrm>
            <a:off x="786384" y="2752344"/>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Workflow not found</a:t>
            </a:r>
            <a:endParaRPr lang="en-US" sz="2400" dirty="0"/>
          </a:p>
        </p:txBody>
      </p:sp>
      <p:sp>
        <p:nvSpPr>
          <p:cNvPr id="10" name="Text 7"/>
          <p:cNvSpPr/>
          <p:nvPr/>
        </p:nvSpPr>
        <p:spPr>
          <a:xfrm>
            <a:off x="5184648" y="2752344"/>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Check experimental mode, extension discovery, and reviewed trust.</a:t>
            </a:r>
            <a:endParaRPr lang="en-US" sz="2300" dirty="0"/>
          </a:p>
        </p:txBody>
      </p:sp>
      <p:sp>
        <p:nvSpPr>
          <p:cNvPr id="11" name="Text 8"/>
          <p:cNvSpPr/>
          <p:nvPr/>
        </p:nvSpPr>
        <p:spPr>
          <a:xfrm>
            <a:off x="786384" y="3767328"/>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Unknown --args</a:t>
            </a:r>
            <a:endParaRPr lang="en-US" sz="2400" dirty="0"/>
          </a:p>
        </p:txBody>
      </p:sp>
      <p:sp>
        <p:nvSpPr>
          <p:cNvPr id="12" name="Text 9"/>
          <p:cNvSpPr/>
          <p:nvPr/>
        </p:nvSpPr>
        <p:spPr>
          <a:xfrm>
            <a:off x="5184648" y="3767328"/>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Check active CLI; do not force the older bundled runtime.</a:t>
            </a:r>
            <a:endParaRPr lang="en-US" sz="2300" dirty="0"/>
          </a:p>
        </p:txBody>
      </p:sp>
      <p:sp>
        <p:nvSpPr>
          <p:cNvPr id="13" name="Text 10"/>
          <p:cNvSpPr/>
          <p:nvPr/>
        </p:nvSpPr>
        <p:spPr>
          <a:xfrm>
            <a:off x="786384" y="4782312"/>
            <a:ext cx="4206240" cy="621792"/>
          </a:xfrm>
          <a:prstGeom prst="rect">
            <a:avLst/>
          </a:prstGeom>
          <a:noFill/>
          <a:ln/>
        </p:spPr>
        <p:txBody>
          <a:bodyPr wrap="square" lIns="0" tIns="0" rIns="0" bIns="0" rtlCol="0" anchor="t"/>
          <a:lstStyle/>
          <a:p>
            <a:pPr indent="0" marL="0">
              <a:buNone/>
            </a:pPr>
            <a:r>
              <a:rPr lang="en-US" sz="2400" b="1" dirty="0">
                <a:solidFill>
                  <a:srgbClr val="242424"/>
                </a:solidFill>
                <a:latin typeface="Aptos" pitchFamily="34" charset="0"/>
                <a:ea typeface="Aptos" pitchFamily="34" charset="-122"/>
                <a:cs typeface="Aptos" pitchFamily="34" charset="-120"/>
              </a:rPr>
              <a:t>Checkpoint reached</a:t>
            </a:r>
            <a:endParaRPr lang="en-US" sz="2400" dirty="0"/>
          </a:p>
        </p:txBody>
      </p:sp>
      <p:sp>
        <p:nvSpPr>
          <p:cNvPr id="14" name="Text 11"/>
          <p:cNvSpPr/>
          <p:nvPr/>
        </p:nvSpPr>
        <p:spPr>
          <a:xfrm>
            <a:off x="5184648" y="4782312"/>
            <a:ext cx="5989320" cy="786384"/>
          </a:xfrm>
          <a:prstGeom prst="rect">
            <a:avLst/>
          </a:prstGeom>
          <a:noFill/>
          <a:ln/>
        </p:spPr>
        <p:txBody>
          <a:bodyPr wrap="square" lIns="0" tIns="0" rIns="0" bIns="0" rtlCol="0" anchor="t"/>
          <a:lstStyle/>
          <a:p>
            <a:pPr indent="0" marL="0">
              <a:buNone/>
            </a:pPr>
            <a:r>
              <a:rPr lang="en-US" sz="2300" dirty="0">
                <a:solidFill>
                  <a:srgbClr val="5C5C5C"/>
                </a:solidFill>
                <a:latin typeface="Aptos" pitchFamily="34" charset="0"/>
                <a:ea typeface="Aptos" pitchFamily="34" charset="-122"/>
                <a:cs typeface="Aptos" pitchFamily="34" charset="-120"/>
              </a:rPr>
              <a:t>Review the draft, then type APPROVE in the running SDK terminal.</a:t>
            </a:r>
            <a:endParaRPr lang="en-US" sz="2300" dirty="0"/>
          </a:p>
        </p:txBody>
      </p:sp>
      <p:sp>
        <p:nvSpPr>
          <p:cNvPr id="15" name="Text 12"/>
          <p:cNvSpPr/>
          <p:nvPr/>
        </p:nvSpPr>
        <p:spPr>
          <a:xfrm>
            <a:off x="877824" y="5660136"/>
            <a:ext cx="10424160" cy="530352"/>
          </a:xfrm>
          <a:prstGeom prst="rect">
            <a:avLst/>
          </a:prstGeom>
          <a:noFill/>
          <a:ln/>
        </p:spPr>
        <p:txBody>
          <a:bodyPr wrap="square" lIns="0" tIns="0" rIns="0" bIns="0" rtlCol="0" anchor="ctr"/>
          <a:lstStyle/>
          <a:p>
            <a:pPr indent="0" marL="0">
              <a:buNone/>
            </a:pPr>
            <a:r>
              <a:rPr lang="en-US" sz="2400" b="1" dirty="0">
                <a:solidFill>
                  <a:srgbClr val="B11F4B"/>
                </a:solidFill>
                <a:latin typeface="Aptos" pitchFamily="34" charset="0"/>
                <a:ea typeface="Aptos" pitchFamily="34" charset="-122"/>
                <a:cs typeface="Aptos" pitchFamily="34" charset="-120"/>
              </a:rPr>
              <a:t>A held candidate is better than invented success.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3D3B3A"/>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DEDEDE"/>
                </a:solidFill>
                <a:latin typeface="Aptos Display" pitchFamily="34" charset="0"/>
                <a:ea typeface="Aptos Display" pitchFamily="34" charset="-122"/>
                <a:cs typeface="Aptos Display" pitchFamily="34" charset="-120"/>
              </a:rPr>
              <a:t>Reference: read the primary sources</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B0B0B0"/>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B0B0B0"/>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S5 · S14 · S15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B0B0B0"/>
                </a:solidFill>
                <a:latin typeface="Aptos" pitchFamily="34" charset="0"/>
                <a:ea typeface="Aptos" pitchFamily="34" charset="-122"/>
                <a:cs typeface="Aptos" pitchFamily="34" charset="-120"/>
              </a:rPr>
              <a:t>25</a:t>
            </a:r>
            <a:endParaRPr lang="en-US" sz="1300" dirty="0"/>
          </a:p>
        </p:txBody>
      </p:sp>
      <p:sp>
        <p:nvSpPr>
          <p:cNvPr id="7" name="Text 4"/>
          <p:cNvSpPr/>
          <p:nvPr/>
        </p:nvSpPr>
        <p:spPr>
          <a:xfrm>
            <a:off x="786384" y="1655064"/>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a:t>
            </a:r>
            <a:endParaRPr lang="en-US" sz="2100" dirty="0"/>
          </a:p>
        </p:txBody>
      </p:sp>
      <p:sp>
        <p:nvSpPr>
          <p:cNvPr id="8" name="Text 5">
            <a:hlinkClick r:id="rId2" tooltip=""/>
          </p:cNvPr>
          <p:cNvSpPr/>
          <p:nvPr/>
        </p:nvSpPr>
        <p:spPr>
          <a:xfrm>
            <a:off x="1554480" y="1655064"/>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Dynamic workflows</a:t>
            </a:r>
            <a:endParaRPr lang="en-US" sz="2400" dirty="0"/>
          </a:p>
        </p:txBody>
      </p:sp>
      <p:sp>
        <p:nvSpPr>
          <p:cNvPr id="9" name="Text 6"/>
          <p:cNvSpPr/>
          <p:nvPr/>
        </p:nvSpPr>
        <p:spPr>
          <a:xfrm>
            <a:off x="786384" y="2286000"/>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S2</a:t>
            </a:r>
            <a:endParaRPr lang="en-US" sz="2100" dirty="0"/>
          </a:p>
        </p:txBody>
      </p:sp>
      <p:sp>
        <p:nvSpPr>
          <p:cNvPr id="10" name="Text 7">
            <a:hlinkClick r:id="rId3" tooltip=""/>
          </p:cNvPr>
          <p:cNvSpPr/>
          <p:nvPr/>
        </p:nvSpPr>
        <p:spPr>
          <a:xfrm>
            <a:off x="1554480" y="2286000"/>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Using dynamic workflows</a:t>
            </a:r>
            <a:endParaRPr lang="en-US" sz="2400" dirty="0"/>
          </a:p>
        </p:txBody>
      </p:sp>
      <p:sp>
        <p:nvSpPr>
          <p:cNvPr id="11" name="Text 8"/>
          <p:cNvSpPr/>
          <p:nvPr/>
        </p:nvSpPr>
        <p:spPr>
          <a:xfrm>
            <a:off x="786384" y="2916936"/>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S3</a:t>
            </a:r>
            <a:endParaRPr lang="en-US" sz="2100" dirty="0"/>
          </a:p>
        </p:txBody>
      </p:sp>
      <p:sp>
        <p:nvSpPr>
          <p:cNvPr id="12" name="Text 9">
            <a:hlinkClick r:id="rId4" tooltip=""/>
          </p:cNvPr>
          <p:cNvSpPr/>
          <p:nvPr/>
        </p:nvSpPr>
        <p:spPr>
          <a:xfrm>
            <a:off x="1554480" y="2916936"/>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Official SDK: Dynamic Workflows</a:t>
            </a:r>
            <a:endParaRPr lang="en-US" sz="2400" dirty="0"/>
          </a:p>
        </p:txBody>
      </p:sp>
      <p:sp>
        <p:nvSpPr>
          <p:cNvPr id="13" name="Text 10"/>
          <p:cNvSpPr/>
          <p:nvPr/>
        </p:nvSpPr>
        <p:spPr>
          <a:xfrm>
            <a:off x="786384" y="3547872"/>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S5</a:t>
            </a:r>
            <a:endParaRPr lang="en-US" sz="2100" dirty="0"/>
          </a:p>
        </p:txBody>
      </p:sp>
      <p:sp>
        <p:nvSpPr>
          <p:cNvPr id="14" name="Text 11">
            <a:hlinkClick r:id="rId5" tooltip=""/>
          </p:cNvPr>
          <p:cNvSpPr/>
          <p:nvPr/>
        </p:nvSpPr>
        <p:spPr>
          <a:xfrm>
            <a:off x="1554480" y="3547872"/>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CLI programmatic reference</a:t>
            </a:r>
            <a:endParaRPr lang="en-US" sz="2400" dirty="0"/>
          </a:p>
        </p:txBody>
      </p:sp>
      <p:sp>
        <p:nvSpPr>
          <p:cNvPr id="15" name="Text 12"/>
          <p:cNvSpPr/>
          <p:nvPr/>
        </p:nvSpPr>
        <p:spPr>
          <a:xfrm>
            <a:off x="786384" y="4178808"/>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S14</a:t>
            </a:r>
            <a:endParaRPr lang="en-US" sz="2100" dirty="0"/>
          </a:p>
        </p:txBody>
      </p:sp>
      <p:sp>
        <p:nvSpPr>
          <p:cNvPr id="16" name="Text 13">
            <a:hlinkClick r:id="rId6" tooltip=""/>
          </p:cNvPr>
          <p:cNvSpPr/>
          <p:nvPr/>
        </p:nvSpPr>
        <p:spPr>
          <a:xfrm>
            <a:off x="1554480" y="4178808"/>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How GitHub Agentic Workflows work</a:t>
            </a:r>
            <a:endParaRPr lang="en-US" sz="2400" dirty="0"/>
          </a:p>
        </p:txBody>
      </p:sp>
      <p:sp>
        <p:nvSpPr>
          <p:cNvPr id="17" name="Text 14"/>
          <p:cNvSpPr/>
          <p:nvPr/>
        </p:nvSpPr>
        <p:spPr>
          <a:xfrm>
            <a:off x="786384" y="4809744"/>
            <a:ext cx="548640" cy="402336"/>
          </a:xfrm>
          <a:prstGeom prst="rect">
            <a:avLst/>
          </a:prstGeom>
          <a:noFill/>
          <a:ln/>
        </p:spPr>
        <p:txBody>
          <a:bodyPr wrap="square" lIns="0" tIns="0" rIns="0" bIns="0" rtlCol="0" anchor="ctr"/>
          <a:lstStyle/>
          <a:p>
            <a:pPr indent="0" marL="0">
              <a:buNone/>
            </a:pPr>
            <a:r>
              <a:rPr lang="en-US" sz="2100" b="1" dirty="0">
                <a:solidFill>
                  <a:srgbClr val="FD8EA1"/>
                </a:solidFill>
                <a:latin typeface="Aptos" pitchFamily="34" charset="0"/>
                <a:ea typeface="Aptos" pitchFamily="34" charset="-122"/>
                <a:cs typeface="Aptos" pitchFamily="34" charset="-120"/>
              </a:rPr>
              <a:t>S15</a:t>
            </a:r>
            <a:endParaRPr lang="en-US" sz="2100" dirty="0"/>
          </a:p>
        </p:txBody>
      </p:sp>
      <p:sp>
        <p:nvSpPr>
          <p:cNvPr id="18" name="Text 15">
            <a:hlinkClick r:id="rId7" tooltip=""/>
          </p:cNvPr>
          <p:cNvSpPr/>
          <p:nvPr/>
        </p:nvSpPr>
        <p:spPr>
          <a:xfrm>
            <a:off x="1554480" y="4809744"/>
            <a:ext cx="9692640" cy="429768"/>
          </a:xfrm>
          <a:prstGeom prst="rect">
            <a:avLst/>
          </a:prstGeom>
          <a:noFill/>
          <a:ln/>
        </p:spPr>
        <p:txBody>
          <a:bodyPr wrap="square" lIns="0" tIns="0" rIns="0" bIns="0" rtlCol="0" anchor="ctr"/>
          <a:lstStyle/>
          <a:p>
            <a:pPr indent="0" marL="0">
              <a:buNone/>
            </a:pPr>
            <a:r>
              <a:rPr lang="en-US" sz="2400" u="sng" dirty="0">
                <a:solidFill>
                  <a:srgbClr val="DEDEDE"/>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 Agentic Workflows security architecture</a:t>
            </a:r>
            <a:endParaRPr lang="en-US" sz="2400" dirty="0"/>
          </a:p>
        </p:txBody>
      </p:sp>
      <p:sp>
        <p:nvSpPr>
          <p:cNvPr id="19" name="Text 16"/>
          <p:cNvSpPr/>
          <p:nvPr/>
        </p:nvSpPr>
        <p:spPr>
          <a:xfrm>
            <a:off x="886968" y="5696712"/>
            <a:ext cx="10442448" cy="530352"/>
          </a:xfrm>
          <a:prstGeom prst="rect">
            <a:avLst/>
          </a:prstGeom>
          <a:noFill/>
          <a:ln/>
        </p:spPr>
        <p:txBody>
          <a:bodyPr wrap="square" lIns="0" tIns="0" rIns="0" bIns="0" rtlCol="0" anchor="ctr"/>
          <a:lstStyle/>
          <a:p>
            <a:pPr indent="0" marL="0">
              <a:buNone/>
            </a:pPr>
            <a:r>
              <a:rPr lang="en-US" sz="2400" dirty="0">
                <a:solidFill>
                  <a:srgbClr val="B0B0B0"/>
                </a:solidFill>
                <a:latin typeface="Aptos" pitchFamily="34" charset="0"/>
                <a:ea typeface="Aptos" pitchFamily="34" charset="-122"/>
                <a:cs typeface="Aptos" pitchFamily="34" charset="-120"/>
              </a:rPr>
              <a:t>20 primary sources. Full evidence inventory packaged with the demo.</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66928" y="429768"/>
            <a:ext cx="11009376" cy="768096"/>
          </a:xfrm>
          <a:prstGeom prst="rect">
            <a:avLst/>
          </a:prstGeom>
          <a:noFill/>
          <a:ln/>
        </p:spPr>
        <p:txBody>
          <a:bodyPr wrap="square" lIns="0" tIns="0" rIns="0" bIns="0" rtlCol="0" anchor="t"/>
          <a:lstStyle/>
          <a:p>
            <a:pPr indent="0" marL="0">
              <a:buNone/>
            </a:pPr>
            <a:r>
              <a:rPr lang="en-US" sz="4400" b="1" dirty="0">
                <a:solidFill>
                  <a:srgbClr val="242424"/>
                </a:solidFill>
                <a:latin typeface="Aptos Display" pitchFamily="34" charset="0"/>
                <a:ea typeface="Aptos Display" pitchFamily="34" charset="-122"/>
                <a:cs typeface="Aptos Display" pitchFamily="34" charset="-120"/>
              </a:rPr>
              <a:t>Reference: prompt it in the app</a:t>
            </a:r>
            <a:endParaRPr lang="en-US" sz="4400" dirty="0"/>
          </a:p>
        </p:txBody>
      </p:sp>
      <p:sp>
        <p:nvSpPr>
          <p:cNvPr id="3" name="Text 1"/>
          <p:cNvSpPr/>
          <p:nvPr/>
        </p:nvSpPr>
        <p:spPr>
          <a:xfrm>
            <a:off x="566928" y="6446520"/>
            <a:ext cx="4663440" cy="201168"/>
          </a:xfrm>
          <a:prstGeom prst="rect">
            <a:avLst/>
          </a:prstGeom>
          <a:noFill/>
          <a:ln/>
        </p:spPr>
        <p:txBody>
          <a:bodyPr wrap="square" lIns="0" tIns="0" rIns="0" bIns="0" rtlCol="0" anchor="ctr"/>
          <a:lstStyle/>
          <a:p>
            <a:pPr indent="0" marL="0">
              <a:buNone/>
            </a:pPr>
            <a:r>
              <a:rPr lang="en-US" sz="1100" spc="80" kern="0" dirty="0">
                <a:solidFill>
                  <a:srgbClr val="5C5C5C"/>
                </a:solidFill>
                <a:latin typeface="Aptos" pitchFamily="34" charset="0"/>
                <a:ea typeface="Aptos" pitchFamily="34" charset="-122"/>
                <a:cs typeface="Aptos" pitchFamily="34" charset="-120"/>
              </a:rPr>
              <a:t>LAUNCH RESCUE / REFERENCE</a:t>
            </a:r>
            <a:endParaRPr lang="en-US" sz="1100" dirty="0"/>
          </a:p>
        </p:txBody>
      </p:sp>
      <p:sp>
        <p:nvSpPr>
          <p:cNvPr id="4" name="Text 2">
            <a:hlinkClick r:id="rId1" tooltip=""/>
          </p:cNvPr>
          <p:cNvSpPr/>
          <p:nvPr/>
        </p:nvSpPr>
        <p:spPr>
          <a:xfrm>
            <a:off x="6437376" y="6446520"/>
            <a:ext cx="4599432" cy="201168"/>
          </a:xfrm>
          <a:prstGeom prst="rect">
            <a:avLst/>
          </a:prstGeom>
          <a:noFill/>
          <a:ln/>
        </p:spPr>
        <p:txBody>
          <a:bodyPr wrap="square" lIns="0" tIns="0" rIns="0" bIns="0" rtlCol="0" anchor="ctr"/>
          <a:lstStyle/>
          <a:p>
            <a:pPr algn="r" indent="0" marL="0">
              <a:buNone/>
            </a:pPr>
            <a:r>
              <a:rPr lang="en-US" sz="1100" u="sng" dirty="0">
                <a:solidFill>
                  <a:srgbClr val="5C5C5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S1 · S2 · S3  |  10 OCT 2026</a:t>
            </a:r>
            <a:endParaRPr lang="en-US" sz="1100" dirty="0"/>
          </a:p>
        </p:txBody>
      </p:sp>
      <p:sp>
        <p:nvSpPr>
          <p:cNvPr id="5" name="Text 3"/>
          <p:cNvSpPr/>
          <p:nvPr/>
        </p:nvSpPr>
        <p:spPr>
          <a:xfrm>
            <a:off x="11137392" y="6419088"/>
            <a:ext cx="457200" cy="256032"/>
          </a:xfrm>
          <a:prstGeom prst="rect">
            <a:avLst/>
          </a:prstGeom>
          <a:noFill/>
          <a:ln/>
        </p:spPr>
        <p:txBody>
          <a:bodyPr wrap="square" lIns="0" tIns="0" rIns="0" bIns="0" rtlCol="0" anchor="ctr"/>
          <a:lstStyle/>
          <a:p>
            <a:pPr algn="r" indent="0" marL="0">
              <a:buNone/>
            </a:pPr>
            <a:r>
              <a:rPr lang="en-US" sz="1300" dirty="0">
                <a:solidFill>
                  <a:srgbClr val="5C5C5C"/>
                </a:solidFill>
                <a:latin typeface="Aptos" pitchFamily="34" charset="0"/>
                <a:ea typeface="Aptos" pitchFamily="34" charset="-122"/>
                <a:cs typeface="Aptos" pitchFamily="34" charset="-120"/>
              </a:rPr>
              <a:t>26</a:t>
            </a:r>
            <a:endParaRPr lang="en-US" sz="1300" dirty="0"/>
          </a:p>
        </p:txBody>
      </p:sp>
      <p:sp>
        <p:nvSpPr>
          <p:cNvPr id="7" name="Shape 4"/>
          <p:cNvSpPr/>
          <p:nvPr/>
        </p:nvSpPr>
        <p:spPr>
          <a:xfrm>
            <a:off x="713232" y="1792224"/>
            <a:ext cx="10771632" cy="2752344"/>
          </a:xfrm>
          <a:prstGeom prst="roundRect">
            <a:avLst>
              <a:gd name="adj" fmla="val 3322"/>
            </a:avLst>
          </a:prstGeom>
          <a:solidFill>
            <a:srgbClr val="FFFFFF"/>
          </a:solidFill>
          <a:ln w="12700">
            <a:solidFill>
              <a:srgbClr val="FFFFFF">
                <a:alpha val="0"/>
              </a:srgbClr>
            </a:solidFill>
            <a:prstDash val="solid"/>
          </a:ln>
        </p:spPr>
      </p:sp>
      <p:sp>
        <p:nvSpPr>
          <p:cNvPr id="8" name="Text 5"/>
          <p:cNvSpPr/>
          <p:nvPr/>
        </p:nvSpPr>
        <p:spPr>
          <a:xfrm>
            <a:off x="941832" y="2048256"/>
            <a:ext cx="10232136" cy="2359152"/>
          </a:xfrm>
          <a:prstGeom prst="rect">
            <a:avLst/>
          </a:prstGeom>
          <a:noFill/>
          <a:ln/>
        </p:spPr>
        <p:txBody>
          <a:bodyPr wrap="square" lIns="0" tIns="0" rIns="0" bIns="0" rtlCol="0" anchor="ctr"/>
          <a:lstStyle/>
          <a:p>
            <a:pPr indent="0" marL="0">
              <a:buNone/>
            </a:pPr>
            <a:r>
              <a:rPr lang="en-US" sz="2500" dirty="0">
                <a:solidFill>
                  <a:srgbClr val="242424"/>
                </a:solidFill>
                <a:latin typeface="Consolas" pitchFamily="34" charset="0"/>
                <a:ea typeface="Consolas" pitchFamily="34" charset="-122"/>
                <a:cs typeface="Consolas" pitchFamily="34" charset="-120"/>
              </a:rPr>
              <a:t>Run the launch-rescue dynamic workflow with:</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scenario "mixed", mode "live", seed 42,</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pauseForApproval true.</a:t>
            </a:r>
            <a:endParaRPr lang="en-US" sz="2500" dirty="0"/>
          </a:p>
          <a:p>
            <a:pPr indent="0" marL="0">
              <a:buNone/>
            </a:pP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Use the configured Sol max / Sonnet high agents.</a:t>
            </a:r>
            <a:endParaRPr lang="en-US" sz="2500" dirty="0"/>
          </a:p>
          <a:p>
            <a:pPr indent="0" marL="0">
              <a:buNone/>
            </a:pPr>
            <a:r>
              <a:rPr lang="en-US" sz="2500" dirty="0">
                <a:solidFill>
                  <a:srgbClr val="242424"/>
                </a:solidFill>
                <a:latin typeface="Consolas" pitchFamily="34" charset="0"/>
                <a:ea typeface="Consolas" pitchFamily="34" charset="-122"/>
                <a:cs typeface="Consolas" pitchFamily="34" charset="-120"/>
              </a:rPr>
              <a:t>Return the synthetic evidence. Do not deploy.</a:t>
            </a:r>
            <a:endParaRPr lang="en-US" sz="2500" dirty="0"/>
          </a:p>
        </p:txBody>
      </p:sp>
      <p:sp>
        <p:nvSpPr>
          <p:cNvPr id="9" name="Text 6"/>
          <p:cNvSpPr/>
          <p:nvPr/>
        </p:nvSpPr>
        <p:spPr>
          <a:xfrm>
            <a:off x="914400" y="5010912"/>
            <a:ext cx="10378440" cy="1033272"/>
          </a:xfrm>
          <a:prstGeom prst="rect">
            <a:avLst/>
          </a:prstGeom>
          <a:noFill/>
          <a:ln/>
        </p:spPr>
        <p:txBody>
          <a:bodyPr wrap="square" lIns="0" tIns="0" rIns="0" bIns="0" rtlCol="0" anchor="ctr"/>
          <a:lstStyle/>
          <a:p>
            <a:pPr indent="0" marL="0">
              <a:buNone/>
            </a:pPr>
            <a:r>
              <a:rPr lang="en-US" sz="2900" b="1" dirty="0">
                <a:solidFill>
                  <a:srgbClr val="B11F4B"/>
                </a:solidFill>
                <a:latin typeface="Aptos" pitchFamily="34" charset="0"/>
                <a:ea typeface="Aptos" pitchFamily="34" charset="-122"/>
                <a:cs typeface="Aptos" pitchFamily="34" charset="-120"/>
              </a:rPr>
              <a:t>Then open Workflows.</a:t>
            </a:r>
            <a:endParaRPr lang="en-US" sz="2900" dirty="0"/>
          </a:p>
          <a:p>
            <a:pPr indent="0" marL="0">
              <a:buNone/>
            </a:pPr>
            <a:r>
              <a:rPr lang="en-US" sz="2900" b="1" dirty="0">
                <a:solidFill>
                  <a:srgbClr val="B11F4B"/>
                </a:solidFill>
                <a:latin typeface="Aptos" pitchFamily="34" charset="0"/>
                <a:ea typeface="Aptos" pitchFamily="34" charset="-122"/>
                <a:cs typeface="Aptos" pitchFamily="34" charset="-120"/>
              </a:rPr>
              <a:t>Inspect the checkpoint before resuming.</a:t>
            </a:r>
            <a:endParaRPr lang="en-US" sz="2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Conference demonstration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Launch Rescue — Don't just prompt. Orchestrate.</dc:title>
  <dc:subject>Agentic work, fleet, and code-defined dynamic workflows</dc:subject>
  <dc:creator>GitHub Copilot conference demo</dc:creator>
  <cp:lastModifiedBy>GitHub Copilot conference demo</cp:lastModifiedBy>
  <cp:revision>1</cp:revision>
  <dcterms:created xsi:type="dcterms:W3CDTF">2026-10-11T08:44:33Z</dcterms:created>
  <dcterms:modified xsi:type="dcterms:W3CDTF">2026-10-11T08:44:33Z</dcterms:modified>
</cp:coreProperties>
</file>